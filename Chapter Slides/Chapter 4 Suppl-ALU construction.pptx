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258" r:id="rId2"/>
    <p:sldId id="334" r:id="rId3"/>
    <p:sldId id="257" r:id="rId4"/>
    <p:sldId id="333" r:id="rId5"/>
    <p:sldId id="341" r:id="rId6"/>
    <p:sldId id="342" r:id="rId7"/>
    <p:sldId id="350" r:id="rId8"/>
    <p:sldId id="259" r:id="rId9"/>
    <p:sldId id="260" r:id="rId10"/>
    <p:sldId id="335" r:id="rId11"/>
    <p:sldId id="346" r:id="rId12"/>
    <p:sldId id="347" r:id="rId13"/>
    <p:sldId id="261" r:id="rId14"/>
    <p:sldId id="344" r:id="rId15"/>
    <p:sldId id="345" r:id="rId16"/>
    <p:sldId id="336" r:id="rId17"/>
    <p:sldId id="353" r:id="rId18"/>
    <p:sldId id="265" r:id="rId19"/>
    <p:sldId id="269" r:id="rId20"/>
    <p:sldId id="270" r:id="rId21"/>
    <p:sldId id="271" r:id="rId22"/>
    <p:sldId id="339" r:id="rId23"/>
    <p:sldId id="337" r:id="rId24"/>
    <p:sldId id="340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349" r:id="rId34"/>
    <p:sldId id="281" r:id="rId35"/>
    <p:sldId id="282" r:id="rId36"/>
    <p:sldId id="352" r:id="rId37"/>
    <p:sldId id="351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7D9"/>
    <a:srgbClr val="385D8A"/>
    <a:srgbClr val="A3BDDD"/>
    <a:srgbClr val="8CADD4"/>
    <a:srgbClr val="4F81BD"/>
    <a:srgbClr val="558E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13" autoAdjust="0"/>
    <p:restoredTop sz="96301" autoAdjust="0"/>
  </p:normalViewPr>
  <p:slideViewPr>
    <p:cSldViewPr>
      <p:cViewPr varScale="1">
        <p:scale>
          <a:sx n="127" d="100"/>
          <a:sy n="127" d="100"/>
        </p:scale>
        <p:origin x="3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F5122C9-72CE-499A-90F0-E74BA3DD5E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266C034-072F-480D-8BEA-C4DCB95CF2F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F202B34D-7CF5-47B4-A84E-FD1F3D42F5CB}" type="datetimeFigureOut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1051DF26-B193-454D-95CB-7E8699E0BD2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4D13197E-455E-48E0-9223-0E638F811BB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C867D85E-78FC-4FCD-9265-AD13173FFD2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49176CB3-9CAC-4B68-A7B4-46D4F09455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B428AAFC-CF9E-4873-A191-495ECDF19D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1CD41-958A-4E9D-89E1-C65B0178A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5C740-1501-4C7D-9CFC-58F000DF775A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D7BAF-3DD7-4713-AC06-BDF18024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4409D-4CA3-4CFF-8852-5E5342D7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DD993-A616-45BD-8F63-235E5566EA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7985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C65D2-5F87-4098-A782-187DB3C4F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0FBD8-FD6F-4B7E-B0D7-9CCF91E1D7D4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71E7D-E1F5-4A0B-B510-5E01638F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FF6D1-6ED3-428F-AC16-8E47FBF9F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D185C-3330-4FE1-9A1C-2BF7B18466A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333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0EF75-1E50-4A48-8F09-A9749E544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3B7D88-EB2E-4CF3-8034-A853D1E5AE24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ED20E-FBEB-4A5C-8267-549F62925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F4803-0C67-4D88-93A0-05647472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9A1AF-B355-48E1-9520-9008FB579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02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70B9BB-8B25-4E8F-93F0-B39F39693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D71E17-7AEE-429B-8782-31889E1F8B12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69F482-0589-4371-8DF7-1A4F920C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57CDE4-C810-43F5-94AA-8D907E85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17178-223A-419B-938A-DCC53EED4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141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7683D6C-1C74-47D5-878C-B6D959F19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D6C813-FB50-4085-94DC-D8CEA1701639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7CFCFA7-A200-4C41-B4B1-76AEC0BF4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D6234F1-34F2-4B1F-AAEF-C19247EE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7310CB-4B1B-4E7D-A814-8D3E728332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615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838251B-CA42-4D69-9771-509D8A77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6986DB-3FD6-49F9-9A21-5559C6A40EDF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3821CE4-7C9A-4E1E-A125-C0B2B7156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96DE0D4-6322-4FDF-BFCD-49819A3F1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FD143-EEB9-4B3A-A549-F21E8C4411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435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C68832C-A482-4824-BC2D-ED85C3735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2EF23-47A9-4F6B-B61D-01E1065E8284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DCE3E68-15F5-4DD8-B559-6D2F7C8C8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719A974-64F7-4044-B572-4AD5228AA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290EF-47D7-4ABC-AEA4-05B4432284E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0153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0D1DF23-61AC-4A53-8180-5B83E9528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BB0087-484A-46EC-AEC2-10D148C58957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145C17B-5AF9-4601-AD44-8D372B753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EC46F9F-66FA-4983-8512-E0AEE913F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2689E-22CB-4528-BE2F-82E1CA1991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179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32F0388-350E-4925-8B71-15D93621E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B010B6-43AA-42CC-9445-C2EA7ACA4EE7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4303D57-417E-4AFD-9FAC-AD2ACEA9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E61521A-FF9D-48F0-8D42-AC8CFD5C8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1678D2-8B76-4495-B46B-5E9C27CBB4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0590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09029-5632-41E3-A895-519319FA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D43251-9614-4413-AF27-0A6C7AB494E0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E4AFD-F7D5-4CE8-A852-0476577F8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25246-EBCB-4CB0-9075-28479BC55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22BBD5-D7E2-4E8F-9B44-EADDFC564D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788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B2AFF-2130-406A-BDBD-919C57DB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3D4045-9326-4C6C-9931-30BAC6CD3F81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F5873-B8C5-44C8-AFC3-EF340AA89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20A81-9A8A-496B-ACCB-EAC29BEC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D1AE5-3E92-4CCF-8473-D9D1868496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85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0A7CE3C-BF5E-4C58-9BA3-77FB834A5E3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EE65A27-92E9-4C3D-9940-2E45601801A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E957E-A6D8-4770-9F8F-B640B64442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1D67B08-2342-421C-A26E-3956D105A0B7}" type="datetime1">
              <a:rPr lang="en-US" altLang="en-US"/>
              <a:pPr>
                <a:defRPr/>
              </a:pPr>
              <a:t>11/10/25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8F58F-BDD2-4C5F-B952-CFC8A9CD3E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EDF51-3A6E-437C-9460-544078A844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DDE0247C-CEDE-4129-A3C1-A7DB372F24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29DCD4B-5536-467E-B2DC-444DEE018869}"/>
              </a:ext>
            </a:extLst>
          </p:cNvPr>
          <p:cNvSpPr>
            <a:spLocks/>
          </p:cNvSpPr>
          <p:nvPr/>
        </p:nvSpPr>
        <p:spPr bwMode="auto">
          <a:xfrm>
            <a:off x="609600" y="1295400"/>
            <a:ext cx="7924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eaLnBrk="0" hangingPunct="0"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Times New Roman" pitchFamily="18" charset="0"/>
                <a:cs typeface="Verdana" pitchFamily="34" charset="0"/>
              </a:rPr>
              <a:t>Constructing ALU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360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itchFamily="34" charset="0"/>
                <a:ea typeface="Times New Roman" pitchFamily="18" charset="0"/>
                <a:cs typeface="Verdana" pitchFamily="34" charset="0"/>
              </a:rPr>
              <a:t>(Arithmetic Logic Unit)</a:t>
            </a:r>
            <a:br>
              <a:rPr lang="en-US" altLang="en-US" sz="4000">
                <a:latin typeface="Arial" pitchFamily="34" charset="0"/>
                <a:ea typeface="Times New Roman" pitchFamily="18" charset="0"/>
                <a:cs typeface="Verdana" pitchFamily="34" charset="0"/>
              </a:rPr>
            </a:br>
            <a:endParaRPr lang="en-US" altLang="en-US" sz="4000">
              <a:latin typeface="Arial" pitchFamily="34" charset="0"/>
              <a:ea typeface="Times New Roman" pitchFamily="18" charset="0"/>
              <a:cs typeface="Verdana" pitchFamily="34" charset="0"/>
            </a:endParaRPr>
          </a:p>
        </p:txBody>
      </p:sp>
      <p:sp>
        <p:nvSpPr>
          <p:cNvPr id="3075" name="Footer Placeholder 7">
            <a:extLst>
              <a:ext uri="{FF2B5EF4-FFF2-40B4-BE49-F238E27FC236}">
                <a16:creationId xmlns:a16="http://schemas.microsoft.com/office/drawing/2014/main" id="{D04D05F6-AA84-4796-A985-81329CB8C513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7979C16E-B166-4E9A-99BC-E273F0BEAD1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7E796B5-F4F4-40B6-B0FB-4B79AE3D4684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/>
          </a:p>
        </p:txBody>
      </p:sp>
      <p:sp>
        <p:nvSpPr>
          <p:cNvPr id="4099" name="Footer Placeholder 7">
            <a:extLst>
              <a:ext uri="{FF2B5EF4-FFF2-40B4-BE49-F238E27FC236}">
                <a16:creationId xmlns:a16="http://schemas.microsoft.com/office/drawing/2014/main" id="{1ECF4E36-A17E-43FA-BA10-CE004776DCFD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pic>
        <p:nvPicPr>
          <p:cNvPr id="4100" name="Picture 6" descr="26">
            <a:extLst>
              <a:ext uri="{FF2B5EF4-FFF2-40B4-BE49-F238E27FC236}">
                <a16:creationId xmlns:a16="http://schemas.microsoft.com/office/drawing/2014/main" id="{DD3F00C6-ADD2-4F3F-BAD1-F16D8B3B438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8925" y="644525"/>
            <a:ext cx="3533775" cy="5334000"/>
          </a:xfrm>
        </p:spPr>
      </p:pic>
      <p:sp>
        <p:nvSpPr>
          <p:cNvPr id="4101" name="TextBox 1">
            <a:extLst>
              <a:ext uri="{FF2B5EF4-FFF2-40B4-BE49-F238E27FC236}">
                <a16:creationId xmlns:a16="http://schemas.microsoft.com/office/drawing/2014/main" id="{757DDCBD-7619-4D87-8856-6C25F6326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1905000"/>
            <a:ext cx="838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0">
                <a:latin typeface="Arial" panose="020B0604020202020204" pitchFamily="34" charset="0"/>
              </a:rPr>
              <a:t>?</a:t>
            </a:r>
          </a:p>
        </p:txBody>
      </p:sp>
      <p:sp>
        <p:nvSpPr>
          <p:cNvPr id="4102" name="TextBox 1">
            <a:extLst>
              <a:ext uri="{FF2B5EF4-FFF2-40B4-BE49-F238E27FC236}">
                <a16:creationId xmlns:a16="http://schemas.microsoft.com/office/drawing/2014/main" id="{F616F5CC-A643-4513-B1A5-184CCB15CA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84600" y="3444875"/>
            <a:ext cx="838200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8000">
                <a:latin typeface="Arial" panose="020B0604020202020204" pitchFamily="34" charset="0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C0043973-E198-4C44-9954-8FE60D4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FB580B-4286-40DF-8D8D-2681399383AC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200"/>
          </a:p>
        </p:txBody>
      </p:sp>
      <p:sp>
        <p:nvSpPr>
          <p:cNvPr id="5123" name="Footer Placeholder 7">
            <a:extLst>
              <a:ext uri="{FF2B5EF4-FFF2-40B4-BE49-F238E27FC236}">
                <a16:creationId xmlns:a16="http://schemas.microsoft.com/office/drawing/2014/main" id="{2F3A5595-AA33-4357-AB0A-1A26188D8657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5124" name="TextBox 3">
            <a:extLst>
              <a:ext uri="{FF2B5EF4-FFF2-40B4-BE49-F238E27FC236}">
                <a16:creationId xmlns:a16="http://schemas.microsoft.com/office/drawing/2014/main" id="{65873CB7-6726-4E43-B17D-B769D1E8D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3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B.2.1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Standard drawing for an AND gate, OR gate, and an inverter, shown from left to right.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signals to the left of each symbol are the inputs, while the output appears on the right. The AND and OR gates both have two inputs. Inverters have a single input.</a:t>
            </a:r>
          </a:p>
        </p:txBody>
      </p:sp>
      <p:pic>
        <p:nvPicPr>
          <p:cNvPr id="5125" name="Picture 7" descr="2">
            <a:extLst>
              <a:ext uri="{FF2B5EF4-FFF2-40B4-BE49-F238E27FC236}">
                <a16:creationId xmlns:a16="http://schemas.microsoft.com/office/drawing/2014/main" id="{2AF022FC-83D6-4C18-9CE9-6BF55ED69D7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2497138"/>
            <a:ext cx="6419850" cy="796925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CE668DB1-B7EF-4F56-BA74-2A45B567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FC285C-544E-4D1E-B70E-9CB06EF9D559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200"/>
          </a:p>
        </p:txBody>
      </p:sp>
      <p:sp>
        <p:nvSpPr>
          <p:cNvPr id="6147" name="Footer Placeholder 7">
            <a:extLst>
              <a:ext uri="{FF2B5EF4-FFF2-40B4-BE49-F238E27FC236}">
                <a16:creationId xmlns:a16="http://schemas.microsoft.com/office/drawing/2014/main" id="{CF615C8E-1C31-4199-80FC-65B0ADF8C91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3C21BF-29BF-46D9-9A5A-A2AAA4EBE365}"/>
              </a:ext>
            </a:extLst>
          </p:cNvPr>
          <p:cNvSpPr/>
          <p:nvPr/>
        </p:nvSpPr>
        <p:spPr>
          <a:xfrm>
            <a:off x="4991100" y="1585913"/>
            <a:ext cx="4114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6149" name="Picture 1">
            <a:extLst>
              <a:ext uri="{FF2B5EF4-FFF2-40B4-BE49-F238E27FC236}">
                <a16:creationId xmlns:a16="http://schemas.microsoft.com/office/drawing/2014/main" id="{5479E79E-4369-48C9-B710-76EA1BFD9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503738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>
            <a:extLst>
              <a:ext uri="{FF2B5EF4-FFF2-40B4-BE49-F238E27FC236}">
                <a16:creationId xmlns:a16="http://schemas.microsoft.com/office/drawing/2014/main" id="{2BAE9845-9C3D-45A2-BBA0-EA2FAEA5D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4D043C6-8937-4886-965B-FDF1969F3533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200"/>
          </a:p>
        </p:txBody>
      </p:sp>
      <p:sp>
        <p:nvSpPr>
          <p:cNvPr id="7171" name="Footer Placeholder 7">
            <a:extLst>
              <a:ext uri="{FF2B5EF4-FFF2-40B4-BE49-F238E27FC236}">
                <a16:creationId xmlns:a16="http://schemas.microsoft.com/office/drawing/2014/main" id="{96FE1D5B-7FDB-4338-ADC5-1312DD599D4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pic>
        <p:nvPicPr>
          <p:cNvPr id="7172" name="Picture 7" descr="2">
            <a:extLst>
              <a:ext uri="{FF2B5EF4-FFF2-40B4-BE49-F238E27FC236}">
                <a16:creationId xmlns:a16="http://schemas.microsoft.com/office/drawing/2014/main" id="{9C6348E5-AD23-40EE-8FC0-5F3C1E34D6C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19375" y="2330450"/>
            <a:ext cx="6419850" cy="796925"/>
          </a:xfrm>
        </p:spPr>
      </p:pic>
      <p:pic>
        <p:nvPicPr>
          <p:cNvPr id="7173" name="Picture 7" descr="2">
            <a:extLst>
              <a:ext uri="{FF2B5EF4-FFF2-40B4-BE49-F238E27FC236}">
                <a16:creationId xmlns:a16="http://schemas.microsoft.com/office/drawing/2014/main" id="{37D43943-7E67-456A-9263-9C49F656F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200" y="3913188"/>
            <a:ext cx="6419850" cy="79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7CA20B-3A87-438E-A30F-B56CD5713C26}"/>
              </a:ext>
            </a:extLst>
          </p:cNvPr>
          <p:cNvSpPr/>
          <p:nvPr/>
        </p:nvSpPr>
        <p:spPr>
          <a:xfrm>
            <a:off x="4991100" y="1585913"/>
            <a:ext cx="4114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7175" name="TextBox 3">
            <a:extLst>
              <a:ext uri="{FF2B5EF4-FFF2-40B4-BE49-F238E27FC236}">
                <a16:creationId xmlns:a16="http://schemas.microsoft.com/office/drawing/2014/main" id="{8FA8E13E-BF54-4978-88A9-6FF377343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50" y="2309813"/>
            <a:ext cx="381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176" name="TextBox 9">
            <a:extLst>
              <a:ext uri="{FF2B5EF4-FFF2-40B4-BE49-F238E27FC236}">
                <a16:creationId xmlns:a16="http://schemas.microsoft.com/office/drawing/2014/main" id="{949EAFE3-5DA8-4192-92CD-642B348FDB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3275" y="2486025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177" name="TextBox 10">
            <a:extLst>
              <a:ext uri="{FF2B5EF4-FFF2-40B4-BE49-F238E27FC236}">
                <a16:creationId xmlns:a16="http://schemas.microsoft.com/office/drawing/2014/main" id="{C6284E77-3595-48F4-BAF5-4A6C30D77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674938"/>
            <a:ext cx="3810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178" name="TextBox 11">
            <a:extLst>
              <a:ext uri="{FF2B5EF4-FFF2-40B4-BE49-F238E27FC236}">
                <a16:creationId xmlns:a16="http://schemas.microsoft.com/office/drawing/2014/main" id="{8382477C-AC29-412F-93DC-A5B2DB9C9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2975" y="3898900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A</a:t>
            </a:r>
          </a:p>
        </p:txBody>
      </p:sp>
      <p:sp>
        <p:nvSpPr>
          <p:cNvPr id="7179" name="TextBox 12">
            <a:extLst>
              <a:ext uri="{FF2B5EF4-FFF2-40B4-BE49-F238E27FC236}">
                <a16:creationId xmlns:a16="http://schemas.microsoft.com/office/drawing/2014/main" id="{B940BD2F-2E5A-440F-B50B-17F49D8CD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8213" y="4264025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7180" name="TextBox 13">
            <a:extLst>
              <a:ext uri="{FF2B5EF4-FFF2-40B4-BE49-F238E27FC236}">
                <a16:creationId xmlns:a16="http://schemas.microsoft.com/office/drawing/2014/main" id="{7EE6BFCA-598A-4DAC-9CAE-D68FB91A4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4863" y="4086225"/>
            <a:ext cx="381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BAAC0B-DB32-4165-BAAD-1DEE69F200FA}"/>
              </a:ext>
            </a:extLst>
          </p:cNvPr>
          <p:cNvSpPr txBox="1"/>
          <p:nvPr/>
        </p:nvSpPr>
        <p:spPr>
          <a:xfrm>
            <a:off x="1665764" y="2687813"/>
            <a:ext cx="687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S =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5F7952-FCB8-4A7A-A8D6-FDFC4916B02E}"/>
              </a:ext>
            </a:extLst>
          </p:cNvPr>
          <p:cNvSpPr txBox="1"/>
          <p:nvPr/>
        </p:nvSpPr>
        <p:spPr>
          <a:xfrm>
            <a:off x="1648037" y="4275613"/>
            <a:ext cx="687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/>
              <a:t>S =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08B560A4-71E0-43C4-BC06-3645C2F9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E5CE9B-0C78-4392-8E4E-2FB7DFF22F7E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200"/>
          </a:p>
        </p:txBody>
      </p:sp>
      <p:sp>
        <p:nvSpPr>
          <p:cNvPr id="8195" name="Footer Placeholder 7">
            <a:extLst>
              <a:ext uri="{FF2B5EF4-FFF2-40B4-BE49-F238E27FC236}">
                <a16:creationId xmlns:a16="http://schemas.microsoft.com/office/drawing/2014/main" id="{79175060-1EE5-4306-A6B2-442A4B879D8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BF56-5E9C-4779-82D0-05DB501C085C}"/>
              </a:ext>
            </a:extLst>
          </p:cNvPr>
          <p:cNvSpPr/>
          <p:nvPr/>
        </p:nvSpPr>
        <p:spPr>
          <a:xfrm>
            <a:off x="4991100" y="1585913"/>
            <a:ext cx="4114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197" name="Picture 3">
            <a:extLst>
              <a:ext uri="{FF2B5EF4-FFF2-40B4-BE49-F238E27FC236}">
                <a16:creationId xmlns:a16="http://schemas.microsoft.com/office/drawing/2014/main" id="{D93DD9B9-3121-43F3-8517-678D93D7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7763" y="914400"/>
            <a:ext cx="4262437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08B560A4-71E0-43C4-BC06-3645C2F9E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E5CE9B-0C78-4392-8E4E-2FB7DFF22F7E}" type="slidenum">
              <a:rPr lang="en-US" altLang="en-US" sz="12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200"/>
          </a:p>
        </p:txBody>
      </p:sp>
      <p:sp>
        <p:nvSpPr>
          <p:cNvPr id="8195" name="Footer Placeholder 7">
            <a:extLst>
              <a:ext uri="{FF2B5EF4-FFF2-40B4-BE49-F238E27FC236}">
                <a16:creationId xmlns:a16="http://schemas.microsoft.com/office/drawing/2014/main" id="{79175060-1EE5-4306-A6B2-442A4B879D8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7BBF56-5E9C-4779-82D0-05DB501C085C}"/>
              </a:ext>
            </a:extLst>
          </p:cNvPr>
          <p:cNvSpPr/>
          <p:nvPr/>
        </p:nvSpPr>
        <p:spPr>
          <a:xfrm>
            <a:off x="4991100" y="1585913"/>
            <a:ext cx="4114800" cy="335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1026" name="Picture 2" descr="Inverter or NOT Logic Gate | Simple Example">
            <a:extLst>
              <a:ext uri="{FF2B5EF4-FFF2-40B4-BE49-F238E27FC236}">
                <a16:creationId xmlns:a16="http://schemas.microsoft.com/office/drawing/2014/main" id="{E08F0F73-C322-482F-85AF-110919AFDB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952" y="2090738"/>
            <a:ext cx="4762500" cy="26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84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D892AB52-4BF6-41A2-976B-85BDF2E0016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9ED73AC6-A03C-47E2-8027-FD97B3CD50CC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200"/>
          </a:p>
        </p:txBody>
      </p:sp>
      <p:sp>
        <p:nvSpPr>
          <p:cNvPr id="9219" name="Footer Placeholder 7">
            <a:extLst>
              <a:ext uri="{FF2B5EF4-FFF2-40B4-BE49-F238E27FC236}">
                <a16:creationId xmlns:a16="http://schemas.microsoft.com/office/drawing/2014/main" id="{C58C011E-7B5C-4273-A013-A21A8BF7577E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9220" name="TextBox 3">
            <a:extLst>
              <a:ext uri="{FF2B5EF4-FFF2-40B4-BE49-F238E27FC236}">
                <a16:creationId xmlns:a16="http://schemas.microsoft.com/office/drawing/2014/main" id="{0CAEC3FD-9E02-4C36-955D-9467FA661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B.2.2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Logic gate implementation of  using explicit inverts on the left and bubbled inputs and outputs on the right.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This logic function can be simplified to or in Verilog,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LetterGothicStd" charset="0"/>
              </a:rPr>
              <a:t>A &amp; ~ 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.</a:t>
            </a:r>
          </a:p>
        </p:txBody>
      </p:sp>
      <p:pic>
        <p:nvPicPr>
          <p:cNvPr id="9221" name="Picture 6" descr="3">
            <a:extLst>
              <a:ext uri="{FF2B5EF4-FFF2-40B4-BE49-F238E27FC236}">
                <a16:creationId xmlns:a16="http://schemas.microsoft.com/office/drawing/2014/main" id="{BDE0315D-5EE6-4BFB-AE3E-C5381AC4D7A4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2492375"/>
            <a:ext cx="6419850" cy="804863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25167BD7-3CE8-4046-B13F-32A1963E177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9744D4D-35B7-4E68-8F01-D3887F7478EF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200"/>
          </a:p>
        </p:txBody>
      </p:sp>
      <p:sp>
        <p:nvSpPr>
          <p:cNvPr id="10243" name="Footer Placeholder 7">
            <a:extLst>
              <a:ext uri="{FF2B5EF4-FFF2-40B4-BE49-F238E27FC236}">
                <a16:creationId xmlns:a16="http://schemas.microsoft.com/office/drawing/2014/main" id="{116A613B-56F6-4A04-A1CF-FA9362D2929F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E909F6F9-9483-4360-ACC0-7B6621B04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3-bit decoder has 3 inputs, called 12, 11, and 10, and 2</a:t>
            </a:r>
            <a:r>
              <a:rPr lang="en-US" altLang="en-US" sz="1200" b="1" baseline="30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Bold"/>
              </a:rPr>
              <a:t>3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</a:t>
            </a:r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TIXGeneral-Bold"/>
              </a:rPr>
              <a:t>=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8 outputs, called Out0 to Out7.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Only the output corresponding to the binary value of the input is true, as shown in the truth table. The label 3 on the input to the decoder says that the input signal is 3 bits wide.</a:t>
            </a:r>
          </a:p>
        </p:txBody>
      </p:sp>
      <p:pic>
        <p:nvPicPr>
          <p:cNvPr id="10245" name="Picture 6" descr="4">
            <a:extLst>
              <a:ext uri="{FF2B5EF4-FFF2-40B4-BE49-F238E27FC236}">
                <a16:creationId xmlns:a16="http://schemas.microsoft.com/office/drawing/2014/main" id="{A5551E4D-764D-43C3-A304-A36FB38B023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889125"/>
            <a:ext cx="6419850" cy="2011363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AAD554-8146-489A-BFC1-A9F53C2BF45C}"/>
              </a:ext>
            </a:extLst>
          </p:cNvPr>
          <p:cNvCxnSpPr/>
          <p:nvPr/>
        </p:nvCxnSpPr>
        <p:spPr>
          <a:xfrm>
            <a:off x="4648200" y="1881188"/>
            <a:ext cx="0" cy="16922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1">
            <a:extLst>
              <a:ext uri="{FF2B5EF4-FFF2-40B4-BE49-F238E27FC236}">
                <a16:creationId xmlns:a16="http://schemas.microsoft.com/office/drawing/2014/main" id="{8A2A8D63-93D1-4D4E-A5D5-7A6E63EDB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63B1AF-9CB6-4366-B3B5-4214E5F9A443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1267" name="Picture 3">
            <a:extLst>
              <a:ext uri="{FF2B5EF4-FFF2-40B4-BE49-F238E27FC236}">
                <a16:creationId xmlns:a16="http://schemas.microsoft.com/office/drawing/2014/main" id="{799B4DC8-5E52-4E80-A018-C1317318D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441325"/>
            <a:ext cx="48101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TextBox 1">
            <a:extLst>
              <a:ext uri="{FF2B5EF4-FFF2-40B4-BE49-F238E27FC236}">
                <a16:creationId xmlns:a16="http://schemas.microsoft.com/office/drawing/2014/main" id="{693E4417-09EE-4B2B-BA38-CAC76706A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225" y="541020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If CBA=000, then O</a:t>
            </a:r>
            <a:r>
              <a:rPr lang="en-US" altLang="en-US" sz="1800" baseline="-25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If CBA=001, then O</a:t>
            </a:r>
            <a:r>
              <a:rPr lang="en-US" altLang="en-US" sz="1800" baseline="-25000">
                <a:latin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If CBA=010, then O</a:t>
            </a:r>
            <a:r>
              <a:rPr lang="en-US" altLang="en-US" sz="1800" baseline="-25000">
                <a:latin typeface="Arial" panose="020B0604020202020204" pitchFamily="34" charset="0"/>
              </a:rPr>
              <a:t>2</a:t>
            </a:r>
            <a:r>
              <a:rPr lang="en-US" altLang="en-US" sz="180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…… etc.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460497-7ECB-43C5-B4C5-7F213413D80F}"/>
              </a:ext>
            </a:extLst>
          </p:cNvPr>
          <p:cNvSpPr/>
          <p:nvPr/>
        </p:nvSpPr>
        <p:spPr>
          <a:xfrm>
            <a:off x="2952750" y="441325"/>
            <a:ext cx="2819400" cy="4905375"/>
          </a:xfrm>
          <a:prstGeom prst="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1270" name="Picture 2">
            <a:extLst>
              <a:ext uri="{FF2B5EF4-FFF2-40B4-BE49-F238E27FC236}">
                <a16:creationId xmlns:a16="http://schemas.microsoft.com/office/drawing/2014/main" id="{F968176E-3C3A-4C4D-8476-29A213214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311275"/>
            <a:ext cx="2073275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1" name="TextBox 1">
            <a:extLst>
              <a:ext uri="{FF2B5EF4-FFF2-40B4-BE49-F238E27FC236}">
                <a16:creationId xmlns:a16="http://schemas.microsoft.com/office/drawing/2014/main" id="{9EAB96AF-C7EF-4A41-9107-64F91DE4C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51752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2" name="TextBox 1">
            <a:extLst>
              <a:ext uri="{FF2B5EF4-FFF2-40B4-BE49-F238E27FC236}">
                <a16:creationId xmlns:a16="http://schemas.microsoft.com/office/drawing/2014/main" id="{00E01336-7CA6-44CD-88DB-7640F0A8D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7338" y="650875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3" name="TextBox 1">
            <a:extLst>
              <a:ext uri="{FF2B5EF4-FFF2-40B4-BE49-F238E27FC236}">
                <a16:creationId xmlns:a16="http://schemas.microsoft.com/office/drawing/2014/main" id="{30FA6888-3AD5-4D87-99CF-560C6C749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0888" y="784225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4" name="TextBox 1">
            <a:extLst>
              <a:ext uri="{FF2B5EF4-FFF2-40B4-BE49-F238E27FC236}">
                <a16:creationId xmlns:a16="http://schemas.microsoft.com/office/drawing/2014/main" id="{7866FC74-354A-452C-BCF2-3D7F366C8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9985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5" name="TextBox 1">
            <a:extLst>
              <a:ext uri="{FF2B5EF4-FFF2-40B4-BE49-F238E27FC236}">
                <a16:creationId xmlns:a16="http://schemas.microsoft.com/office/drawing/2014/main" id="{5DDC70CD-B91F-42FA-A25E-0358CD1224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195262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1276" name="TextBox 1">
            <a:extLst>
              <a:ext uri="{FF2B5EF4-FFF2-40B4-BE49-F238E27FC236}">
                <a16:creationId xmlns:a16="http://schemas.microsoft.com/office/drawing/2014/main" id="{87D32964-4FC5-4550-81CF-EF49F8215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0" y="298132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1">
            <a:extLst>
              <a:ext uri="{FF2B5EF4-FFF2-40B4-BE49-F238E27FC236}">
                <a16:creationId xmlns:a16="http://schemas.microsoft.com/office/drawing/2014/main" id="{A98AB0B8-A589-436D-A23C-3F0167821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BB0CBD-F96A-4048-B6FF-3E513FD7AD22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2291" name="Picture 3">
            <a:extLst>
              <a:ext uri="{FF2B5EF4-FFF2-40B4-BE49-F238E27FC236}">
                <a16:creationId xmlns:a16="http://schemas.microsoft.com/office/drawing/2014/main" id="{405DA4CB-7F0C-4CFB-A3CA-D382DAC50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441325"/>
            <a:ext cx="48101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TextBox 1">
            <a:extLst>
              <a:ext uri="{FF2B5EF4-FFF2-40B4-BE49-F238E27FC236}">
                <a16:creationId xmlns:a16="http://schemas.microsoft.com/office/drawing/2014/main" id="{EC5E36A4-D28E-47CD-B783-9B22ED88A3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225" y="541020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If CBA=000, then O</a:t>
            </a:r>
            <a:r>
              <a:rPr lang="en-US" altLang="en-US" sz="1800" baseline="-25000">
                <a:latin typeface="Arial" panose="020B0604020202020204" pitchFamily="34" charset="0"/>
              </a:rPr>
              <a:t>0</a:t>
            </a:r>
            <a:r>
              <a:rPr lang="en-US" altLang="en-US" sz="180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If CBA=001, then O</a:t>
            </a:r>
            <a:r>
              <a:rPr lang="en-US" altLang="en-US" sz="1800" baseline="-250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If CBA=010, then O</a:t>
            </a:r>
            <a:r>
              <a:rPr lang="en-US" altLang="en-US" sz="1800" baseline="-25000">
                <a:latin typeface="Arial" panose="020B0604020202020204" pitchFamily="34" charset="0"/>
              </a:rPr>
              <a:t>2</a:t>
            </a:r>
            <a:r>
              <a:rPr lang="en-US" altLang="en-US" sz="180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…… etc.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460497-7ECB-43C5-B4C5-7F213413D80F}"/>
              </a:ext>
            </a:extLst>
          </p:cNvPr>
          <p:cNvSpPr/>
          <p:nvPr/>
        </p:nvSpPr>
        <p:spPr>
          <a:xfrm>
            <a:off x="2952750" y="441325"/>
            <a:ext cx="2819400" cy="4905375"/>
          </a:xfrm>
          <a:prstGeom prst="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2294" name="Picture 2">
            <a:extLst>
              <a:ext uri="{FF2B5EF4-FFF2-40B4-BE49-F238E27FC236}">
                <a16:creationId xmlns:a16="http://schemas.microsoft.com/office/drawing/2014/main" id="{590E3DC9-4B00-4232-A42C-15D2A1C3C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311275"/>
            <a:ext cx="2073275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Box 1">
            <a:extLst>
              <a:ext uri="{FF2B5EF4-FFF2-40B4-BE49-F238E27FC236}">
                <a16:creationId xmlns:a16="http://schemas.microsoft.com/office/drawing/2014/main" id="{99CE0026-3B2E-41EB-889E-BB10BC418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51752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96" name="TextBox 1">
            <a:extLst>
              <a:ext uri="{FF2B5EF4-FFF2-40B4-BE49-F238E27FC236}">
                <a16:creationId xmlns:a16="http://schemas.microsoft.com/office/drawing/2014/main" id="{CFE914E0-8089-4BD4-96AD-330C81B48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9985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97" name="TextBox 1">
            <a:extLst>
              <a:ext uri="{FF2B5EF4-FFF2-40B4-BE49-F238E27FC236}">
                <a16:creationId xmlns:a16="http://schemas.microsoft.com/office/drawing/2014/main" id="{2307DBD9-CADC-4780-A076-CE9B1979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195262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98" name="TextBox 1">
            <a:extLst>
              <a:ext uri="{FF2B5EF4-FFF2-40B4-BE49-F238E27FC236}">
                <a16:creationId xmlns:a16="http://schemas.microsoft.com/office/drawing/2014/main" id="{3DD666F6-1EE7-4D7F-99FA-5B8EB01A58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0" y="298132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299" name="TextBox 1">
            <a:extLst>
              <a:ext uri="{FF2B5EF4-FFF2-40B4-BE49-F238E27FC236}">
                <a16:creationId xmlns:a16="http://schemas.microsoft.com/office/drawing/2014/main" id="{BABE13A9-3015-44C6-A36B-81DE14A74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838" y="131127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300" name="TextBox 1">
            <a:extLst>
              <a:ext uri="{FF2B5EF4-FFF2-40B4-BE49-F238E27FC236}">
                <a16:creationId xmlns:a16="http://schemas.microsoft.com/office/drawing/2014/main" id="{E87AA959-9E0D-483C-96F3-89D50C6A76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513" y="1257300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2301" name="TextBox 1">
            <a:extLst>
              <a:ext uri="{FF2B5EF4-FFF2-40B4-BE49-F238E27FC236}">
                <a16:creationId xmlns:a16="http://schemas.microsoft.com/office/drawing/2014/main" id="{A8AB725E-53DA-494B-8BD2-BFDBF67D4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138" y="10414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1">
            <a:extLst>
              <a:ext uri="{FF2B5EF4-FFF2-40B4-BE49-F238E27FC236}">
                <a16:creationId xmlns:a16="http://schemas.microsoft.com/office/drawing/2014/main" id="{7D483806-4DB4-471B-950A-3A427927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95E55A-B4BF-4E0F-9EA0-A8FC5386A640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3315" name="Picture 3">
            <a:extLst>
              <a:ext uri="{FF2B5EF4-FFF2-40B4-BE49-F238E27FC236}">
                <a16:creationId xmlns:a16="http://schemas.microsoft.com/office/drawing/2014/main" id="{FBCFF481-A4A3-4BD5-92C8-DF41672795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6938" y="441325"/>
            <a:ext cx="4810125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6" name="TextBox 1">
            <a:extLst>
              <a:ext uri="{FF2B5EF4-FFF2-40B4-BE49-F238E27FC236}">
                <a16:creationId xmlns:a16="http://schemas.microsoft.com/office/drawing/2014/main" id="{8808EBBB-89D8-43BC-BA67-B324A80EF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8225" y="5410200"/>
            <a:ext cx="4572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If CBA=000, then O</a:t>
            </a:r>
            <a:r>
              <a:rPr lang="en-US" altLang="en-US" sz="1800" baseline="-25000" dirty="0">
                <a:latin typeface="Arial" panose="020B0604020202020204" pitchFamily="34" charset="0"/>
              </a:rPr>
              <a:t>0</a:t>
            </a:r>
            <a:r>
              <a:rPr lang="en-US" altLang="en-US" sz="1800" dirty="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If CBA=001, then O</a:t>
            </a:r>
            <a:r>
              <a:rPr lang="en-US" altLang="en-US" sz="1800" baseline="-25000" dirty="0">
                <a:latin typeface="Arial" panose="020B0604020202020204" pitchFamily="34" charset="0"/>
              </a:rPr>
              <a:t>1</a:t>
            </a:r>
            <a:r>
              <a:rPr lang="en-US" altLang="en-US" sz="1800" dirty="0"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If CBA=010, then O</a:t>
            </a:r>
            <a:r>
              <a:rPr lang="en-US" altLang="en-US" sz="1800" baseline="-25000" dirty="0">
                <a:latin typeface="Arial" panose="020B0604020202020204" pitchFamily="34" charset="0"/>
              </a:rPr>
              <a:t>2</a:t>
            </a:r>
            <a:r>
              <a: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rPr>
              <a:t>=1, all other outputs=0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…… etc.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460497-7ECB-43C5-B4C5-7F213413D80F}"/>
              </a:ext>
            </a:extLst>
          </p:cNvPr>
          <p:cNvSpPr/>
          <p:nvPr/>
        </p:nvSpPr>
        <p:spPr>
          <a:xfrm>
            <a:off x="2952750" y="441325"/>
            <a:ext cx="2819400" cy="4905375"/>
          </a:xfrm>
          <a:prstGeom prst="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3318" name="Picture 2">
            <a:extLst>
              <a:ext uri="{FF2B5EF4-FFF2-40B4-BE49-F238E27FC236}">
                <a16:creationId xmlns:a16="http://schemas.microsoft.com/office/drawing/2014/main" id="{6E37CC5C-EDBF-4C88-8C11-1F155DAFC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775" y="1311275"/>
            <a:ext cx="2073275" cy="217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9" name="TextBox 1">
            <a:extLst>
              <a:ext uri="{FF2B5EF4-FFF2-40B4-BE49-F238E27FC236}">
                <a16:creationId xmlns:a16="http://schemas.microsoft.com/office/drawing/2014/main" id="{536B442E-51A4-4654-83CA-2291C6D33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8075" y="517525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0" name="TextBox 1">
            <a:extLst>
              <a:ext uri="{FF2B5EF4-FFF2-40B4-BE49-F238E27FC236}">
                <a16:creationId xmlns:a16="http://schemas.microsoft.com/office/drawing/2014/main" id="{4316F586-0890-4D44-BD4B-2D9B1EC3C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0650" y="998538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1" name="TextBox 1">
            <a:extLst>
              <a:ext uri="{FF2B5EF4-FFF2-40B4-BE49-F238E27FC236}">
                <a16:creationId xmlns:a16="http://schemas.microsoft.com/office/drawing/2014/main" id="{C8B44553-0D00-4692-AAB6-E6CCDBCF1E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2238" y="1952625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2" name="TextBox 1">
            <a:extLst>
              <a:ext uri="{FF2B5EF4-FFF2-40B4-BE49-F238E27FC236}">
                <a16:creationId xmlns:a16="http://schemas.microsoft.com/office/drawing/2014/main" id="{0C36D362-50D5-48DB-9B83-4DC1165CE2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4300" y="2981325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3" name="TextBox 1">
            <a:extLst>
              <a:ext uri="{FF2B5EF4-FFF2-40B4-BE49-F238E27FC236}">
                <a16:creationId xmlns:a16="http://schemas.microsoft.com/office/drawing/2014/main" id="{E3790D47-A69F-4272-BFFD-BE4B1D9C3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41838" y="1916113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4" name="TextBox 1">
            <a:extLst>
              <a:ext uri="{FF2B5EF4-FFF2-40B4-BE49-F238E27FC236}">
                <a16:creationId xmlns:a16="http://schemas.microsoft.com/office/drawing/2014/main" id="{76A9B345-EF30-4A9E-AE36-9E9D52A03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6413" y="1965325"/>
            <a:ext cx="3127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5" name="TextBox 1">
            <a:extLst>
              <a:ext uri="{FF2B5EF4-FFF2-40B4-BE49-F238E27FC236}">
                <a16:creationId xmlns:a16="http://schemas.microsoft.com/office/drawing/2014/main" id="{43740662-5520-4B54-9235-EDA8F040E6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5088" y="104140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6" name="TextBox 1">
            <a:extLst>
              <a:ext uri="{FF2B5EF4-FFF2-40B4-BE49-F238E27FC236}">
                <a16:creationId xmlns:a16="http://schemas.microsoft.com/office/drawing/2014/main" id="{C823DC27-89C4-4426-B1A1-B7D935167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9025" y="1630363"/>
            <a:ext cx="314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  <a:endParaRPr lang="en-US" altLang="en-US" sz="1800">
              <a:latin typeface="Arial" panose="020B0604020202020204" pitchFamily="34" charset="0"/>
            </a:endParaRPr>
          </a:p>
        </p:txBody>
      </p:sp>
      <p:sp>
        <p:nvSpPr>
          <p:cNvPr id="13327" name="TextBox 1">
            <a:extLst>
              <a:ext uri="{FF2B5EF4-FFF2-40B4-BE49-F238E27FC236}">
                <a16:creationId xmlns:a16="http://schemas.microsoft.com/office/drawing/2014/main" id="{33312A4F-8388-4DE8-915B-47012698A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1488" y="693738"/>
            <a:ext cx="31908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  <a:endParaRPr lang="en-US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F84FC8AE-ECC5-47F3-9798-02BB3D0988F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85B28AA-1AA7-4B79-9635-798222D450E9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200"/>
          </a:p>
        </p:txBody>
      </p:sp>
      <p:sp>
        <p:nvSpPr>
          <p:cNvPr id="15363" name="Footer Placeholder 7">
            <a:extLst>
              <a:ext uri="{FF2B5EF4-FFF2-40B4-BE49-F238E27FC236}">
                <a16:creationId xmlns:a16="http://schemas.microsoft.com/office/drawing/2014/main" id="{641AF2A6-636F-4655-9098-969B03CC5B92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5364" name="TextBox 3">
            <a:extLst>
              <a:ext uri="{FF2B5EF4-FFF2-40B4-BE49-F238E27FC236}">
                <a16:creationId xmlns:a16="http://schemas.microsoft.com/office/drawing/2014/main" id="{ACF57D3F-3C5F-4385-8648-12EC8029F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two-input multiplexor on the left and its implementation with gates on the right.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multiplexor has two data inputs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A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which are labeled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0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, and one selector input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S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as well as an output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C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. Implementing multiplexors in Verilog requires a little more work, especially when they are wider than two inputs. We show how to do this beginning on page B-23.</a:t>
            </a:r>
          </a:p>
        </p:txBody>
      </p:sp>
      <p:sp>
        <p:nvSpPr>
          <p:cNvPr id="15365" name="TextBox 1">
            <a:extLst>
              <a:ext uri="{FF2B5EF4-FFF2-40B4-BE49-F238E27FC236}">
                <a16:creationId xmlns:a16="http://schemas.microsoft.com/office/drawing/2014/main" id="{3A0DF93B-9FD0-48DF-B114-50642C6FB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4465638"/>
            <a:ext cx="279717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Arial" panose="020B0604020202020204" pitchFamily="34" charset="0"/>
              </a:rPr>
              <a:t>If S = 0, then C = A</a:t>
            </a:r>
          </a:p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Arial" panose="020B0604020202020204" pitchFamily="34" charset="0"/>
              </a:rPr>
              <a:t>If S = 1, then C = B</a:t>
            </a:r>
          </a:p>
        </p:txBody>
      </p:sp>
      <p:pic>
        <p:nvPicPr>
          <p:cNvPr id="15366" name="Picture 6" descr="5">
            <a:extLst>
              <a:ext uri="{FF2B5EF4-FFF2-40B4-BE49-F238E27FC236}">
                <a16:creationId xmlns:a16="http://schemas.microsoft.com/office/drawing/2014/main" id="{0764FB48-EA25-43EF-B2DD-1E2752BD7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2075" y="1700213"/>
            <a:ext cx="6419850" cy="2389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FA2A106-80E9-4C11-912A-9C8D5370E71A}"/>
              </a:ext>
            </a:extLst>
          </p:cNvPr>
          <p:cNvSpPr/>
          <p:nvPr/>
        </p:nvSpPr>
        <p:spPr>
          <a:xfrm>
            <a:off x="4114800" y="1543050"/>
            <a:ext cx="3048000" cy="1981200"/>
          </a:xfrm>
          <a:prstGeom prst="round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4079B199-35DE-4642-B760-4F87428B201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2A88E40-9488-4CDC-9B78-84B0B36F718E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200"/>
          </a:p>
        </p:txBody>
      </p:sp>
      <p:sp>
        <p:nvSpPr>
          <p:cNvPr id="16387" name="Footer Placeholder 7">
            <a:extLst>
              <a:ext uri="{FF2B5EF4-FFF2-40B4-BE49-F238E27FC236}">
                <a16:creationId xmlns:a16="http://schemas.microsoft.com/office/drawing/2014/main" id="{019EBFF7-7926-437A-B8FC-E6A0E9ADC6A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6388" name="TextBox 3">
            <a:extLst>
              <a:ext uri="{FF2B5EF4-FFF2-40B4-BE49-F238E27FC236}">
                <a16:creationId xmlns:a16="http://schemas.microsoft.com/office/drawing/2014/main" id="{B9E7E105-BAC2-455A-9AC5-709126CA9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two-input multiplexor on the left and its implementation with gates on the right.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multiplexor has two data inputs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A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which are labeled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0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, and one selector input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S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as well as an output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C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. Implementing multiplexors in Verilog requires a little more work, especially when they are wider than two inputs. We show how to do this beginning on page B-23.</a:t>
            </a:r>
          </a:p>
        </p:txBody>
      </p:sp>
      <p:pic>
        <p:nvPicPr>
          <p:cNvPr id="16389" name="Picture 6" descr="5">
            <a:extLst>
              <a:ext uri="{FF2B5EF4-FFF2-40B4-BE49-F238E27FC236}">
                <a16:creationId xmlns:a16="http://schemas.microsoft.com/office/drawing/2014/main" id="{7FBC2B1F-436B-44E0-A8A1-FDADF72534B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700213"/>
            <a:ext cx="6419850" cy="2389187"/>
          </a:xfrm>
        </p:spPr>
      </p:pic>
      <p:sp>
        <p:nvSpPr>
          <p:cNvPr id="16390" name="TextBox 1">
            <a:extLst>
              <a:ext uri="{FF2B5EF4-FFF2-40B4-BE49-F238E27FC236}">
                <a16:creationId xmlns:a16="http://schemas.microsoft.com/office/drawing/2014/main" id="{91539040-ECD5-4B18-8B17-A423ED956E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4465638"/>
            <a:ext cx="2781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Arial" panose="020B0604020202020204" pitchFamily="34" charset="0"/>
              </a:rPr>
              <a:t>If S = 0, then C = A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5002FC-C161-4113-A394-7BAD0A7F97B5}"/>
              </a:ext>
            </a:extLst>
          </p:cNvPr>
          <p:cNvSpPr/>
          <p:nvPr/>
        </p:nvSpPr>
        <p:spPr>
          <a:xfrm>
            <a:off x="4114800" y="1543050"/>
            <a:ext cx="3048000" cy="1981200"/>
          </a:xfrm>
          <a:prstGeom prst="round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6392" name="TextBox 1">
            <a:extLst>
              <a:ext uri="{FF2B5EF4-FFF2-40B4-BE49-F238E27FC236}">
                <a16:creationId xmlns:a16="http://schemas.microsoft.com/office/drawing/2014/main" id="{418A7AFA-8617-4708-8B6D-9B78E9EC8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238" y="3683000"/>
            <a:ext cx="54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Arial" panose="020B0604020202020204" pitchFamily="34" charset="0"/>
              </a:rPr>
              <a:t>= 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393" name="TextBox 1">
            <a:extLst>
              <a:ext uri="{FF2B5EF4-FFF2-40B4-BE49-F238E27FC236}">
                <a16:creationId xmlns:a16="http://schemas.microsoft.com/office/drawing/2014/main" id="{0D365569-32E5-410C-86B4-DA7435185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0012" y="2612178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6394" name="TextBox 1">
            <a:extLst>
              <a:ext uri="{FF2B5EF4-FFF2-40B4-BE49-F238E27FC236}">
                <a16:creationId xmlns:a16="http://schemas.microsoft.com/office/drawing/2014/main" id="{11337AF5-2929-4AEC-ABA7-7042D92AF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74" y="2053378"/>
            <a:ext cx="328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6395" name="TextBox 1">
            <a:extLst>
              <a:ext uri="{FF2B5EF4-FFF2-40B4-BE49-F238E27FC236}">
                <a16:creationId xmlns:a16="http://schemas.microsoft.com/office/drawing/2014/main" id="{01C5BF8B-4AFF-4699-8F87-961EF1CC8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8950" y="2028825"/>
            <a:ext cx="3381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A</a:t>
            </a: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396" name="TextBox 1">
            <a:extLst>
              <a:ext uri="{FF2B5EF4-FFF2-40B4-BE49-F238E27FC236}">
                <a16:creationId xmlns:a16="http://schemas.microsoft.com/office/drawing/2014/main" id="{F8F1DB62-0271-49AF-A50C-84ED7F3DA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406650"/>
            <a:ext cx="3127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6397" name="TextBox 1">
            <a:extLst>
              <a:ext uri="{FF2B5EF4-FFF2-40B4-BE49-F238E27FC236}">
                <a16:creationId xmlns:a16="http://schemas.microsoft.com/office/drawing/2014/main" id="{C283D17F-7F80-4C39-83FB-01F4D2000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2357438"/>
            <a:ext cx="5238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= 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8A09EB4D-3845-4B6B-8914-09D18121637C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2A355C57-1125-48CC-8159-5D964A9F85FA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200"/>
          </a:p>
        </p:txBody>
      </p:sp>
      <p:sp>
        <p:nvSpPr>
          <p:cNvPr id="17411" name="Footer Placeholder 7">
            <a:extLst>
              <a:ext uri="{FF2B5EF4-FFF2-40B4-BE49-F238E27FC236}">
                <a16:creationId xmlns:a16="http://schemas.microsoft.com/office/drawing/2014/main" id="{8D602FF8-CB2F-4191-8425-93F439CDC299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7412" name="TextBox 3">
            <a:extLst>
              <a:ext uri="{FF2B5EF4-FFF2-40B4-BE49-F238E27FC236}">
                <a16:creationId xmlns:a16="http://schemas.microsoft.com/office/drawing/2014/main" id="{C7A883D0-97C3-44A2-B116-3AA33F4D7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two-input multiplexor on the left and its implementation with gates on the right.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multiplexor has two data inputs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A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which are labeled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0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and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, and one selector input (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S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), as well as an output </a:t>
            </a:r>
            <a:r>
              <a:rPr lang="en-US" altLang="en-US" sz="1200" i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C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. Implementing multiplexors in Verilog requires a little more work, especially when they are wider than two inputs. We show how to do this beginning on page B-23.</a:t>
            </a:r>
          </a:p>
        </p:txBody>
      </p:sp>
      <p:pic>
        <p:nvPicPr>
          <p:cNvPr id="17413" name="Picture 6" descr="5">
            <a:extLst>
              <a:ext uri="{FF2B5EF4-FFF2-40B4-BE49-F238E27FC236}">
                <a16:creationId xmlns:a16="http://schemas.microsoft.com/office/drawing/2014/main" id="{9FEB6A0A-B307-4F4B-B51C-D6DD4C0E7A6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700213"/>
            <a:ext cx="6419850" cy="2389187"/>
          </a:xfrm>
        </p:spPr>
      </p:pic>
      <p:sp>
        <p:nvSpPr>
          <p:cNvPr id="17414" name="TextBox 1">
            <a:extLst>
              <a:ext uri="{FF2B5EF4-FFF2-40B4-BE49-F238E27FC236}">
                <a16:creationId xmlns:a16="http://schemas.microsoft.com/office/drawing/2014/main" id="{1406867A-7F5B-4A10-A2E6-C39CF4DCE9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4465638"/>
            <a:ext cx="27971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400">
                <a:latin typeface="Arial" panose="020B0604020202020204" pitchFamily="34" charset="0"/>
              </a:rPr>
              <a:t>If S = 1, then C = B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D7D8095-CEF4-48BA-A394-8FDA619C97F0}"/>
              </a:ext>
            </a:extLst>
          </p:cNvPr>
          <p:cNvSpPr/>
          <p:nvPr/>
        </p:nvSpPr>
        <p:spPr>
          <a:xfrm>
            <a:off x="4114800" y="1543050"/>
            <a:ext cx="3048000" cy="1981200"/>
          </a:xfrm>
          <a:prstGeom prst="round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7416" name="TextBox 1">
            <a:extLst>
              <a:ext uri="{FF2B5EF4-FFF2-40B4-BE49-F238E27FC236}">
                <a16:creationId xmlns:a16="http://schemas.microsoft.com/office/drawing/2014/main" id="{FE09EB82-8461-4878-97EF-925FCBBF93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238" y="3692525"/>
            <a:ext cx="546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Arial" panose="020B0604020202020204" pitchFamily="34" charset="0"/>
              </a:rPr>
              <a:t>=</a:t>
            </a:r>
            <a:r>
              <a:rPr lang="en-US" altLang="en-US" sz="2000">
                <a:solidFill>
                  <a:srgbClr val="FF0000"/>
                </a:solidFill>
                <a:latin typeface="Arial" panose="020B0604020202020204" pitchFamily="34" charset="0"/>
              </a:rPr>
              <a:t> 1</a:t>
            </a:r>
          </a:p>
        </p:txBody>
      </p:sp>
      <p:sp>
        <p:nvSpPr>
          <p:cNvPr id="17419" name="TextBox 1">
            <a:extLst>
              <a:ext uri="{FF2B5EF4-FFF2-40B4-BE49-F238E27FC236}">
                <a16:creationId xmlns:a16="http://schemas.microsoft.com/office/drawing/2014/main" id="{C7975BC5-F46E-43A1-8CB8-13F69F844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78475" y="2028825"/>
            <a:ext cx="3127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0</a:t>
            </a: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20" name="TextBox 1">
            <a:extLst>
              <a:ext uri="{FF2B5EF4-FFF2-40B4-BE49-F238E27FC236}">
                <a16:creationId xmlns:a16="http://schemas.microsoft.com/office/drawing/2014/main" id="{24C4DD31-46B2-4A3F-B65C-43C9ECE989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397125"/>
            <a:ext cx="3381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B</a:t>
            </a: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7421" name="TextBox 1">
            <a:extLst>
              <a:ext uri="{FF2B5EF4-FFF2-40B4-BE49-F238E27FC236}">
                <a16:creationId xmlns:a16="http://schemas.microsoft.com/office/drawing/2014/main" id="{1FB77C98-2674-4309-9708-6BF9CAF74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8113" y="2357438"/>
            <a:ext cx="5365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800">
                <a:latin typeface="Arial" panose="020B0604020202020204" pitchFamily="34" charset="0"/>
              </a:rPr>
              <a:t>= B</a:t>
            </a:r>
          </a:p>
        </p:txBody>
      </p:sp>
      <p:sp>
        <p:nvSpPr>
          <p:cNvPr id="14" name="TextBox 1">
            <a:extLst>
              <a:ext uri="{FF2B5EF4-FFF2-40B4-BE49-F238E27FC236}">
                <a16:creationId xmlns:a16="http://schemas.microsoft.com/office/drawing/2014/main" id="{58E33EEF-9237-476F-AD4D-3EAA686D9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0012" y="2612178"/>
            <a:ext cx="328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30B71C9D-25F1-44A2-BDA3-F4978769E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4774" y="2053378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1">
            <a:extLst>
              <a:ext uri="{FF2B5EF4-FFF2-40B4-BE49-F238E27FC236}">
                <a16:creationId xmlns:a16="http://schemas.microsoft.com/office/drawing/2014/main" id="{1A2D8096-B518-4870-BF17-312F9F84A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BDCCAC-CF66-4812-BC54-C40F5B5FD587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18435" name="Picture 2">
            <a:extLst>
              <a:ext uri="{FF2B5EF4-FFF2-40B4-BE49-F238E27FC236}">
                <a16:creationId xmlns:a16="http://schemas.microsoft.com/office/drawing/2014/main" id="{7E6C8BD8-7CE4-4767-BFA8-6C9EBBA85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0" y="1773238"/>
            <a:ext cx="482282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3">
            <a:extLst>
              <a:ext uri="{FF2B5EF4-FFF2-40B4-BE49-F238E27FC236}">
                <a16:creationId xmlns:a16="http://schemas.microsoft.com/office/drawing/2014/main" id="{3D0AC31D-B2E7-48D6-8A09-C8F5FBA1C8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75" y="1620838"/>
            <a:ext cx="4000500" cy="296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49E2CF0-F130-4C74-8A50-F5BA96379E69}"/>
              </a:ext>
            </a:extLst>
          </p:cNvPr>
          <p:cNvSpPr/>
          <p:nvPr/>
        </p:nvSpPr>
        <p:spPr>
          <a:xfrm>
            <a:off x="1709738" y="3659188"/>
            <a:ext cx="1371600" cy="9159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1F8303F-DCD9-4E46-9C0F-B392AB75D7DD}"/>
              </a:ext>
            </a:extLst>
          </p:cNvPr>
          <p:cNvCxnSpPr/>
          <p:nvPr/>
        </p:nvCxnSpPr>
        <p:spPr>
          <a:xfrm flipV="1">
            <a:off x="2405063" y="3657600"/>
            <a:ext cx="0" cy="6096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9" name="TextBox 4">
            <a:extLst>
              <a:ext uri="{FF2B5EF4-FFF2-40B4-BE49-F238E27FC236}">
                <a16:creationId xmlns:a16="http://schemas.microsoft.com/office/drawing/2014/main" id="{BC3CF685-A7E9-4E30-BB2C-3700CF64B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2463" y="4195763"/>
            <a:ext cx="990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Selection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E94D17-97D3-416D-A384-5D960FFEE6E9}"/>
              </a:ext>
            </a:extLst>
          </p:cNvPr>
          <p:cNvSpPr/>
          <p:nvPr/>
        </p:nvSpPr>
        <p:spPr>
          <a:xfrm>
            <a:off x="762000" y="2573338"/>
            <a:ext cx="879475" cy="7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E5F33D-1FD7-4ADB-BB65-4918B2767B1F}"/>
              </a:ext>
            </a:extLst>
          </p:cNvPr>
          <p:cNvSpPr/>
          <p:nvPr/>
        </p:nvSpPr>
        <p:spPr>
          <a:xfrm flipH="1">
            <a:off x="793750" y="2297113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42" name="TextBox 8">
            <a:extLst>
              <a:ext uri="{FF2B5EF4-FFF2-40B4-BE49-F238E27FC236}">
                <a16:creationId xmlns:a16="http://schemas.microsoft.com/office/drawing/2014/main" id="{7EAC7C3A-0448-4BA9-A5FA-8386CDFB3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2305050"/>
            <a:ext cx="285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I</a:t>
            </a:r>
            <a:r>
              <a:rPr lang="en-US" altLang="en-US" sz="1200" b="1" baseline="-25000"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7110A3-FF1C-42AC-B453-1FA214BA9D64}"/>
              </a:ext>
            </a:extLst>
          </p:cNvPr>
          <p:cNvSpPr/>
          <p:nvPr/>
        </p:nvSpPr>
        <p:spPr>
          <a:xfrm flipH="1">
            <a:off x="788988" y="3271838"/>
            <a:ext cx="2286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44" name="TextBox 15">
            <a:extLst>
              <a:ext uri="{FF2B5EF4-FFF2-40B4-BE49-F238E27FC236}">
                <a16:creationId xmlns:a16="http://schemas.microsoft.com/office/drawing/2014/main" id="{6ACA9622-A576-46A4-B895-D7050A1FDA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3297238"/>
            <a:ext cx="285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latin typeface="Arial" panose="020B0604020202020204" pitchFamily="34" charset="0"/>
              </a:rPr>
              <a:t>I</a:t>
            </a:r>
            <a:r>
              <a:rPr lang="en-US" altLang="en-US" sz="1200" b="1" baseline="-25000" dirty="0">
                <a:latin typeface="Arial" panose="020B0604020202020204" pitchFamily="34" charset="0"/>
              </a:rPr>
              <a:t>3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1CB124E-9806-4677-9488-017ABB621AFE}"/>
              </a:ext>
            </a:extLst>
          </p:cNvPr>
          <p:cNvCxnSpPr/>
          <p:nvPr/>
        </p:nvCxnSpPr>
        <p:spPr>
          <a:xfrm rot="5400000" flipV="1">
            <a:off x="1328738" y="2441575"/>
            <a:ext cx="0" cy="64135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45CB260-8F9E-4F07-8614-32FD3B2B7A10}"/>
              </a:ext>
            </a:extLst>
          </p:cNvPr>
          <p:cNvCxnSpPr/>
          <p:nvPr/>
        </p:nvCxnSpPr>
        <p:spPr>
          <a:xfrm rot="5400000" flipV="1">
            <a:off x="1323975" y="2768600"/>
            <a:ext cx="0" cy="64135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47" name="TextBox 15">
            <a:extLst>
              <a:ext uri="{FF2B5EF4-FFF2-40B4-BE49-F238E27FC236}">
                <a16:creationId xmlns:a16="http://schemas.microsoft.com/office/drawing/2014/main" id="{BBBE0B39-E3B8-4DE1-8655-67AEF19B85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4063" y="2959100"/>
            <a:ext cx="28575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I</a:t>
            </a:r>
            <a:r>
              <a:rPr lang="en-US" altLang="en-US" sz="1200" b="1" baseline="-25000"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8448" name="TextBox 15">
            <a:extLst>
              <a:ext uri="{FF2B5EF4-FFF2-40B4-BE49-F238E27FC236}">
                <a16:creationId xmlns:a16="http://schemas.microsoft.com/office/drawing/2014/main" id="{2A015B10-D8AE-4976-A794-D0D639131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" y="2632075"/>
            <a:ext cx="285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>
                <a:latin typeface="Arial" panose="020B0604020202020204" pitchFamily="34" charset="0"/>
              </a:rPr>
              <a:t>I</a:t>
            </a:r>
            <a:r>
              <a:rPr lang="en-US" altLang="en-US" sz="1200" b="1" baseline="-25000"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B14163-F331-45E2-9762-3B476E8C8480}"/>
              </a:ext>
            </a:extLst>
          </p:cNvPr>
          <p:cNvSpPr/>
          <p:nvPr/>
        </p:nvSpPr>
        <p:spPr>
          <a:xfrm>
            <a:off x="5021263" y="1571625"/>
            <a:ext cx="3417887" cy="3781425"/>
          </a:xfrm>
          <a:prstGeom prst="rect">
            <a:avLst/>
          </a:prstGeom>
          <a:solidFill>
            <a:srgbClr val="9BB7D9">
              <a:alpha val="45098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450" name="TextBox 4">
            <a:extLst>
              <a:ext uri="{FF2B5EF4-FFF2-40B4-BE49-F238E27FC236}">
                <a16:creationId xmlns:a16="http://schemas.microsoft.com/office/drawing/2014/main" id="{A2D216BC-4E22-42A8-AAF1-EF836C66A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5225" y="4668838"/>
            <a:ext cx="9906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Selection</a:t>
            </a:r>
          </a:p>
        </p:txBody>
      </p:sp>
      <p:sp>
        <p:nvSpPr>
          <p:cNvPr id="18451" name="TextBox 4">
            <a:extLst>
              <a:ext uri="{FF2B5EF4-FFF2-40B4-BE49-F238E27FC236}">
                <a16:creationId xmlns:a16="http://schemas.microsoft.com/office/drawing/2014/main" id="{692F5A9E-685B-4628-85B8-0E8FFB113E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75" y="2819400"/>
            <a:ext cx="282575" cy="30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Arial" panose="020B0604020202020204" pitchFamily="34" charset="0"/>
              </a:rPr>
              <a:t>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4F5CCED8-DA18-4D84-A955-5EF0BF9C7B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FBC9EC5-349F-465D-B1A3-07DE477E47F9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200"/>
          </a:p>
        </p:txBody>
      </p:sp>
      <p:sp>
        <p:nvSpPr>
          <p:cNvPr id="19459" name="Footer Placeholder 7">
            <a:extLst>
              <a:ext uri="{FF2B5EF4-FFF2-40B4-BE49-F238E27FC236}">
                <a16:creationId xmlns:a16="http://schemas.microsoft.com/office/drawing/2014/main" id="{F825EDC3-9CC3-4CDF-8BEC-5AE62DCC826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785DC3F0-F30A-4830-8A67-EBE8F72BF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B.3.6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multiplexor is arrayed 32 times to perform a selection between two 32-bit inputs.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Note that there is still only one data selection signal used for all 32 1-bit multiplexors.</a:t>
            </a:r>
          </a:p>
        </p:txBody>
      </p:sp>
      <p:pic>
        <p:nvPicPr>
          <p:cNvPr id="19461" name="Picture 6" descr="9">
            <a:extLst>
              <a:ext uri="{FF2B5EF4-FFF2-40B4-BE49-F238E27FC236}">
                <a16:creationId xmlns:a16="http://schemas.microsoft.com/office/drawing/2014/main" id="{2478929E-4C80-4210-868B-E720C98987D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4813" y="228600"/>
            <a:ext cx="5792787" cy="5334000"/>
          </a:xfrm>
        </p:spPr>
      </p:pic>
      <p:sp>
        <p:nvSpPr>
          <p:cNvPr id="19462" name="TextBox 1">
            <a:extLst>
              <a:ext uri="{FF2B5EF4-FFF2-40B4-BE49-F238E27FC236}">
                <a16:creationId xmlns:a16="http://schemas.microsoft.com/office/drawing/2014/main" id="{1AD29984-2D9F-4784-96AD-9F60DE0D1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25" y="152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(1-bit)</a:t>
            </a:r>
          </a:p>
        </p:txBody>
      </p:sp>
      <p:sp>
        <p:nvSpPr>
          <p:cNvPr id="19463" name="TextBox 6">
            <a:extLst>
              <a:ext uri="{FF2B5EF4-FFF2-40B4-BE49-F238E27FC236}">
                <a16:creationId xmlns:a16="http://schemas.microsoft.com/office/drawing/2014/main" id="{885F0EEA-7B17-4788-A766-475E5F1D1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3" y="152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(1-bit)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CD3C0C-8D73-4BB5-B2F7-2DF59E4F052C}"/>
              </a:ext>
            </a:extLst>
          </p:cNvPr>
          <p:cNvSpPr/>
          <p:nvPr/>
        </p:nvSpPr>
        <p:spPr>
          <a:xfrm>
            <a:off x="5249863" y="685800"/>
            <a:ext cx="914400" cy="4419600"/>
          </a:xfrm>
          <a:prstGeom prst="round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5" name="TextBox 1">
            <a:extLst>
              <a:ext uri="{FF2B5EF4-FFF2-40B4-BE49-F238E27FC236}">
                <a16:creationId xmlns:a16="http://schemas.microsoft.com/office/drawing/2014/main" id="{9DA15534-AEC2-4E15-84D9-D5126CE9A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2932113"/>
            <a:ext cx="3768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If 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S = 0</a:t>
            </a:r>
            <a:r>
              <a:rPr lang="en-US" altLang="en-US" sz="1600" dirty="0">
                <a:latin typeface="Arial" panose="020B0604020202020204" pitchFamily="34" charset="0"/>
              </a:rPr>
              <a:t>, then C</a:t>
            </a:r>
            <a:r>
              <a:rPr lang="en-US" altLang="en-US" sz="1600" baseline="-2000" dirty="0">
                <a:latin typeface="Arial" panose="020B0604020202020204" pitchFamily="34" charset="0"/>
              </a:rPr>
              <a:t>31</a:t>
            </a:r>
            <a:r>
              <a:rPr lang="en-US" altLang="en-US" sz="1600" dirty="0">
                <a:latin typeface="Arial" panose="020B0604020202020204" pitchFamily="34" charset="0"/>
              </a:rPr>
              <a:t>C</a:t>
            </a:r>
            <a:r>
              <a:rPr lang="en-US" altLang="en-US" sz="1600" baseline="-2000" dirty="0">
                <a:latin typeface="Arial" panose="020B0604020202020204" pitchFamily="34" charset="0"/>
              </a:rPr>
              <a:t>30</a:t>
            </a:r>
            <a:r>
              <a:rPr lang="en-US" altLang="en-US" sz="1600" dirty="0">
                <a:latin typeface="Arial" panose="020B0604020202020204" pitchFamily="34" charset="0"/>
              </a:rPr>
              <a:t>…C</a:t>
            </a:r>
            <a:r>
              <a:rPr lang="en-US" altLang="en-US" sz="1600" baseline="-2000" dirty="0">
                <a:latin typeface="Arial" panose="020B0604020202020204" pitchFamily="34" charset="0"/>
              </a:rPr>
              <a:t>0</a:t>
            </a:r>
            <a:r>
              <a:rPr lang="en-US" altLang="en-US" sz="1600" dirty="0">
                <a:latin typeface="Arial" panose="020B0604020202020204" pitchFamily="34" charset="0"/>
              </a:rPr>
              <a:t> = 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31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A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…A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6CA99-1914-4E0B-A2B9-DA924C48F95D}"/>
              </a:ext>
            </a:extLst>
          </p:cNvPr>
          <p:cNvSpPr txBox="1"/>
          <p:nvPr/>
        </p:nvSpPr>
        <p:spPr>
          <a:xfrm>
            <a:off x="4539916" y="846222"/>
            <a:ext cx="53340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</a:rPr>
              <a:t>A31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901252-A638-43E4-AE8C-40E3AAC22B17}"/>
              </a:ext>
            </a:extLst>
          </p:cNvPr>
          <p:cNvSpPr txBox="1"/>
          <p:nvPr/>
        </p:nvSpPr>
        <p:spPr>
          <a:xfrm>
            <a:off x="4539917" y="2314072"/>
            <a:ext cx="53340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</a:rPr>
              <a:t>A30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E1BC3-1D1F-42EC-912E-69A41C96C579}"/>
              </a:ext>
            </a:extLst>
          </p:cNvPr>
          <p:cNvSpPr txBox="1"/>
          <p:nvPr/>
        </p:nvSpPr>
        <p:spPr>
          <a:xfrm>
            <a:off x="4547939" y="3910254"/>
            <a:ext cx="405061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</a:rPr>
              <a:t>A0</a:t>
            </a:r>
          </a:p>
        </p:txBody>
      </p:sp>
    </p:spTree>
    <p:extLst>
      <p:ext uri="{BB962C8B-B14F-4D97-AF65-F5344CB8AC3E}">
        <p14:creationId xmlns:p14="http://schemas.microsoft.com/office/powerpoint/2010/main" val="13765993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4F5CCED8-DA18-4D84-A955-5EF0BF9C7B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DFBC9EC5-349F-465D-B1A3-07DE477E47F9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/>
          </a:p>
        </p:txBody>
      </p:sp>
      <p:sp>
        <p:nvSpPr>
          <p:cNvPr id="19459" name="Footer Placeholder 7">
            <a:extLst>
              <a:ext uri="{FF2B5EF4-FFF2-40B4-BE49-F238E27FC236}">
                <a16:creationId xmlns:a16="http://schemas.microsoft.com/office/drawing/2014/main" id="{F825EDC3-9CC3-4CDF-8BEC-5AE62DCC826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785DC3F0-F30A-4830-8A67-EBE8F72BF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B.3.6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multiplexor is arrayed 32 times to perform a selection between two 32-bit inputs.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Note that there is still only one data selection signal used for all 32 1-bit multiplexors.</a:t>
            </a:r>
          </a:p>
        </p:txBody>
      </p:sp>
      <p:pic>
        <p:nvPicPr>
          <p:cNvPr id="19461" name="Picture 6" descr="9">
            <a:extLst>
              <a:ext uri="{FF2B5EF4-FFF2-40B4-BE49-F238E27FC236}">
                <a16:creationId xmlns:a16="http://schemas.microsoft.com/office/drawing/2014/main" id="{2478929E-4C80-4210-868B-E720C98987D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74813" y="228600"/>
            <a:ext cx="5792787" cy="5334000"/>
          </a:xfrm>
        </p:spPr>
      </p:pic>
      <p:sp>
        <p:nvSpPr>
          <p:cNvPr id="19462" name="TextBox 1">
            <a:extLst>
              <a:ext uri="{FF2B5EF4-FFF2-40B4-BE49-F238E27FC236}">
                <a16:creationId xmlns:a16="http://schemas.microsoft.com/office/drawing/2014/main" id="{1AD29984-2D9F-4784-96AD-9F60DE0D15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3925" y="152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(1-bit)</a:t>
            </a:r>
          </a:p>
        </p:txBody>
      </p:sp>
      <p:sp>
        <p:nvSpPr>
          <p:cNvPr id="19463" name="TextBox 6">
            <a:extLst>
              <a:ext uri="{FF2B5EF4-FFF2-40B4-BE49-F238E27FC236}">
                <a16:creationId xmlns:a16="http://schemas.microsoft.com/office/drawing/2014/main" id="{885F0EEA-7B17-4788-A766-475E5F1D1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1363" y="152400"/>
            <a:ext cx="7620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latin typeface="Arial" panose="020B0604020202020204" pitchFamily="34" charset="0"/>
              </a:rPr>
              <a:t>(1-bit)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8CD3C0C-8D73-4BB5-B2F7-2DF59E4F052C}"/>
              </a:ext>
            </a:extLst>
          </p:cNvPr>
          <p:cNvSpPr/>
          <p:nvPr/>
        </p:nvSpPr>
        <p:spPr>
          <a:xfrm>
            <a:off x="5249863" y="685800"/>
            <a:ext cx="914400" cy="4419600"/>
          </a:xfrm>
          <a:prstGeom prst="roundRect">
            <a:avLst/>
          </a:prstGeom>
          <a:solidFill>
            <a:srgbClr val="9BB7D9">
              <a:alpha val="45000"/>
            </a:srgbClr>
          </a:solidFill>
          <a:ln w="127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465" name="TextBox 1">
            <a:extLst>
              <a:ext uri="{FF2B5EF4-FFF2-40B4-BE49-F238E27FC236}">
                <a16:creationId xmlns:a16="http://schemas.microsoft.com/office/drawing/2014/main" id="{9DA15534-AEC2-4E15-84D9-D5126CE9A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2932113"/>
            <a:ext cx="376872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600" dirty="0">
                <a:latin typeface="Arial" panose="020B0604020202020204" pitchFamily="34" charset="0"/>
              </a:rPr>
              <a:t>If 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S = 1</a:t>
            </a:r>
            <a:r>
              <a:rPr lang="en-US" altLang="en-US" sz="1600" dirty="0">
                <a:latin typeface="Arial" panose="020B0604020202020204" pitchFamily="34" charset="0"/>
              </a:rPr>
              <a:t>, then C</a:t>
            </a:r>
            <a:r>
              <a:rPr lang="en-US" altLang="en-US" sz="1600" baseline="-2000" dirty="0">
                <a:latin typeface="Arial" panose="020B0604020202020204" pitchFamily="34" charset="0"/>
              </a:rPr>
              <a:t>31</a:t>
            </a:r>
            <a:r>
              <a:rPr lang="en-US" altLang="en-US" sz="1600" dirty="0">
                <a:latin typeface="Arial" panose="020B0604020202020204" pitchFamily="34" charset="0"/>
              </a:rPr>
              <a:t>C</a:t>
            </a:r>
            <a:r>
              <a:rPr lang="en-US" altLang="en-US" sz="1600" baseline="-2000" dirty="0">
                <a:latin typeface="Arial" panose="020B0604020202020204" pitchFamily="34" charset="0"/>
              </a:rPr>
              <a:t>30</a:t>
            </a:r>
            <a:r>
              <a:rPr lang="en-US" altLang="en-US" sz="1600" dirty="0">
                <a:latin typeface="Arial" panose="020B0604020202020204" pitchFamily="34" charset="0"/>
              </a:rPr>
              <a:t>…C</a:t>
            </a:r>
            <a:r>
              <a:rPr lang="en-US" altLang="en-US" sz="1600" baseline="-2000" dirty="0">
                <a:latin typeface="Arial" panose="020B0604020202020204" pitchFamily="34" charset="0"/>
              </a:rPr>
              <a:t>0</a:t>
            </a:r>
            <a:r>
              <a:rPr lang="en-US" altLang="en-US" sz="1600" dirty="0">
                <a:latin typeface="Arial" panose="020B0604020202020204" pitchFamily="34" charset="0"/>
              </a:rPr>
              <a:t> = 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31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B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30</a:t>
            </a:r>
            <a:r>
              <a:rPr lang="en-US" altLang="en-US" sz="1600" dirty="0">
                <a:solidFill>
                  <a:srgbClr val="C00000"/>
                </a:solidFill>
                <a:latin typeface="Arial" panose="020B0604020202020204" pitchFamily="34" charset="0"/>
              </a:rPr>
              <a:t>…B</a:t>
            </a:r>
            <a:r>
              <a:rPr lang="en-US" altLang="en-US" sz="1600" baseline="-2000" dirty="0">
                <a:solidFill>
                  <a:srgbClr val="C0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C71029-FA27-46E8-BEDB-C2CC7DB6CC1D}"/>
              </a:ext>
            </a:extLst>
          </p:cNvPr>
          <p:cNvSpPr txBox="1"/>
          <p:nvPr/>
        </p:nvSpPr>
        <p:spPr>
          <a:xfrm>
            <a:off x="4539916" y="1560091"/>
            <a:ext cx="53340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</a:rPr>
              <a:t>B31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F9BCC-4F86-4448-9286-5B78A2853657}"/>
              </a:ext>
            </a:extLst>
          </p:cNvPr>
          <p:cNvSpPr txBox="1"/>
          <p:nvPr/>
        </p:nvSpPr>
        <p:spPr>
          <a:xfrm>
            <a:off x="4539917" y="3027941"/>
            <a:ext cx="533400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>
                <a:solidFill>
                  <a:srgbClr val="C00000"/>
                </a:solidFill>
              </a:rPr>
              <a:t>B30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7C68B2-4D62-4665-907C-0AA601F468A2}"/>
              </a:ext>
            </a:extLst>
          </p:cNvPr>
          <p:cNvSpPr txBox="1"/>
          <p:nvPr/>
        </p:nvSpPr>
        <p:spPr>
          <a:xfrm>
            <a:off x="4547939" y="4624123"/>
            <a:ext cx="405061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C00000"/>
                </a:solidFill>
              </a:rPr>
              <a:t>B0</a:t>
            </a:r>
            <a:endParaRPr lang="en-US" sz="13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C559706E-B7AB-4A64-9373-36D63E7C85F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DABCE83-F09A-4A86-B71F-8A66080DCF99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200"/>
          </a:p>
        </p:txBody>
      </p:sp>
      <p:sp>
        <p:nvSpPr>
          <p:cNvPr id="20483" name="Footer Placeholder 7">
            <a:extLst>
              <a:ext uri="{FF2B5EF4-FFF2-40B4-BE49-F238E27FC236}">
                <a16:creationId xmlns:a16="http://schemas.microsoft.com/office/drawing/2014/main" id="{04655D93-4DDE-41C5-8E3B-6F9AB88BCF78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0484" name="TextBox 3">
            <a:extLst>
              <a:ext uri="{FF2B5EF4-FFF2-40B4-BE49-F238E27FC236}">
                <a16:creationId xmlns:a16="http://schemas.microsoft.com/office/drawing/2014/main" id="{86BBAFC1-C526-4A11-85F0-8AB4645D8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The 1-bit logical unit for AND and OR.</a:t>
            </a:r>
          </a:p>
        </p:txBody>
      </p:sp>
      <p:pic>
        <p:nvPicPr>
          <p:cNvPr id="20485" name="Picture 6" descr="13">
            <a:extLst>
              <a:ext uri="{FF2B5EF4-FFF2-40B4-BE49-F238E27FC236}">
                <a16:creationId xmlns:a16="http://schemas.microsoft.com/office/drawing/2014/main" id="{62F49599-C2C9-4111-8241-614304742A4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831850"/>
            <a:ext cx="6419850" cy="3522663"/>
          </a:xfrm>
        </p:spPr>
      </p:pic>
      <p:sp>
        <p:nvSpPr>
          <p:cNvPr id="20486" name="TextBox 6">
            <a:extLst>
              <a:ext uri="{FF2B5EF4-FFF2-40B4-BE49-F238E27FC236}">
                <a16:creationId xmlns:a16="http://schemas.microsoft.com/office/drawing/2014/main" id="{2659809C-29C2-42D0-9611-9D60DC91A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3850" y="1889125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a∧b</a:t>
            </a:r>
          </a:p>
        </p:txBody>
      </p:sp>
      <p:sp>
        <p:nvSpPr>
          <p:cNvPr id="20487" name="TextBox 7">
            <a:extLst>
              <a:ext uri="{FF2B5EF4-FFF2-40B4-BE49-F238E27FC236}">
                <a16:creationId xmlns:a16="http://schemas.microsoft.com/office/drawing/2014/main" id="{DB644DA3-FA7D-4CF2-8D46-F1FCF560DA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95650" y="3479800"/>
            <a:ext cx="457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latin typeface="Arial" panose="020B0604020202020204" pitchFamily="34" charset="0"/>
              </a:rPr>
              <a:t>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2B074-8B6D-496D-B5DD-7DFEAE4B92DD}"/>
              </a:ext>
            </a:extLst>
          </p:cNvPr>
          <p:cNvSpPr txBox="1"/>
          <p:nvPr/>
        </p:nvSpPr>
        <p:spPr>
          <a:xfrm>
            <a:off x="6219825" y="1038225"/>
            <a:ext cx="1285875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(1-bit)</a:t>
            </a:r>
          </a:p>
        </p:txBody>
      </p:sp>
      <p:sp>
        <p:nvSpPr>
          <p:cNvPr id="20489" name="TextBox 3">
            <a:extLst>
              <a:ext uri="{FF2B5EF4-FFF2-40B4-BE49-F238E27FC236}">
                <a16:creationId xmlns:a16="http://schemas.microsoft.com/office/drawing/2014/main" id="{A835BD95-F332-43AA-8C7A-E72A3FDDE3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8150" y="4910138"/>
            <a:ext cx="836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Note: The </a:t>
            </a:r>
            <a:r>
              <a:rPr lang="en-US" altLang="en-US" sz="28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Operation</a:t>
            </a: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bit is actually a 1-bit instruction</a:t>
            </a:r>
          </a:p>
        </p:txBody>
      </p:sp>
      <p:sp>
        <p:nvSpPr>
          <p:cNvPr id="20490" name="TextBox 6">
            <a:extLst>
              <a:ext uri="{FF2B5EF4-FFF2-40B4-BE49-F238E27FC236}">
                <a16:creationId xmlns:a16="http://schemas.microsoft.com/office/drawing/2014/main" id="{20EDAD90-69A8-4B0B-AD12-9EBF58AD6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3263" y="2078038"/>
            <a:ext cx="4460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latin typeface="Arial" panose="020B0604020202020204" pitchFamily="34" charset="0"/>
              </a:rPr>
              <a:t>∧</a:t>
            </a:r>
          </a:p>
        </p:txBody>
      </p:sp>
      <p:sp>
        <p:nvSpPr>
          <p:cNvPr id="20491" name="TextBox 7">
            <a:extLst>
              <a:ext uri="{FF2B5EF4-FFF2-40B4-BE49-F238E27FC236}">
                <a16:creationId xmlns:a16="http://schemas.microsoft.com/office/drawing/2014/main" id="{F8DB3F84-DB34-4418-BD22-EBE68C5C16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3314700"/>
            <a:ext cx="8382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a∨b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5997710B-2291-4C77-A4E3-9900632F93F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0E106CE-EA1F-4011-A271-A0C42983495F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200"/>
          </a:p>
        </p:txBody>
      </p:sp>
      <p:sp>
        <p:nvSpPr>
          <p:cNvPr id="21507" name="Footer Placeholder 7">
            <a:extLst>
              <a:ext uri="{FF2B5EF4-FFF2-40B4-BE49-F238E27FC236}">
                <a16:creationId xmlns:a16="http://schemas.microsoft.com/office/drawing/2014/main" id="{8F3B7090-4984-4A50-8149-68EC3DAA251C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CED770DB-BDB2-4EDB-A4A4-E0555B33C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1-bit adder.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This adder is called a full adder; it is also called a (3,2) adder because it has 3 inputs and 2 outputs. An adder with only the a and b inputs is called a (2,2) adder or half-adder.</a:t>
            </a:r>
          </a:p>
        </p:txBody>
      </p:sp>
      <p:pic>
        <p:nvPicPr>
          <p:cNvPr id="21509" name="Picture 6" descr="14">
            <a:extLst>
              <a:ext uri="{FF2B5EF4-FFF2-40B4-BE49-F238E27FC236}">
                <a16:creationId xmlns:a16="http://schemas.microsoft.com/office/drawing/2014/main" id="{847A78FA-23FF-47E3-AAC8-CBDA9B8C8E8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820863" y="228600"/>
            <a:ext cx="5502275" cy="5334000"/>
          </a:xfrm>
        </p:spPr>
      </p:pic>
      <p:sp>
        <p:nvSpPr>
          <p:cNvPr id="21510" name="TextBox 5">
            <a:extLst>
              <a:ext uri="{FF2B5EF4-FFF2-40B4-BE49-F238E27FC236}">
                <a16:creationId xmlns:a16="http://schemas.microsoft.com/office/drawing/2014/main" id="{5F232529-EB3F-40DD-8994-322ECC2C6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5200" y="2590800"/>
            <a:ext cx="1447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latin typeface="Arial" panose="020B0604020202020204" pitchFamily="34" charset="0"/>
              </a:rPr>
              <a:t>(a+b)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992E64B0-16F7-4E4A-BB89-9E82FECC4965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62F291B-B910-4086-A808-1F0031F92DB8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200"/>
          </a:p>
        </p:txBody>
      </p:sp>
      <p:sp>
        <p:nvSpPr>
          <p:cNvPr id="22531" name="Footer Placeholder 7">
            <a:extLst>
              <a:ext uri="{FF2B5EF4-FFF2-40B4-BE49-F238E27FC236}">
                <a16:creationId xmlns:a16="http://schemas.microsoft.com/office/drawing/2014/main" id="{51A8CC2B-A473-41BA-BA6F-C524017F5774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pic>
        <p:nvPicPr>
          <p:cNvPr id="22532" name="Picture 6" descr="15">
            <a:extLst>
              <a:ext uri="{FF2B5EF4-FFF2-40B4-BE49-F238E27FC236}">
                <a16:creationId xmlns:a16="http://schemas.microsoft.com/office/drawing/2014/main" id="{F6115F3A-F987-440F-A556-271512E1546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447800"/>
            <a:ext cx="6419850" cy="2578100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1597B6-1450-4F4E-861A-EDD3D2CAD8E3}"/>
              </a:ext>
            </a:extLst>
          </p:cNvPr>
          <p:cNvSpPr/>
          <p:nvPr/>
        </p:nvSpPr>
        <p:spPr>
          <a:xfrm>
            <a:off x="4276725" y="1447800"/>
            <a:ext cx="1957388" cy="25781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754CAF-68BA-42C6-89D8-8DC104E59E68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366988" y="4404352"/>
            <a:ext cx="5638800" cy="47186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A4C21C-7FEE-4883-89A7-545C06E8C789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914400" y="4940054"/>
            <a:ext cx="5638800" cy="1384546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1">
            <a:extLst>
              <a:ext uri="{FF2B5EF4-FFF2-40B4-BE49-F238E27FC236}">
                <a16:creationId xmlns:a16="http://schemas.microsoft.com/office/drawing/2014/main" id="{6D896FE4-6B53-444A-8A7E-A353BD2AE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DCCB05-7DEC-4AB2-9176-CE98D6A9306D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3555" name="Picture 2">
            <a:extLst>
              <a:ext uri="{FF2B5EF4-FFF2-40B4-BE49-F238E27FC236}">
                <a16:creationId xmlns:a16="http://schemas.microsoft.com/office/drawing/2014/main" id="{D13F8958-65DB-4C2B-830F-CE9112D6C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2038" y="603250"/>
            <a:ext cx="4830762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66E9162-5148-44D9-AD0F-0E07CDF42586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800600" y="1469509"/>
            <a:ext cx="3657600" cy="283091"/>
          </a:xfrm>
          <a:prstGeom prst="rect">
            <a:avLst/>
          </a:prstGeom>
          <a:blipFill>
            <a:blip r:embed="rId3"/>
            <a:stretch>
              <a:fillRect t="-2128" r="-1833" b="-8511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D72C3-9B41-4DF3-8D94-A086EF7895A7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971472" y="3962400"/>
            <a:ext cx="3429000" cy="560090"/>
          </a:xfrm>
          <a:prstGeom prst="rect">
            <a:avLst/>
          </a:prstGeom>
          <a:blipFill>
            <a:blip r:embed="rId4"/>
            <a:stretch>
              <a:fillRect b="-4348"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>
            <a:extLst>
              <a:ext uri="{FF2B5EF4-FFF2-40B4-BE49-F238E27FC236}">
                <a16:creationId xmlns:a16="http://schemas.microsoft.com/office/drawing/2014/main" id="{C05685CB-FBBC-4192-93B3-B0AB438E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C87F17-1522-4337-AB12-68BB04E8B265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D752CCC0-9345-4662-8B65-BFDA69150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350838"/>
            <a:ext cx="4830763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3">
            <a:extLst>
              <a:ext uri="{FF2B5EF4-FFF2-40B4-BE49-F238E27FC236}">
                <a16:creationId xmlns:a16="http://schemas.microsoft.com/office/drawing/2014/main" id="{0E080CD0-6A45-4EB2-9645-1347C12F5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0213" y="576263"/>
            <a:ext cx="4876800" cy="5062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3">
            <a:extLst>
              <a:ext uri="{FF2B5EF4-FFF2-40B4-BE49-F238E27FC236}">
                <a16:creationId xmlns:a16="http://schemas.microsoft.com/office/drawing/2014/main" id="{54D0BAF7-1BF4-4524-AB73-EAFD0738E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5808663"/>
            <a:ext cx="2897188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2" name="Picture 8">
            <a:extLst>
              <a:ext uri="{FF2B5EF4-FFF2-40B4-BE49-F238E27FC236}">
                <a16:creationId xmlns:a16="http://schemas.microsoft.com/office/drawing/2014/main" id="{C4A1B0E3-61A5-455C-8590-8716DC6B5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188" y="5805488"/>
            <a:ext cx="2898775" cy="474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F12924-5FBB-4262-9CFD-EA136FDD8AC7}"/>
              </a:ext>
            </a:extLst>
          </p:cNvPr>
          <p:cNvSpPr/>
          <p:nvPr/>
        </p:nvSpPr>
        <p:spPr>
          <a:xfrm>
            <a:off x="6057900" y="6072188"/>
            <a:ext cx="1566863" cy="32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7CB4C9A-A77B-4904-9069-472FE29ADAF8}"/>
              </a:ext>
            </a:extLst>
          </p:cNvPr>
          <p:cNvSpPr/>
          <p:nvPr/>
        </p:nvSpPr>
        <p:spPr>
          <a:xfrm>
            <a:off x="3478213" y="5805488"/>
            <a:ext cx="2238375" cy="2333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1">
            <a:extLst>
              <a:ext uri="{FF2B5EF4-FFF2-40B4-BE49-F238E27FC236}">
                <a16:creationId xmlns:a16="http://schemas.microsoft.com/office/drawing/2014/main" id="{04C58332-0167-4E16-95A2-65434A1E7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724650" y="6356350"/>
            <a:ext cx="21336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A5B040-F254-4CC1-AF38-B6A1838E8041}" type="slidenum">
              <a:rPr lang="en-US" altLang="en-US" sz="1200" smtClean="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pic>
        <p:nvPicPr>
          <p:cNvPr id="25603" name="Picture 6" descr="14">
            <a:extLst>
              <a:ext uri="{FF2B5EF4-FFF2-40B4-BE49-F238E27FC236}">
                <a16:creationId xmlns:a16="http://schemas.microsoft.com/office/drawing/2014/main" id="{1F8C57B8-ADBB-42FF-990E-05A0053AEF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617663"/>
            <a:ext cx="3695700" cy="3582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">
            <a:extLst>
              <a:ext uri="{FF2B5EF4-FFF2-40B4-BE49-F238E27FC236}">
                <a16:creationId xmlns:a16="http://schemas.microsoft.com/office/drawing/2014/main" id="{02D09FF3-8AC3-4F72-8DB0-1B7197D17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975" y="904875"/>
            <a:ext cx="4876800" cy="506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4F387F-8CB1-48CC-A99E-1BCA4AA9CD28}"/>
              </a:ext>
            </a:extLst>
          </p:cNvPr>
          <p:cNvSpPr/>
          <p:nvPr/>
        </p:nvSpPr>
        <p:spPr>
          <a:xfrm>
            <a:off x="4522788" y="762000"/>
            <a:ext cx="3886200" cy="5334000"/>
          </a:xfrm>
          <a:prstGeom prst="rect">
            <a:avLst/>
          </a:prstGeom>
          <a:solidFill>
            <a:srgbClr val="558ED5">
              <a:alpha val="49804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5">
            <a:extLst>
              <a:ext uri="{FF2B5EF4-FFF2-40B4-BE49-F238E27FC236}">
                <a16:creationId xmlns:a16="http://schemas.microsoft.com/office/drawing/2014/main" id="{435E0BC3-35D6-4DF2-8400-D93A95679E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A842059A-C336-47B4-8C7E-B0134CFD14EC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200"/>
          </a:p>
        </p:txBody>
      </p:sp>
      <p:sp>
        <p:nvSpPr>
          <p:cNvPr id="26627" name="Footer Placeholder 7">
            <a:extLst>
              <a:ext uri="{FF2B5EF4-FFF2-40B4-BE49-F238E27FC236}">
                <a16:creationId xmlns:a16="http://schemas.microsoft.com/office/drawing/2014/main" id="{3B47366A-21A2-4D73-8C6E-A035DD7AEB20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6628" name="TextBox 3">
            <a:extLst>
              <a:ext uri="{FF2B5EF4-FFF2-40B4-BE49-F238E27FC236}">
                <a16:creationId xmlns:a16="http://schemas.microsoft.com/office/drawing/2014/main" id="{3838A15C-1B39-4997-89E7-9AFFDDAF6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Adder hardware for the CarryOut signal.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rest of the adder hardware is the logic for the Sum output given in the equation on this page.</a:t>
            </a:r>
          </a:p>
        </p:txBody>
      </p:sp>
      <p:pic>
        <p:nvPicPr>
          <p:cNvPr id="26629" name="Picture 6" descr="17">
            <a:extLst>
              <a:ext uri="{FF2B5EF4-FFF2-40B4-BE49-F238E27FC236}">
                <a16:creationId xmlns:a16="http://schemas.microsoft.com/office/drawing/2014/main" id="{786AB818-72B5-4211-BB7F-FF7FE9B0458F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41488" y="228600"/>
            <a:ext cx="5659437" cy="5334000"/>
          </a:xfrm>
        </p:spPr>
      </p:pic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C49EBD1E-AAED-4509-8F4C-7496A887109D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525A3F0E-5070-4030-980F-49ABCB27EF7A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200"/>
          </a:p>
        </p:txBody>
      </p:sp>
      <p:sp>
        <p:nvSpPr>
          <p:cNvPr id="27651" name="Footer Placeholder 7">
            <a:extLst>
              <a:ext uri="{FF2B5EF4-FFF2-40B4-BE49-F238E27FC236}">
                <a16:creationId xmlns:a16="http://schemas.microsoft.com/office/drawing/2014/main" id="{3AFAE734-F834-4B09-9E1D-9374F150E71E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7652" name="TextBox 3">
            <a:extLst>
              <a:ext uri="{FF2B5EF4-FFF2-40B4-BE49-F238E27FC236}">
                <a16:creationId xmlns:a16="http://schemas.microsoft.com/office/drawing/2014/main" id="{81ABA1AB-4F83-48D4-8B12-5CE4C1D84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184900"/>
            <a:ext cx="77724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B.5.6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1-bit ALU that performs AND, OR, and addition (see Figure B.5.5).</a:t>
            </a:r>
          </a:p>
        </p:txBody>
      </p:sp>
      <p:pic>
        <p:nvPicPr>
          <p:cNvPr id="27653" name="Picture 6" descr="18">
            <a:extLst>
              <a:ext uri="{FF2B5EF4-FFF2-40B4-BE49-F238E27FC236}">
                <a16:creationId xmlns:a16="http://schemas.microsoft.com/office/drawing/2014/main" id="{B4F4DA20-9C55-44FC-B44E-1BD8EC2105C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96975" y="228600"/>
            <a:ext cx="5203825" cy="533400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CC80C5-645E-4416-9B54-692FE6317993}"/>
              </a:ext>
            </a:extLst>
          </p:cNvPr>
          <p:cNvSpPr txBox="1"/>
          <p:nvPr/>
        </p:nvSpPr>
        <p:spPr>
          <a:xfrm>
            <a:off x="5114925" y="169863"/>
            <a:ext cx="1285875" cy="3841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9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(2-bit)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48EEF4A1-5869-453C-94B4-ECB588240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4238" y="3636963"/>
            <a:ext cx="23828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Operation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2-bit instruction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6076515-9A82-499F-BCA8-892133099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9850" y="2401888"/>
            <a:ext cx="1981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   00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: a ˄ b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=</a:t>
            </a: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 01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: a ˅ b</a:t>
            </a: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20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   10</a:t>
            </a: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: a + 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1ABB53-4251-4E68-BCDF-FC79F8C3B73F}"/>
              </a:ext>
            </a:extLst>
          </p:cNvPr>
          <p:cNvSpPr/>
          <p:nvPr/>
        </p:nvSpPr>
        <p:spPr>
          <a:xfrm>
            <a:off x="2751138" y="3806825"/>
            <a:ext cx="763587" cy="774700"/>
          </a:xfrm>
          <a:prstGeom prst="rect">
            <a:avLst/>
          </a:prstGeom>
          <a:solidFill>
            <a:srgbClr val="558ED5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AF10A41-C1FC-459A-BB3E-F5F8C41FA6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28600"/>
            <a:ext cx="2265363" cy="159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04E4D69-F97A-4328-AF73-C319B6751A50}"/>
              </a:ext>
            </a:extLst>
          </p:cNvPr>
          <p:cNvCxnSpPr/>
          <p:nvPr/>
        </p:nvCxnSpPr>
        <p:spPr>
          <a:xfrm flipH="1">
            <a:off x="5029200" y="1371600"/>
            <a:ext cx="1600200" cy="38100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3">
            <a:extLst>
              <a:ext uri="{FF2B5EF4-FFF2-40B4-BE49-F238E27FC236}">
                <a16:creationId xmlns:a16="http://schemas.microsoft.com/office/drawing/2014/main" id="{5F51E1E6-A80A-4741-99B2-4D2156CA6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1338" y="1562100"/>
            <a:ext cx="1935162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(Operation)</a:t>
            </a:r>
            <a:endParaRPr lang="en-US" altLang="en-US" sz="1100" b="1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ITCFranklinGothicStd-Hvy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FB093EC3-C0B0-441C-A014-27D0F196C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463" y="787400"/>
            <a:ext cx="706437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100" b="1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(Result)</a:t>
            </a:r>
            <a:endParaRPr lang="en-US" altLang="en-US" sz="1100" b="1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ITCFranklinGothicStd-Hvy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2" grpId="0"/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>
            <a:extLst>
              <a:ext uri="{FF2B5EF4-FFF2-40B4-BE49-F238E27FC236}">
                <a16:creationId xmlns:a16="http://schemas.microsoft.com/office/drawing/2014/main" id="{D2AE608B-5C4B-4598-BD2F-EF9640161EBB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0C9567A-D44B-47AC-84B6-422DAF55666B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200"/>
          </a:p>
        </p:txBody>
      </p:sp>
      <p:sp>
        <p:nvSpPr>
          <p:cNvPr id="28675" name="Footer Placeholder 7">
            <a:extLst>
              <a:ext uri="{FF2B5EF4-FFF2-40B4-BE49-F238E27FC236}">
                <a16:creationId xmlns:a16="http://schemas.microsoft.com/office/drawing/2014/main" id="{C7EFCA2F-252A-430D-8B35-7607DA02A942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8676" name="TextBox 3">
            <a:extLst>
              <a:ext uri="{FF2B5EF4-FFF2-40B4-BE49-F238E27FC236}">
                <a16:creationId xmlns:a16="http://schemas.microsoft.com/office/drawing/2014/main" id="{8A678E74-6A87-4109-AD54-79301F8D48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B.5.7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32-bit ALU constructed from 32 1-bit ALUs.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CarryOut of the less significant bit is connected to the CarryIn of the more significant bit. This organization is called ripple carry.</a:t>
            </a:r>
          </a:p>
        </p:txBody>
      </p:sp>
      <p:pic>
        <p:nvPicPr>
          <p:cNvPr id="28677" name="Picture 6" descr="19">
            <a:extLst>
              <a:ext uri="{FF2B5EF4-FFF2-40B4-BE49-F238E27FC236}">
                <a16:creationId xmlns:a16="http://schemas.microsoft.com/office/drawing/2014/main" id="{84E7E793-DD69-4870-964D-F19C3CF10F4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2263" y="228600"/>
            <a:ext cx="3417887" cy="5334000"/>
          </a:xfr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124D264B-5437-40B4-9062-05E5428CA5E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3C06B12-BC91-4DB7-AF8F-C6636D848F2C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200"/>
          </a:p>
        </p:txBody>
      </p:sp>
      <p:sp>
        <p:nvSpPr>
          <p:cNvPr id="29699" name="Footer Placeholder 7">
            <a:extLst>
              <a:ext uri="{FF2B5EF4-FFF2-40B4-BE49-F238E27FC236}">
                <a16:creationId xmlns:a16="http://schemas.microsoft.com/office/drawing/2014/main" id="{C06C9C2C-7B34-4C10-B61F-FDDED9EB8A2E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29700" name="TextBox 3">
            <a:extLst>
              <a:ext uri="{FF2B5EF4-FFF2-40B4-BE49-F238E27FC236}">
                <a16:creationId xmlns:a16="http://schemas.microsoft.com/office/drawing/2014/main" id="{93958B59-8925-4F5E-A029-A0B39906F3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B.5.8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1-bit ALU that performs AND, OR, and addition on a and b or a and </a:t>
            </a:r>
            <a:r>
              <a:rPr lang="en-US" altLang="en-US" sz="1200" u="sng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By selecting  (Binvert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1) and setting CarryIn to 1 in the least significant bit of the ALU, we get two’s complement subtraction of b from a instead of addition of b to a.</a:t>
            </a:r>
          </a:p>
        </p:txBody>
      </p:sp>
      <p:pic>
        <p:nvPicPr>
          <p:cNvPr id="29701" name="Picture 6" descr="20">
            <a:extLst>
              <a:ext uri="{FF2B5EF4-FFF2-40B4-BE49-F238E27FC236}">
                <a16:creationId xmlns:a16="http://schemas.microsoft.com/office/drawing/2014/main" id="{E94BF487-67AE-4BAA-9160-CE6A8F1D915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263525"/>
            <a:ext cx="6419850" cy="5262563"/>
          </a:xfr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Number Placeholder 5">
            <a:extLst>
              <a:ext uri="{FF2B5EF4-FFF2-40B4-BE49-F238E27FC236}">
                <a16:creationId xmlns:a16="http://schemas.microsoft.com/office/drawing/2014/main" id="{AF09CAF0-F074-4637-91B9-4AFCFD8A7BE2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3662D831-66B8-44E3-87ED-6813471DE37D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200"/>
          </a:p>
        </p:txBody>
      </p:sp>
      <p:sp>
        <p:nvSpPr>
          <p:cNvPr id="30723" name="Footer Placeholder 7">
            <a:extLst>
              <a:ext uri="{FF2B5EF4-FFF2-40B4-BE49-F238E27FC236}">
                <a16:creationId xmlns:a16="http://schemas.microsoft.com/office/drawing/2014/main" id="{695FA04C-42B9-4FD9-9DB7-3D7890CAD6CA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0724" name="TextBox 3">
            <a:extLst>
              <a:ext uri="{FF2B5EF4-FFF2-40B4-BE49-F238E27FC236}">
                <a16:creationId xmlns:a16="http://schemas.microsoft.com/office/drawing/2014/main" id="{584916F4-A694-465D-AB88-A6DD3CD46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B.5.9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1-bit ALU that performs AND, OR, and addition on a and b or </a:t>
            </a:r>
            <a:r>
              <a:rPr lang="en-US" altLang="en-US" sz="1200" u="sng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and </a:t>
            </a:r>
            <a:r>
              <a:rPr lang="en-US" altLang="en-US" sz="1200" u="sng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By selecting  (Ainvert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1) and  (Binvert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1), we get a NOR b instead of a AND b.</a:t>
            </a:r>
          </a:p>
        </p:txBody>
      </p:sp>
      <p:pic>
        <p:nvPicPr>
          <p:cNvPr id="30725" name="Picture 6" descr="21">
            <a:extLst>
              <a:ext uri="{FF2B5EF4-FFF2-40B4-BE49-F238E27FC236}">
                <a16:creationId xmlns:a16="http://schemas.microsoft.com/office/drawing/2014/main" id="{422B11BC-4804-4DA5-A35D-FAC889B325C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25575" y="228600"/>
            <a:ext cx="6291263" cy="5334000"/>
          </a:xfr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>
            <a:extLst>
              <a:ext uri="{FF2B5EF4-FFF2-40B4-BE49-F238E27FC236}">
                <a16:creationId xmlns:a16="http://schemas.microsoft.com/office/drawing/2014/main" id="{02AC857B-A09C-422D-8D0B-E0997B478600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03FE702D-6733-4805-9175-2145AC2011F0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200"/>
          </a:p>
        </p:txBody>
      </p:sp>
      <p:sp>
        <p:nvSpPr>
          <p:cNvPr id="31747" name="Footer Placeholder 7">
            <a:extLst>
              <a:ext uri="{FF2B5EF4-FFF2-40B4-BE49-F238E27FC236}">
                <a16:creationId xmlns:a16="http://schemas.microsoft.com/office/drawing/2014/main" id="{1B00959D-D3DF-488A-9713-9EA4335D1957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1748" name="TextBox 3">
            <a:extLst>
              <a:ext uri="{FF2B5EF4-FFF2-40B4-BE49-F238E27FC236}">
                <a16:creationId xmlns:a16="http://schemas.microsoft.com/office/drawing/2014/main" id="{A47FA2E6-7EEC-461A-B80F-AAD927809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B.5.10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(Top) A 1-bit ALU that performs AND, OR, and addition on a and b or </a:t>
            </a:r>
            <a:r>
              <a:rPr lang="en-US" altLang="en-US" sz="1200" u="sng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b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, and (bottom) a 1-bit ALU for the most significant bit.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top drawing includes a direct input that is connected to perform the set on less than operation (see Figure B.5.11); the bottom has a direct output from the adder for the less than comparison called Set. (See Exercise B.24 at the end of this appendix to see how to calculate overflow with fewer inputs.)</a:t>
            </a:r>
          </a:p>
        </p:txBody>
      </p:sp>
      <p:pic>
        <p:nvPicPr>
          <p:cNvPr id="31749" name="Picture 7" descr="22">
            <a:extLst>
              <a:ext uri="{FF2B5EF4-FFF2-40B4-BE49-F238E27FC236}">
                <a16:creationId xmlns:a16="http://schemas.microsoft.com/office/drawing/2014/main" id="{C62770DF-EAA7-46E5-AB8B-0BB0FB439E9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98800" y="228600"/>
            <a:ext cx="2946400" cy="5334000"/>
          </a:xfr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43020934-EC52-48C3-A4FB-E247C4E673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4300" y="4044462"/>
            <a:ext cx="62132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(</a:t>
            </a:r>
            <a:r>
              <a:rPr lang="en-US" altLang="zh-CN" sz="1000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bit31</a:t>
            </a:r>
            <a:r>
              <a:rPr lang="en-US" altLang="en-US" sz="1000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)</a:t>
            </a:r>
            <a:endParaRPr lang="en-US" altLang="en-US" sz="10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  <a:cs typeface="ITCFranklinGothicStd-Hvy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>
            <a:extLst>
              <a:ext uri="{FF2B5EF4-FFF2-40B4-BE49-F238E27FC236}">
                <a16:creationId xmlns:a16="http://schemas.microsoft.com/office/drawing/2014/main" id="{C72C070E-7378-4569-B9D9-FE27AA89190E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AA2DEAE-B731-4BD5-B3B1-5EF087CCBC77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200"/>
          </a:p>
        </p:txBody>
      </p:sp>
      <p:sp>
        <p:nvSpPr>
          <p:cNvPr id="32771" name="Footer Placeholder 7">
            <a:extLst>
              <a:ext uri="{FF2B5EF4-FFF2-40B4-BE49-F238E27FC236}">
                <a16:creationId xmlns:a16="http://schemas.microsoft.com/office/drawing/2014/main" id="{8914D694-F1C9-412E-88EC-F4893CCCB5C6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2772" name="TextBox 3">
            <a:extLst>
              <a:ext uri="{FF2B5EF4-FFF2-40B4-BE49-F238E27FC236}">
                <a16:creationId xmlns:a16="http://schemas.microsoft.com/office/drawing/2014/main" id="{395D41F6-B616-48ED-9C62-5E692AE928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551488"/>
            <a:ext cx="77724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32-bit ALU constructed from the 31 copies of the 1-bit ALU in the top of Figure B.5.10 and one 1-bit ALU in the bottom of that figure.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The Less inputs are connected to 0 except for the least significant bit, which is connected to the Set output of the most significant bit. If the ALU performs a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b and we select the input 3 in the multiplexor in Figure B.5.10, then Result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0 … 001 if </a:t>
            </a:r>
            <a:b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</a:b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a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,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b, and Result 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athematicalPi-One" charset="0"/>
              </a:rPr>
              <a:t>5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0 … 000 otherwise.</a:t>
            </a:r>
          </a:p>
        </p:txBody>
      </p:sp>
      <p:pic>
        <p:nvPicPr>
          <p:cNvPr id="32773" name="Picture 6" descr="23">
            <a:extLst>
              <a:ext uri="{FF2B5EF4-FFF2-40B4-BE49-F238E27FC236}">
                <a16:creationId xmlns:a16="http://schemas.microsoft.com/office/drawing/2014/main" id="{7F569FF7-8814-4ABB-9761-FFD18CCFEB95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94013" y="193675"/>
            <a:ext cx="3355975" cy="5334000"/>
          </a:xfr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>
            <a:extLst>
              <a:ext uri="{FF2B5EF4-FFF2-40B4-BE49-F238E27FC236}">
                <a16:creationId xmlns:a16="http://schemas.microsoft.com/office/drawing/2014/main" id="{C601EEF6-3992-4756-8CAB-85B009954976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D584507-AAD8-4600-A3BA-8B1F756CD536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200"/>
          </a:p>
        </p:txBody>
      </p:sp>
      <p:sp>
        <p:nvSpPr>
          <p:cNvPr id="33795" name="Footer Placeholder 7">
            <a:extLst>
              <a:ext uri="{FF2B5EF4-FFF2-40B4-BE49-F238E27FC236}">
                <a16:creationId xmlns:a16="http://schemas.microsoft.com/office/drawing/2014/main" id="{63B36477-0B06-4C0A-A4D5-3D7D9555438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3796" name="TextBox 3">
            <a:extLst>
              <a:ext uri="{FF2B5EF4-FFF2-40B4-BE49-F238E27FC236}">
                <a16:creationId xmlns:a16="http://schemas.microsoft.com/office/drawing/2014/main" id="{46C5DA07-BB3B-41E8-BFB2-508B66BFC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The final 32-bit ALU.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This adds a Zero detector to Figure B.5.11.</a:t>
            </a:r>
          </a:p>
        </p:txBody>
      </p:sp>
      <p:pic>
        <p:nvPicPr>
          <p:cNvPr id="33797" name="Picture 6" descr="24">
            <a:extLst>
              <a:ext uri="{FF2B5EF4-FFF2-40B4-BE49-F238E27FC236}">
                <a16:creationId xmlns:a16="http://schemas.microsoft.com/office/drawing/2014/main" id="{BEEDC801-82AC-4661-9E7F-CB8C765DC28E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4675" y="228600"/>
            <a:ext cx="5637213" cy="5334000"/>
          </a:xfrm>
        </p:spPr>
      </p:pic>
      <p:pic>
        <p:nvPicPr>
          <p:cNvPr id="33798" name="Picture 6" descr="25">
            <a:extLst>
              <a:ext uri="{FF2B5EF4-FFF2-40B4-BE49-F238E27FC236}">
                <a16:creationId xmlns:a16="http://schemas.microsoft.com/office/drawing/2014/main" id="{895D3DC9-5D32-45C3-AC62-9C4DFA9B4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13" y="217488"/>
            <a:ext cx="4084637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8774CA-4210-45E8-9AC9-8A964DA5C54D}"/>
              </a:ext>
            </a:extLst>
          </p:cNvPr>
          <p:cNvSpPr/>
          <p:nvPr/>
        </p:nvSpPr>
        <p:spPr>
          <a:xfrm>
            <a:off x="5857875" y="576263"/>
            <a:ext cx="247650" cy="155892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3800" name="TextBox 2">
            <a:extLst>
              <a:ext uri="{FF2B5EF4-FFF2-40B4-BE49-F238E27FC236}">
                <a16:creationId xmlns:a16="http://schemas.microsoft.com/office/drawing/2014/main" id="{FFD3987F-E1C7-46B2-A29A-BB5510A9D2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2476500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4-input mux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466B3B-71F4-44C5-AE37-F38E02078BB5}"/>
              </a:ext>
            </a:extLst>
          </p:cNvPr>
          <p:cNvCxnSpPr/>
          <p:nvPr/>
        </p:nvCxnSpPr>
        <p:spPr>
          <a:xfrm flipH="1" flipV="1">
            <a:off x="6010275" y="2173288"/>
            <a:ext cx="657225" cy="458787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>
            <a:extLst>
              <a:ext uri="{FF2B5EF4-FFF2-40B4-BE49-F238E27FC236}">
                <a16:creationId xmlns:a16="http://schemas.microsoft.com/office/drawing/2014/main" id="{923B584A-097A-4C18-A5E3-C9435C8FF5CA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8F14199D-E75D-4AD6-8746-C9DDC3A5409E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200"/>
          </a:p>
        </p:txBody>
      </p:sp>
      <p:sp>
        <p:nvSpPr>
          <p:cNvPr id="34819" name="Footer Placeholder 7">
            <a:extLst>
              <a:ext uri="{FF2B5EF4-FFF2-40B4-BE49-F238E27FC236}">
                <a16:creationId xmlns:a16="http://schemas.microsoft.com/office/drawing/2014/main" id="{725078CF-BD49-4E49-BC77-6C54D928B70B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4820" name="TextBox 3">
            <a:extLst>
              <a:ext uri="{FF2B5EF4-FFF2-40B4-BE49-F238E27FC236}">
                <a16:creationId xmlns:a16="http://schemas.microsoft.com/office/drawing/2014/main" id="{021A8E50-F590-4283-A50C-433E11D41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B.5.12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The final 32-bit ALU.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This adds a Zero detector to Figure B.5.11.</a:t>
            </a:r>
          </a:p>
        </p:txBody>
      </p:sp>
      <p:pic>
        <p:nvPicPr>
          <p:cNvPr id="34821" name="Picture 6" descr="24">
            <a:extLst>
              <a:ext uri="{FF2B5EF4-FFF2-40B4-BE49-F238E27FC236}">
                <a16:creationId xmlns:a16="http://schemas.microsoft.com/office/drawing/2014/main" id="{A4218732-80E1-4299-BB27-9222F199291A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4675" y="228600"/>
            <a:ext cx="5637213" cy="5334000"/>
          </a:xfrm>
        </p:spPr>
      </p:pic>
      <p:pic>
        <p:nvPicPr>
          <p:cNvPr id="34822" name="Picture 6" descr="25">
            <a:extLst>
              <a:ext uri="{FF2B5EF4-FFF2-40B4-BE49-F238E27FC236}">
                <a16:creationId xmlns:a16="http://schemas.microsoft.com/office/drawing/2014/main" id="{D5A3305A-7196-4180-8C03-4C77397D2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7113" y="217488"/>
            <a:ext cx="4084637" cy="192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68774CA-4210-45E8-9AC9-8A964DA5C54D}"/>
              </a:ext>
            </a:extLst>
          </p:cNvPr>
          <p:cNvSpPr/>
          <p:nvPr/>
        </p:nvSpPr>
        <p:spPr>
          <a:xfrm>
            <a:off x="5857875" y="576263"/>
            <a:ext cx="247650" cy="1558925"/>
          </a:xfrm>
          <a:prstGeom prst="rect">
            <a:avLst/>
          </a:prstGeom>
          <a:noFill/>
          <a:ln w="15875"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824" name="TextBox 2">
            <a:extLst>
              <a:ext uri="{FF2B5EF4-FFF2-40B4-BE49-F238E27FC236}">
                <a16:creationId xmlns:a16="http://schemas.microsoft.com/office/drawing/2014/main" id="{04EEF82A-402B-4F91-B64D-CEA43102BB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0825" y="2476500"/>
            <a:ext cx="1390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4-input mux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4466B3B-71F4-44C5-AE37-F38E02078BB5}"/>
              </a:ext>
            </a:extLst>
          </p:cNvPr>
          <p:cNvCxnSpPr/>
          <p:nvPr/>
        </p:nvCxnSpPr>
        <p:spPr>
          <a:xfrm flipH="1" flipV="1">
            <a:off x="6010275" y="2173288"/>
            <a:ext cx="657225" cy="458787"/>
          </a:xfrm>
          <a:prstGeom prst="straightConnector1">
            <a:avLst/>
          </a:prstGeom>
          <a:ln w="19050">
            <a:solidFill>
              <a:schemeClr val="tx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26B967D-D9DE-4A7D-B4FC-CA893F28CD9C}"/>
              </a:ext>
            </a:extLst>
          </p:cNvPr>
          <p:cNvSpPr/>
          <p:nvPr/>
        </p:nvSpPr>
        <p:spPr>
          <a:xfrm>
            <a:off x="4837113" y="1608138"/>
            <a:ext cx="4084637" cy="280987"/>
          </a:xfrm>
          <a:prstGeom prst="rect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34827" name="TextBox 2">
            <a:extLst>
              <a:ext uri="{FF2B5EF4-FFF2-40B4-BE49-F238E27FC236}">
                <a16:creationId xmlns:a16="http://schemas.microsoft.com/office/drawing/2014/main" id="{CDFA2B7A-5BBC-4F07-8144-120F6BF18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128588"/>
            <a:ext cx="369887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34828" name="TextBox 2">
            <a:extLst>
              <a:ext uri="{FF2B5EF4-FFF2-40B4-BE49-F238E27FC236}">
                <a16:creationId xmlns:a16="http://schemas.microsoft.com/office/drawing/2014/main" id="{3F514618-FA58-48C3-ADB8-6995088A61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33350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4829" name="TextBox 2">
            <a:extLst>
              <a:ext uri="{FF2B5EF4-FFF2-40B4-BE49-F238E27FC236}">
                <a16:creationId xmlns:a16="http://schemas.microsoft.com/office/drawing/2014/main" id="{64291672-4E3A-4A43-B20A-753B3BB66A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25" y="349250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4830" name="TextBox 2">
            <a:extLst>
              <a:ext uri="{FF2B5EF4-FFF2-40B4-BE49-F238E27FC236}">
                <a16:creationId xmlns:a16="http://schemas.microsoft.com/office/drawing/2014/main" id="{8D931A19-931B-47DF-A63B-2F064A7A2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13" y="4637088"/>
            <a:ext cx="2841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4831" name="TextBox 2">
            <a:extLst>
              <a:ext uri="{FF2B5EF4-FFF2-40B4-BE49-F238E27FC236}">
                <a16:creationId xmlns:a16="http://schemas.microsoft.com/office/drawing/2014/main" id="{8AE8D488-8109-448D-A1ED-602CF147E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343275"/>
            <a:ext cx="284163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4832" name="TextBox 2">
            <a:extLst>
              <a:ext uri="{FF2B5EF4-FFF2-40B4-BE49-F238E27FC236}">
                <a16:creationId xmlns:a16="http://schemas.microsoft.com/office/drawing/2014/main" id="{2E91F35C-7158-4C97-90EF-273C08EA5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3325" y="2159000"/>
            <a:ext cx="2841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34833" name="TextBox 2">
            <a:extLst>
              <a:ext uri="{FF2B5EF4-FFF2-40B4-BE49-F238E27FC236}">
                <a16:creationId xmlns:a16="http://schemas.microsoft.com/office/drawing/2014/main" id="{D8DA5988-7DFD-428E-8052-8484CF2AA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984250"/>
            <a:ext cx="433388" cy="30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rgbClr val="FF0000"/>
                </a:solidFill>
                <a:latin typeface="Arial" panose="020B0604020202020204" pitchFamily="34" charset="0"/>
              </a:rPr>
              <a:t>0/1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>
            <a:extLst>
              <a:ext uri="{FF2B5EF4-FFF2-40B4-BE49-F238E27FC236}">
                <a16:creationId xmlns:a16="http://schemas.microsoft.com/office/drawing/2014/main" id="{51922D9D-B249-4D48-A960-C6D1151FAF93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1DD8B75-619A-4FA1-999A-5A6DAE5B4053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200"/>
          </a:p>
        </p:txBody>
      </p:sp>
      <p:sp>
        <p:nvSpPr>
          <p:cNvPr id="35843" name="Footer Placeholder 7">
            <a:extLst>
              <a:ext uri="{FF2B5EF4-FFF2-40B4-BE49-F238E27FC236}">
                <a16:creationId xmlns:a16="http://schemas.microsoft.com/office/drawing/2014/main" id="{AD6FF5F9-793F-46A9-A6A5-10CFC1E5FC48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5844" name="TextBox 3">
            <a:extLst>
              <a:ext uri="{FF2B5EF4-FFF2-40B4-BE49-F238E27FC236}">
                <a16:creationId xmlns:a16="http://schemas.microsoft.com/office/drawing/2014/main" id="{4C5F3192-A269-4B56-B829-A5ED95D6A8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B.5.13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The values of the three ALU control lines, Bnegate, and Operation, and the corresponding ALU operations.</a:t>
            </a:r>
          </a:p>
        </p:txBody>
      </p:sp>
      <p:pic>
        <p:nvPicPr>
          <p:cNvPr id="35845" name="Picture 6" descr="25">
            <a:extLst>
              <a:ext uri="{FF2B5EF4-FFF2-40B4-BE49-F238E27FC236}">
                <a16:creationId xmlns:a16="http://schemas.microsoft.com/office/drawing/2014/main" id="{3AE35167-804E-4CAA-9852-6175C99C7757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62075" y="1381125"/>
            <a:ext cx="6419850" cy="3028950"/>
          </a:xfrm>
        </p:spPr>
      </p:pic>
    </p:spTree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5">
            <a:extLst>
              <a:ext uri="{FF2B5EF4-FFF2-40B4-BE49-F238E27FC236}">
                <a16:creationId xmlns:a16="http://schemas.microsoft.com/office/drawing/2014/main" id="{55AFF977-8400-46D7-AFB8-915A2739EAE8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9E2D785-20F8-4CEC-9FF8-3EC8EF51E12A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200"/>
          </a:p>
        </p:txBody>
      </p:sp>
      <p:sp>
        <p:nvSpPr>
          <p:cNvPr id="36867" name="Footer Placeholder 7">
            <a:extLst>
              <a:ext uri="{FF2B5EF4-FFF2-40B4-BE49-F238E27FC236}">
                <a16:creationId xmlns:a16="http://schemas.microsoft.com/office/drawing/2014/main" id="{7A44B35B-7CE1-4ADD-8CE6-764B93BABC0D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36868" name="TextBox 3">
            <a:extLst>
              <a:ext uri="{FF2B5EF4-FFF2-40B4-BE49-F238E27FC236}">
                <a16:creationId xmlns:a16="http://schemas.microsoft.com/office/drawing/2014/main" id="{B20641CE-53DF-44A2-9CA0-A9FDEAB61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B.5.14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The symbol commonly used to represent an ALU, as shown in Figure B.5.12.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This symbol is also used to represent an adder, so it is normally labeled either with ALU or Adder.</a:t>
            </a:r>
          </a:p>
        </p:txBody>
      </p:sp>
      <p:pic>
        <p:nvPicPr>
          <p:cNvPr id="36869" name="Picture 6" descr="26">
            <a:extLst>
              <a:ext uri="{FF2B5EF4-FFF2-40B4-BE49-F238E27FC236}">
                <a16:creationId xmlns:a16="http://schemas.microsoft.com/office/drawing/2014/main" id="{7FBB8FAC-ACEC-4C48-BCFF-90EB85AE35B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79750" y="309563"/>
            <a:ext cx="3138488" cy="4737100"/>
          </a:xfrm>
        </p:spPr>
      </p:pic>
      <p:sp>
        <p:nvSpPr>
          <p:cNvPr id="36870" name="TextBox 3">
            <a:extLst>
              <a:ext uri="{FF2B5EF4-FFF2-40B4-BE49-F238E27FC236}">
                <a16:creationId xmlns:a16="http://schemas.microsoft.com/office/drawing/2014/main" id="{C8004964-6451-4C55-896F-A3C40126F4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0400" y="5068888"/>
            <a:ext cx="52006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ALU Operation</a:t>
            </a: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: 4-bit instruction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1FD75-1B48-419B-89D5-FFABBA61E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/>
          <a:lstStyle/>
          <a:p>
            <a:r>
              <a:rPr lang="en-US" dirty="0"/>
              <a:t>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D4F47D-CD6F-409B-98FE-63575DD4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EFD143-EEB9-4B3A-A549-F21E8C44113B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56514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25167BD7-3CE8-4046-B13F-32A1963E1774}"/>
              </a:ext>
            </a:extLst>
          </p:cNvPr>
          <p:cNvSpPr txBox="1">
            <a:spLocks noGrp="1"/>
          </p:cNvSpPr>
          <p:nvPr/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49744D4D-35B7-4E68-8F01-D3887F7478EF}" type="slidenum">
              <a:rPr lang="en-US" altLang="en-US" sz="1200"/>
              <a:pPr algn="r" eaLnBrk="1" hangingPunct="1"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200"/>
          </a:p>
        </p:txBody>
      </p:sp>
      <p:sp>
        <p:nvSpPr>
          <p:cNvPr id="10243" name="Footer Placeholder 7">
            <a:extLst>
              <a:ext uri="{FF2B5EF4-FFF2-40B4-BE49-F238E27FC236}">
                <a16:creationId xmlns:a16="http://schemas.microsoft.com/office/drawing/2014/main" id="{116A613B-56F6-4A04-A1CF-FA9362D2929F}"/>
              </a:ext>
            </a:extLst>
          </p:cNvPr>
          <p:cNvSpPr txBox="1">
            <a:spLocks noGrp="1"/>
          </p:cNvSpPr>
          <p:nvPr/>
        </p:nvSpPr>
        <p:spPr bwMode="auto">
          <a:xfrm>
            <a:off x="0" y="6416675"/>
            <a:ext cx="91440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000">
                <a:latin typeface="Arial" panose="020B0604020202020204" pitchFamily="34" charset="0"/>
              </a:rPr>
              <a:t>Copyright © 2014 Elsevier Inc. All rights reserved.</a:t>
            </a:r>
          </a:p>
        </p:txBody>
      </p:sp>
      <p:sp>
        <p:nvSpPr>
          <p:cNvPr id="10244" name="TextBox 3">
            <a:extLst>
              <a:ext uri="{FF2B5EF4-FFF2-40B4-BE49-F238E27FC236}">
                <a16:creationId xmlns:a16="http://schemas.microsoft.com/office/drawing/2014/main" id="{E909F6F9-9483-4360-ACC0-7B6621B04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646738"/>
            <a:ext cx="77724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FIGURE B.3.1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S Mincho" panose="020B0400000000000000" pitchFamily="49" charset="-128"/>
              </a:rPr>
              <a:t> 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A 3-bit decoder has 3 inputs, called 12, 11, and 10, and 2</a:t>
            </a:r>
            <a:r>
              <a:rPr lang="en-US" altLang="en-US" sz="1200" b="1" baseline="300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Bold"/>
              </a:rPr>
              <a:t>3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</a:t>
            </a:r>
            <a:r>
              <a:rPr lang="en-US" altLang="en-US" sz="1200" b="1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STIXGeneral-Bold"/>
              </a:rPr>
              <a:t>=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ITCFranklinGothicStd-Hvy"/>
              </a:rPr>
              <a:t> 8 outputs, called Out0 to Out7.</a:t>
            </a:r>
            <a:r>
              <a:rPr lang="en-US" altLang="en-US" sz="120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MinionPro-Regular" pitchFamily="18" charset="0"/>
              </a:rPr>
              <a:t> Only the output corresponding to the binary value of the input is true, as shown in the truth table. The label 3 on the input to the decoder says that the input signal is 3 bits wide.</a:t>
            </a:r>
          </a:p>
        </p:txBody>
      </p:sp>
      <p:pic>
        <p:nvPicPr>
          <p:cNvPr id="10245" name="Picture 6" descr="4">
            <a:extLst>
              <a:ext uri="{FF2B5EF4-FFF2-40B4-BE49-F238E27FC236}">
                <a16:creationId xmlns:a16="http://schemas.microsoft.com/office/drawing/2014/main" id="{A5551E4D-764D-43C3-A304-A36FB38B0233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889125"/>
            <a:ext cx="9146891" cy="2865755"/>
          </a:xfr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7AAD554-8146-489A-BFC1-A9F53C2BF45C}"/>
              </a:ext>
            </a:extLst>
          </p:cNvPr>
          <p:cNvCxnSpPr/>
          <p:nvPr/>
        </p:nvCxnSpPr>
        <p:spPr>
          <a:xfrm>
            <a:off x="4648200" y="1881188"/>
            <a:ext cx="0" cy="16922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0C08FF-1F75-4788-9DD8-EFD582332097}"/>
              </a:ext>
            </a:extLst>
          </p:cNvPr>
          <p:cNvSpPr txBox="1"/>
          <p:nvPr/>
        </p:nvSpPr>
        <p:spPr>
          <a:xfrm>
            <a:off x="105218" y="2846900"/>
            <a:ext cx="14950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F45291-992A-4222-832B-D2C5F6AADFBA}"/>
              </a:ext>
            </a:extLst>
          </p:cNvPr>
          <p:cNvSpPr txBox="1"/>
          <p:nvPr/>
        </p:nvSpPr>
        <p:spPr>
          <a:xfrm>
            <a:off x="727164" y="4488765"/>
            <a:ext cx="144780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  A  4-bit decoder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568D4C-39D8-4184-B03F-DDFDECF31AD8}"/>
              </a:ext>
            </a:extLst>
          </p:cNvPr>
          <p:cNvSpPr txBox="1"/>
          <p:nvPr/>
        </p:nvSpPr>
        <p:spPr>
          <a:xfrm>
            <a:off x="2362201" y="4021182"/>
            <a:ext cx="720635" cy="2923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300" dirty="0"/>
              <a:t>Out15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F0A645-B181-49C7-BDBD-E0451251A500}"/>
              </a:ext>
            </a:extLst>
          </p:cNvPr>
          <p:cNvSpPr/>
          <p:nvPr/>
        </p:nvSpPr>
        <p:spPr>
          <a:xfrm>
            <a:off x="2122709" y="2904712"/>
            <a:ext cx="720623" cy="10703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2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2815</TotalTime>
  <Words>1817</Words>
  <Application>Microsoft Macintosh PowerPoint</Application>
  <PresentationFormat>On-screen Show (4:3)</PresentationFormat>
  <Paragraphs>202</Paragraphs>
  <Slides>37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Neeraj Kumar Singh</cp:lastModifiedBy>
  <cp:revision>223</cp:revision>
  <dcterms:created xsi:type="dcterms:W3CDTF">2012-11-02T05:47:50Z</dcterms:created>
  <dcterms:modified xsi:type="dcterms:W3CDTF">2025-11-10T21:02:45Z</dcterms:modified>
</cp:coreProperties>
</file>