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13_0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3" r:id="rId1"/>
  </p:sldMasterIdLst>
  <p:notesMasterIdLst>
    <p:notesMasterId r:id="rId100"/>
  </p:notesMasterIdLst>
  <p:handoutMasterIdLst>
    <p:handoutMasterId r:id="rId101"/>
  </p:handoutMasterIdLst>
  <p:sldIdLst>
    <p:sldId id="382" r:id="rId2"/>
    <p:sldId id="385" r:id="rId3"/>
    <p:sldId id="383" r:id="rId4"/>
    <p:sldId id="270" r:id="rId5"/>
    <p:sldId id="404" r:id="rId6"/>
    <p:sldId id="271" r:id="rId7"/>
    <p:sldId id="272" r:id="rId8"/>
    <p:sldId id="409" r:id="rId9"/>
    <p:sldId id="273" r:id="rId10"/>
    <p:sldId id="386" r:id="rId11"/>
    <p:sldId id="274" r:id="rId12"/>
    <p:sldId id="275" r:id="rId13"/>
    <p:sldId id="276" r:id="rId14"/>
    <p:sldId id="419" r:id="rId15"/>
    <p:sldId id="418" r:id="rId16"/>
    <p:sldId id="400" r:id="rId17"/>
    <p:sldId id="280" r:id="rId18"/>
    <p:sldId id="278" r:id="rId19"/>
    <p:sldId id="279" r:id="rId20"/>
    <p:sldId id="387" r:id="rId21"/>
    <p:sldId id="281" r:id="rId22"/>
    <p:sldId id="367" r:id="rId23"/>
    <p:sldId id="427" r:id="rId24"/>
    <p:sldId id="396" r:id="rId25"/>
    <p:sldId id="390" r:id="rId26"/>
    <p:sldId id="397" r:id="rId27"/>
    <p:sldId id="391" r:id="rId28"/>
    <p:sldId id="362" r:id="rId29"/>
    <p:sldId id="363" r:id="rId30"/>
    <p:sldId id="364" r:id="rId31"/>
    <p:sldId id="410" r:id="rId32"/>
    <p:sldId id="282" r:id="rId33"/>
    <p:sldId id="283" r:id="rId34"/>
    <p:sldId id="284" r:id="rId35"/>
    <p:sldId id="368" r:id="rId36"/>
    <p:sldId id="285" r:id="rId37"/>
    <p:sldId id="286" r:id="rId38"/>
    <p:sldId id="388" r:id="rId39"/>
    <p:sldId id="288" r:id="rId40"/>
    <p:sldId id="289" r:id="rId41"/>
    <p:sldId id="290" r:id="rId42"/>
    <p:sldId id="291" r:id="rId43"/>
    <p:sldId id="422" r:id="rId44"/>
    <p:sldId id="429" r:id="rId45"/>
    <p:sldId id="430" r:id="rId46"/>
    <p:sldId id="292" r:id="rId47"/>
    <p:sldId id="293" r:id="rId48"/>
    <p:sldId id="294" r:id="rId49"/>
    <p:sldId id="295" r:id="rId50"/>
    <p:sldId id="296" r:id="rId51"/>
    <p:sldId id="297" r:id="rId52"/>
    <p:sldId id="369" r:id="rId53"/>
    <p:sldId id="431" r:id="rId54"/>
    <p:sldId id="298" r:id="rId55"/>
    <p:sldId id="299" r:id="rId56"/>
    <p:sldId id="300" r:id="rId57"/>
    <p:sldId id="402" r:id="rId58"/>
    <p:sldId id="301" r:id="rId59"/>
    <p:sldId id="302" r:id="rId60"/>
    <p:sldId id="303" r:id="rId61"/>
    <p:sldId id="420" r:id="rId62"/>
    <p:sldId id="407" r:id="rId63"/>
    <p:sldId id="304" r:id="rId64"/>
    <p:sldId id="389" r:id="rId65"/>
    <p:sldId id="305" r:id="rId66"/>
    <p:sldId id="306" r:id="rId67"/>
    <p:sldId id="308" r:id="rId68"/>
    <p:sldId id="309" r:id="rId69"/>
    <p:sldId id="310" r:id="rId70"/>
    <p:sldId id="311" r:id="rId71"/>
    <p:sldId id="428" r:id="rId72"/>
    <p:sldId id="312" r:id="rId73"/>
    <p:sldId id="313" r:id="rId74"/>
    <p:sldId id="414" r:id="rId75"/>
    <p:sldId id="415" r:id="rId76"/>
    <p:sldId id="314" r:id="rId77"/>
    <p:sldId id="426" r:id="rId78"/>
    <p:sldId id="370" r:id="rId79"/>
    <p:sldId id="316" r:id="rId80"/>
    <p:sldId id="423" r:id="rId81"/>
    <p:sldId id="357" r:id="rId82"/>
    <p:sldId id="371" r:id="rId83"/>
    <p:sldId id="317" r:id="rId84"/>
    <p:sldId id="318" r:id="rId85"/>
    <p:sldId id="319" r:id="rId86"/>
    <p:sldId id="320" r:id="rId87"/>
    <p:sldId id="321" r:id="rId88"/>
    <p:sldId id="322" r:id="rId89"/>
    <p:sldId id="323" r:id="rId90"/>
    <p:sldId id="324" r:id="rId91"/>
    <p:sldId id="333" r:id="rId92"/>
    <p:sldId id="372" r:id="rId93"/>
    <p:sldId id="373" r:id="rId94"/>
    <p:sldId id="421" r:id="rId95"/>
    <p:sldId id="374" r:id="rId96"/>
    <p:sldId id="375" r:id="rId97"/>
    <p:sldId id="354" r:id="rId98"/>
    <p:sldId id="355" r:id="rId99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8EC766-A41E-D1CD-D49A-DF261CE0978B}" name="Neeraj Kumar Singh" initials="NKS" userId="S::singhn23@montclair.edu::824440ef-3f47-4f77-ac64-af21219e86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7CB3"/>
    <a:srgbClr val="B0B4D4"/>
    <a:srgbClr val="CCFFFF"/>
    <a:srgbClr val="66FF66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04" autoAdjust="0"/>
    <p:restoredTop sz="96301" autoAdjust="0"/>
  </p:normalViewPr>
  <p:slideViewPr>
    <p:cSldViewPr>
      <p:cViewPr varScale="1">
        <p:scale>
          <a:sx n="122" d="100"/>
          <a:sy n="122" d="100"/>
        </p:scale>
        <p:origin x="216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116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8/10/relationships/authors" Target="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omments/modernComment_11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571105-8071-0542-A027-A57DA66CD719}" authorId="{6C8EC766-A41E-D1CD-D49A-DF261CE0978B}" created="2025-11-06T21:26:28.51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5"/>
      <ac:spMk id="26628" creationId="{7AAFBE5E-FBE9-4BF6-B8CF-BB9A3D9F600A}"/>
      <ac:txMk cp="80" len="21">
        <ac:context len="435" hash="2726433559"/>
      </ac:txMk>
    </ac:txMkLst>
    <p188:pos x="5528328" y="1294933"/>
    <p188:txBody>
      <a:bodyPr/>
      <a:lstStyle/>
      <a:p>
        <a:r>
          <a:rPr lang="en-US"/>
          <a:t>So, the total size of the register file =
32 \text{ registers} \times 32 \text{ bits} = 1024 \text{ bits (128 bytes)}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BE210D3-2763-4BF2-96C2-83A6999296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The University of Adelaide, School of Computer Science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C2D0487-1BB8-4129-81CA-EA2B0218562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71187A7-8D5D-4331-A4EF-931093B825C7}" type="datetime3">
              <a:rPr lang="en-US"/>
              <a:pPr>
                <a:defRPr/>
              </a:pPr>
              <a:t>8 November 2025</a:t>
            </a:fld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11B61172-A928-4C53-BD1D-350DC0A4FCE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Chapter 2 — Instructions: Language of the Computer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309E45B-E9F4-44E9-BAEB-8EC52CB347F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363E8A8-5CDC-48B5-96D7-135BB002F3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F22CD7C-6B0B-42C8-BEEC-E44C7A1D87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The University of Adelaide, School of Computer Science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E2232C4-72C6-4161-8FE8-3E30B49D514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B7B6CE09-A0FC-4128-B1D3-658574B6D024}" type="datetime3">
              <a:rPr lang="en-US"/>
              <a:pPr>
                <a:defRPr/>
              </a:pPr>
              <a:t>8 November 2025</a:t>
            </a:fld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EE81A58-D258-43AE-928F-6BE15E4B5A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852DB0EA-2734-44B8-99F8-8DC2489960A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30466CAD-76EE-472D-A1FA-3AEBDDCA3B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Chapter 2 — Instructions: Language of the Computer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180E2F19-BCF1-492A-B975-828493F6BA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628DE27-D666-4D7A-93ED-6457647B33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AA4A778-28B9-4541-8398-EA58FFC0C2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7F921E1-F1F2-49BF-BB77-C2D73BB2464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03B890-7C22-4460-A65E-CAD866646A53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15EA4E46-8135-479D-B3FB-A770BCD704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6149" name="Rectangle 7">
            <a:extLst>
              <a:ext uri="{FF2B5EF4-FFF2-40B4-BE49-F238E27FC236}">
                <a16:creationId xmlns:a16="http://schemas.microsoft.com/office/drawing/2014/main" id="{B3C9A9B2-A526-4F7A-AA3E-0F41079EB3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3DADF2-F47D-4EFC-81FA-B4C85BAA3AFB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D6F5E0F0-0B18-457F-A414-D12AD61660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1" name="Rectangle 3">
            <a:extLst>
              <a:ext uri="{FF2B5EF4-FFF2-40B4-BE49-F238E27FC236}">
                <a16:creationId xmlns:a16="http://schemas.microsoft.com/office/drawing/2014/main" id="{E2033923-FC71-4201-9356-D496B41105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E4F3C0E-0320-4A2A-A416-10049D63AB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8E7C826-EBC0-41D4-ADB4-6586AEEA22D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8592B8-5ED8-44B2-B067-8995D06F9689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6" name="Rectangle 6">
            <a:extLst>
              <a:ext uri="{FF2B5EF4-FFF2-40B4-BE49-F238E27FC236}">
                <a16:creationId xmlns:a16="http://schemas.microsoft.com/office/drawing/2014/main" id="{FFFEBEA9-FF4C-4BA1-9CF6-082E859D65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8197" name="Rectangle 7">
            <a:extLst>
              <a:ext uri="{FF2B5EF4-FFF2-40B4-BE49-F238E27FC236}">
                <a16:creationId xmlns:a16="http://schemas.microsoft.com/office/drawing/2014/main" id="{32A960CA-DD70-4D8F-B28F-727D7D242A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10D0BF-D6A7-4F06-9E73-F236F0607B64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8" name="Rectangle 2">
            <a:extLst>
              <a:ext uri="{FF2B5EF4-FFF2-40B4-BE49-F238E27FC236}">
                <a16:creationId xmlns:a16="http://schemas.microsoft.com/office/drawing/2014/main" id="{17F1204B-9B8B-4756-B4EC-28BC8D9E41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9" name="Rectangle 3">
            <a:extLst>
              <a:ext uri="{FF2B5EF4-FFF2-40B4-BE49-F238E27FC236}">
                <a16:creationId xmlns:a16="http://schemas.microsoft.com/office/drawing/2014/main" id="{69430EC2-89FC-4109-AE7A-09C03C242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E4692D1-AB04-45C7-9ECE-BEC2F39167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F7F75E5-31E3-4FDD-8048-28049C9753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6D2C29-31B3-44B1-9816-43EB0B2496F4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4" name="Rectangle 6">
            <a:extLst>
              <a:ext uri="{FF2B5EF4-FFF2-40B4-BE49-F238E27FC236}">
                <a16:creationId xmlns:a16="http://schemas.microsoft.com/office/drawing/2014/main" id="{5F025B49-8689-4988-90B1-BEEFA869525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0245" name="Rectangle 7">
            <a:extLst>
              <a:ext uri="{FF2B5EF4-FFF2-40B4-BE49-F238E27FC236}">
                <a16:creationId xmlns:a16="http://schemas.microsoft.com/office/drawing/2014/main" id="{952CBDEC-8259-4BCA-8019-FA68A31BB5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B30B39-B0C7-417E-A616-B8EE848446CF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6" name="Rectangle 2">
            <a:extLst>
              <a:ext uri="{FF2B5EF4-FFF2-40B4-BE49-F238E27FC236}">
                <a16:creationId xmlns:a16="http://schemas.microsoft.com/office/drawing/2014/main" id="{EA6C1C9B-C855-4857-8006-F0DD56BD44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7" name="Rectangle 3">
            <a:extLst>
              <a:ext uri="{FF2B5EF4-FFF2-40B4-BE49-F238E27FC236}">
                <a16:creationId xmlns:a16="http://schemas.microsoft.com/office/drawing/2014/main" id="{FEB36B1A-8FE9-4A97-B392-31E06C0C3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56503EE-1E0A-4F9D-A2ED-041C8F16A0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F1BEC30-9527-4ED8-884D-887AB7D3025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D060F4-4D21-4F91-9E99-0CC83294CDE4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2" name="Rectangle 6">
            <a:extLst>
              <a:ext uri="{FF2B5EF4-FFF2-40B4-BE49-F238E27FC236}">
                <a16:creationId xmlns:a16="http://schemas.microsoft.com/office/drawing/2014/main" id="{422E3BA1-D9F6-43F2-B70C-6ED7CDE69EC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2293" name="Rectangle 7">
            <a:extLst>
              <a:ext uri="{FF2B5EF4-FFF2-40B4-BE49-F238E27FC236}">
                <a16:creationId xmlns:a16="http://schemas.microsoft.com/office/drawing/2014/main" id="{76EDB16F-05FA-4F06-AA33-8DE51D685B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0DC205-325D-4D9A-B299-D9E541A0159F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BB1827B3-5590-4A2C-8A28-64D5CC3F2B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5" name="Rectangle 3">
            <a:extLst>
              <a:ext uri="{FF2B5EF4-FFF2-40B4-BE49-F238E27FC236}">
                <a16:creationId xmlns:a16="http://schemas.microsoft.com/office/drawing/2014/main" id="{749CF9C3-2DD1-4CB7-B35D-5F009A197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5462651-BBC5-41D4-A39F-212C31A370B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B57A255-2320-4C58-A8FD-0A833414C28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AD2CBE-150D-4C19-89FD-20A74B22298C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0" name="Rectangle 6">
            <a:extLst>
              <a:ext uri="{FF2B5EF4-FFF2-40B4-BE49-F238E27FC236}">
                <a16:creationId xmlns:a16="http://schemas.microsoft.com/office/drawing/2014/main" id="{047018AD-ED12-40DD-B74B-F25E4B3682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4341" name="Rectangle 7">
            <a:extLst>
              <a:ext uri="{FF2B5EF4-FFF2-40B4-BE49-F238E27FC236}">
                <a16:creationId xmlns:a16="http://schemas.microsoft.com/office/drawing/2014/main" id="{F5029408-6B11-46F1-8D4A-EF18E30980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F31A06-4E24-4851-9475-A5337EF24823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9D753FB6-A94C-452E-8CB4-F6721F196E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A538B0F0-6112-4B81-A24F-549500BE4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3D19B8D-3FE8-4E2D-85B2-F6A8D0D421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D2A2E3A-3D93-4C16-A0FB-061308C2AC5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6E5AE4-7D38-417C-BE56-C73726CB06B1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8" name="Rectangle 6">
            <a:extLst>
              <a:ext uri="{FF2B5EF4-FFF2-40B4-BE49-F238E27FC236}">
                <a16:creationId xmlns:a16="http://schemas.microsoft.com/office/drawing/2014/main" id="{D2764130-59B6-4895-9082-2490F815D5E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C5C72247-A9C4-4ED5-A2EE-F762263EFB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A2C8F0-E804-4EA2-95DE-141DB3431D39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90" name="Rectangle 2">
            <a:extLst>
              <a:ext uri="{FF2B5EF4-FFF2-40B4-BE49-F238E27FC236}">
                <a16:creationId xmlns:a16="http://schemas.microsoft.com/office/drawing/2014/main" id="{5A62A649-B365-4DE9-9C40-84BD6B51D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1" name="Rectangle 3">
            <a:extLst>
              <a:ext uri="{FF2B5EF4-FFF2-40B4-BE49-F238E27FC236}">
                <a16:creationId xmlns:a16="http://schemas.microsoft.com/office/drawing/2014/main" id="{CA93DB59-C2A6-4B8D-A852-CBD7667611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095FC24-281C-4054-84BE-0956EBC4193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65E8C5F-7747-4706-92C8-C954CA336D1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C1B93D-892E-4124-A519-0F599980012B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6" name="Rectangle 6">
            <a:extLst>
              <a:ext uri="{FF2B5EF4-FFF2-40B4-BE49-F238E27FC236}">
                <a16:creationId xmlns:a16="http://schemas.microsoft.com/office/drawing/2014/main" id="{F5FBF1D8-FEA4-49D6-9092-F497EDB3F6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8437" name="Rectangle 7">
            <a:extLst>
              <a:ext uri="{FF2B5EF4-FFF2-40B4-BE49-F238E27FC236}">
                <a16:creationId xmlns:a16="http://schemas.microsoft.com/office/drawing/2014/main" id="{0466AC19-F56C-46EF-A9FD-24DBCB3879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124B1E-9BD8-46A3-A3F1-E443650617C7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567231D6-8CD2-4488-93F0-D0012708CE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9" name="Rectangle 3">
            <a:extLst>
              <a:ext uri="{FF2B5EF4-FFF2-40B4-BE49-F238E27FC236}">
                <a16:creationId xmlns:a16="http://schemas.microsoft.com/office/drawing/2014/main" id="{14B181B5-E8E9-4BCC-A0DB-E1DAB1810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E2A431B-CDE2-4A92-B3E8-CDB6B235DC9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E4577DD-03E8-489E-AF57-2A490C2B313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FAE64B-73B7-42FA-856A-9AFDF53BFB62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2370BB7A-2544-413B-9E89-26919B1BEC3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21509" name="Rectangle 7">
            <a:extLst>
              <a:ext uri="{FF2B5EF4-FFF2-40B4-BE49-F238E27FC236}">
                <a16:creationId xmlns:a16="http://schemas.microsoft.com/office/drawing/2014/main" id="{EBB0B880-E86C-467B-A601-2C920FC3BA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D9AE23-5564-412B-A398-B28D05CCBDDB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89D0B6AD-2627-4A72-B7AC-28F97D60A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1B7ADAE5-05D9-4702-A288-B790ACE74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9E04F7C-AD51-4E7D-B782-6405976C8A5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5314795-C1BE-45DB-8C37-C2A92A1755D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01E575-337E-489B-9441-D2B79AA0AD4D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A5312EB0-7B59-405C-B7D7-9F8FCFDA89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23557" name="Rectangle 7">
            <a:extLst>
              <a:ext uri="{FF2B5EF4-FFF2-40B4-BE49-F238E27FC236}">
                <a16:creationId xmlns:a16="http://schemas.microsoft.com/office/drawing/2014/main" id="{48DA5A22-381D-43D3-B59B-25ADC22E3B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0EAB22-EC8B-4670-8087-FE21C3F53D91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A9F4E0B1-5590-4A9B-B4AC-7E127BD68B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9" name="Rectangle 3">
            <a:extLst>
              <a:ext uri="{FF2B5EF4-FFF2-40B4-BE49-F238E27FC236}">
                <a16:creationId xmlns:a16="http://schemas.microsoft.com/office/drawing/2014/main" id="{CD1EB1F6-D046-4C0D-8C92-594AE1F75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F847D76-6759-4C58-9E63-5A50791689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BADB382-C5E5-4859-BBC5-2BAD06F220C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F13E4F-485F-4FF7-8E3C-49E4F88A0E30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4" name="Rectangle 6">
            <a:extLst>
              <a:ext uri="{FF2B5EF4-FFF2-40B4-BE49-F238E27FC236}">
                <a16:creationId xmlns:a16="http://schemas.microsoft.com/office/drawing/2014/main" id="{9C67DC49-4235-4EAD-A83F-3CD4B28887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25605" name="Rectangle 7">
            <a:extLst>
              <a:ext uri="{FF2B5EF4-FFF2-40B4-BE49-F238E27FC236}">
                <a16:creationId xmlns:a16="http://schemas.microsoft.com/office/drawing/2014/main" id="{77ACFA2E-FC67-48A6-A878-C94A29BC51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1CC62E-98D1-45F3-AFEA-AAF964A536BD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6" name="Rectangle 2">
            <a:extLst>
              <a:ext uri="{FF2B5EF4-FFF2-40B4-BE49-F238E27FC236}">
                <a16:creationId xmlns:a16="http://schemas.microsoft.com/office/drawing/2014/main" id="{7957FD09-3854-4532-AE1B-997AD502DD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7" name="Rectangle 3">
            <a:extLst>
              <a:ext uri="{FF2B5EF4-FFF2-40B4-BE49-F238E27FC236}">
                <a16:creationId xmlns:a16="http://schemas.microsoft.com/office/drawing/2014/main" id="{11F00C49-06E0-4434-B068-6A95303D8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A517160-A012-4FE9-846D-634D258CFB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3680837-E9D8-4664-A4D4-F12CDFB8DB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7407A7-AD5B-4FCC-B021-125FF65977E9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2" name="Rectangle 6">
            <a:extLst>
              <a:ext uri="{FF2B5EF4-FFF2-40B4-BE49-F238E27FC236}">
                <a16:creationId xmlns:a16="http://schemas.microsoft.com/office/drawing/2014/main" id="{45DA0292-0A0B-4894-A5ED-4EEECD36B7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27653" name="Rectangle 7">
            <a:extLst>
              <a:ext uri="{FF2B5EF4-FFF2-40B4-BE49-F238E27FC236}">
                <a16:creationId xmlns:a16="http://schemas.microsoft.com/office/drawing/2014/main" id="{B4C9232B-D7F6-4762-AC02-110292B323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BA13A8-DF62-4A89-ABF0-CB6A567DF138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5FFB8F61-6CA7-44D5-AE8A-E3A1B86957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5" name="Rectangle 3">
            <a:extLst>
              <a:ext uri="{FF2B5EF4-FFF2-40B4-BE49-F238E27FC236}">
                <a16:creationId xmlns:a16="http://schemas.microsoft.com/office/drawing/2014/main" id="{D0DCD41B-D8B9-4176-9404-34A7E3C80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So, the </a:t>
            </a:r>
            <a:r>
              <a:rPr lang="en-US" b="1" dirty="0"/>
              <a:t>total size of the register file</a:t>
            </a:r>
            <a:r>
              <a:rPr lang="en-US" dirty="0"/>
              <a:t> =</a:t>
            </a:r>
          </a:p>
          <a:p>
            <a:r>
              <a:rPr lang="en-US" dirty="0"/>
              <a:t>32 \text{ registers} \times 32 \text{ bits} = 1024 \text{ bits (128 bytes)}</a:t>
            </a:r>
          </a:p>
          <a:p>
            <a:endParaRPr lang="en-AU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F928416-21B6-4B71-988E-82290C39B6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CE20681-CBAA-4122-9707-088924CE9AE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E99CB8-66D0-455B-ACFF-EEDB9B5E3D00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0" name="Rectangle 6">
            <a:extLst>
              <a:ext uri="{FF2B5EF4-FFF2-40B4-BE49-F238E27FC236}">
                <a16:creationId xmlns:a16="http://schemas.microsoft.com/office/drawing/2014/main" id="{8D68589F-1C3D-4530-8BED-971E451854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29701" name="Rectangle 7">
            <a:extLst>
              <a:ext uri="{FF2B5EF4-FFF2-40B4-BE49-F238E27FC236}">
                <a16:creationId xmlns:a16="http://schemas.microsoft.com/office/drawing/2014/main" id="{35280B8D-4503-4E9B-B1A8-108F7593EE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768A7A-D48F-4ACA-ADB5-61F96FD60892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2" name="Rectangle 2">
            <a:extLst>
              <a:ext uri="{FF2B5EF4-FFF2-40B4-BE49-F238E27FC236}">
                <a16:creationId xmlns:a16="http://schemas.microsoft.com/office/drawing/2014/main" id="{BBF52A07-2AB5-4D8D-9017-17CF7DC790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3" name="Rectangle 3">
            <a:extLst>
              <a:ext uri="{FF2B5EF4-FFF2-40B4-BE49-F238E27FC236}">
                <a16:creationId xmlns:a16="http://schemas.microsoft.com/office/drawing/2014/main" id="{DFF75309-B3AC-4C8A-83D7-ACB5F0E5F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9AFB388-A177-48CD-84EC-B01A553213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47D8B69-1833-4328-A332-D1C833579B0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1F2D1D-48A8-45EE-A3C1-C5D14B4605D1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8" name="Rectangle 6">
            <a:extLst>
              <a:ext uri="{FF2B5EF4-FFF2-40B4-BE49-F238E27FC236}">
                <a16:creationId xmlns:a16="http://schemas.microsoft.com/office/drawing/2014/main" id="{202A5B42-DEBA-4627-9FE1-6DC016F650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31749" name="Rectangle 7">
            <a:extLst>
              <a:ext uri="{FF2B5EF4-FFF2-40B4-BE49-F238E27FC236}">
                <a16:creationId xmlns:a16="http://schemas.microsoft.com/office/drawing/2014/main" id="{2B433F83-9968-4B94-9614-B5C7C2947A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FCED8B-AD96-4623-845D-D3337E926D04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A3BE2E95-E8F1-4537-A794-42758CE05A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51" name="Rectangle 3">
            <a:extLst>
              <a:ext uri="{FF2B5EF4-FFF2-40B4-BE49-F238E27FC236}">
                <a16:creationId xmlns:a16="http://schemas.microsoft.com/office/drawing/2014/main" id="{DAD9D500-1997-4BD4-8638-CA7EE6DFA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609382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9AFB388-A177-48CD-84EC-B01A553213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47D8B69-1833-4328-A332-D1C833579B0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1F2D1D-48A8-45EE-A3C1-C5D14B4605D1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8" name="Rectangle 6">
            <a:extLst>
              <a:ext uri="{FF2B5EF4-FFF2-40B4-BE49-F238E27FC236}">
                <a16:creationId xmlns:a16="http://schemas.microsoft.com/office/drawing/2014/main" id="{202A5B42-DEBA-4627-9FE1-6DC016F650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31749" name="Rectangle 7">
            <a:extLst>
              <a:ext uri="{FF2B5EF4-FFF2-40B4-BE49-F238E27FC236}">
                <a16:creationId xmlns:a16="http://schemas.microsoft.com/office/drawing/2014/main" id="{2B433F83-9968-4B94-9614-B5C7C2947A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FCED8B-AD96-4623-845D-D3337E926D04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A3BE2E95-E8F1-4537-A794-42758CE05A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51" name="Rectangle 3">
            <a:extLst>
              <a:ext uri="{FF2B5EF4-FFF2-40B4-BE49-F238E27FC236}">
                <a16:creationId xmlns:a16="http://schemas.microsoft.com/office/drawing/2014/main" id="{DAD9D500-1997-4BD4-8638-CA7EE6DFA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61774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0661FE6-11AE-4ACE-B90B-BF5D68A7F2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825C243-C36E-4090-B6E8-5F12E68EA5A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18C2ED-2AF9-4418-B932-FE3CB8C45921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6" name="Rectangle 6">
            <a:extLst>
              <a:ext uri="{FF2B5EF4-FFF2-40B4-BE49-F238E27FC236}">
                <a16:creationId xmlns:a16="http://schemas.microsoft.com/office/drawing/2014/main" id="{79F6D2A8-981F-49E4-B40C-CCECCF21B91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33797" name="Rectangle 7">
            <a:extLst>
              <a:ext uri="{FF2B5EF4-FFF2-40B4-BE49-F238E27FC236}">
                <a16:creationId xmlns:a16="http://schemas.microsoft.com/office/drawing/2014/main" id="{00CA1F3E-F8FE-4945-A646-DBF9287DF9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48406C-FEAE-46B2-BAD5-0F5DA6815365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8" name="Rectangle 2">
            <a:extLst>
              <a:ext uri="{FF2B5EF4-FFF2-40B4-BE49-F238E27FC236}">
                <a16:creationId xmlns:a16="http://schemas.microsoft.com/office/drawing/2014/main" id="{0E1D8CB1-633F-4EF2-9D6C-230214889E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9" name="Rectangle 3">
            <a:extLst>
              <a:ext uri="{FF2B5EF4-FFF2-40B4-BE49-F238E27FC236}">
                <a16:creationId xmlns:a16="http://schemas.microsoft.com/office/drawing/2014/main" id="{4BACC73B-4E4A-4BBF-A66D-353C3BCC2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06FB868-5F5D-4031-977B-AB36A171BC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C1D2847-7FC9-4EB9-8F0F-6D4229B81BD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008390-EA3B-4640-95B0-2662C40D5EDA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40" name="Rectangle 6">
            <a:extLst>
              <a:ext uri="{FF2B5EF4-FFF2-40B4-BE49-F238E27FC236}">
                <a16:creationId xmlns:a16="http://schemas.microsoft.com/office/drawing/2014/main" id="{8F8533DB-2DE9-4501-894F-D987FCC74AA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39941" name="Rectangle 7">
            <a:extLst>
              <a:ext uri="{FF2B5EF4-FFF2-40B4-BE49-F238E27FC236}">
                <a16:creationId xmlns:a16="http://schemas.microsoft.com/office/drawing/2014/main" id="{61FD731B-C4D6-412D-9E74-9F31B3C517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3E10D9-89D7-4F83-8A84-47C6F07F5C59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42" name="Rectangle 2">
            <a:extLst>
              <a:ext uri="{FF2B5EF4-FFF2-40B4-BE49-F238E27FC236}">
                <a16:creationId xmlns:a16="http://schemas.microsoft.com/office/drawing/2014/main" id="{AED26C2F-BEA5-4163-842C-724DC5265C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3" name="Rectangle 3">
            <a:extLst>
              <a:ext uri="{FF2B5EF4-FFF2-40B4-BE49-F238E27FC236}">
                <a16:creationId xmlns:a16="http://schemas.microsoft.com/office/drawing/2014/main" id="{122AC505-9742-4692-B25A-2FAB43179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DE90796-AECA-437A-920C-5391B01501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0100C3D7-F8BF-495F-A707-656183EBB9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7D193B-0035-4D3F-9410-5B1822E152F8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4" name="Rectangle 6">
            <a:extLst>
              <a:ext uri="{FF2B5EF4-FFF2-40B4-BE49-F238E27FC236}">
                <a16:creationId xmlns:a16="http://schemas.microsoft.com/office/drawing/2014/main" id="{9D4C536C-1E83-4693-B9DA-6B5AE5A17D5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35845" name="Rectangle 7">
            <a:extLst>
              <a:ext uri="{FF2B5EF4-FFF2-40B4-BE49-F238E27FC236}">
                <a16:creationId xmlns:a16="http://schemas.microsoft.com/office/drawing/2014/main" id="{BE819E7D-C499-4AAD-B539-EA0A55EDAA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9D2E82-7D72-4681-8FC8-31E9D868C7BB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6" name="Rectangle 2">
            <a:extLst>
              <a:ext uri="{FF2B5EF4-FFF2-40B4-BE49-F238E27FC236}">
                <a16:creationId xmlns:a16="http://schemas.microsoft.com/office/drawing/2014/main" id="{3877BA32-E28D-4D91-ACDF-95C94F75F5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7" name="Rectangle 3">
            <a:extLst>
              <a:ext uri="{FF2B5EF4-FFF2-40B4-BE49-F238E27FC236}">
                <a16:creationId xmlns:a16="http://schemas.microsoft.com/office/drawing/2014/main" id="{C5DB3738-C0EE-42E9-AA06-7DC0C53D86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DC35512-7C0A-4EF1-AC11-7728532BC2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B88E9E5-C3B6-4DC7-AA72-95D199EA13E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C16A9C-6F03-4C47-81EF-AA80B5F026A8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2" name="Rectangle 6">
            <a:extLst>
              <a:ext uri="{FF2B5EF4-FFF2-40B4-BE49-F238E27FC236}">
                <a16:creationId xmlns:a16="http://schemas.microsoft.com/office/drawing/2014/main" id="{EA88BC44-B355-400E-82ED-4DD552C6ED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37893" name="Rectangle 7">
            <a:extLst>
              <a:ext uri="{FF2B5EF4-FFF2-40B4-BE49-F238E27FC236}">
                <a16:creationId xmlns:a16="http://schemas.microsoft.com/office/drawing/2014/main" id="{02238617-E960-4CCC-8CF5-57F16961E4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225DD9-DBD9-4322-9F0B-FA07D6EB750B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4" name="Rectangle 2">
            <a:extLst>
              <a:ext uri="{FF2B5EF4-FFF2-40B4-BE49-F238E27FC236}">
                <a16:creationId xmlns:a16="http://schemas.microsoft.com/office/drawing/2014/main" id="{53330FB5-C144-423F-8734-CA96D4711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5" name="Rectangle 3">
            <a:extLst>
              <a:ext uri="{FF2B5EF4-FFF2-40B4-BE49-F238E27FC236}">
                <a16:creationId xmlns:a16="http://schemas.microsoft.com/office/drawing/2014/main" id="{FE92DF96-672E-40E5-B96A-89D573DB3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B28959E-8D4C-4519-9D4F-CD2E6730CC8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8221124-1504-46D9-8CF9-0862BE49115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3379CE-BAA9-46CB-8558-051E3A477723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8" name="Rectangle 6">
            <a:extLst>
              <a:ext uri="{FF2B5EF4-FFF2-40B4-BE49-F238E27FC236}">
                <a16:creationId xmlns:a16="http://schemas.microsoft.com/office/drawing/2014/main" id="{664DF0E7-CC0A-45CE-809D-3FC81A2964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41989" name="Rectangle 7">
            <a:extLst>
              <a:ext uri="{FF2B5EF4-FFF2-40B4-BE49-F238E27FC236}">
                <a16:creationId xmlns:a16="http://schemas.microsoft.com/office/drawing/2014/main" id="{57EBD933-A25C-458E-8209-C74C2B3FF5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C914D7-88B2-47D2-8F76-F95B6BA2FB1D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F8449F7E-8AB2-4135-871E-5C39B6F097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21759EF8-12FF-424F-BFA6-D3B902A7E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ED83445-5AF9-4685-BFEA-DFE444A009A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EBDEDD9E-92F0-48B9-A23E-89F39CABC58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735691-78AD-4E0C-B49B-6A66F10FDFB9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068823AA-E4C1-4CEF-B2B2-18BFFEAA5D6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02911A3B-98EE-4327-A127-C05768E24D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435659-61DF-46A9-8305-5674ACFA1327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47320BD3-F1EB-41E8-880B-00D6FD45F0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472F3EAB-F8F0-4A20-B522-FB7EA8BD6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BE1F3F3-A9C3-4297-A340-DEBACF0017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905E0BD5-98DB-49D3-B1FB-26609792AAB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04DADB-8FAA-4460-827E-7DA4975A7392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4" name="Rectangle 6">
            <a:extLst>
              <a:ext uri="{FF2B5EF4-FFF2-40B4-BE49-F238E27FC236}">
                <a16:creationId xmlns:a16="http://schemas.microsoft.com/office/drawing/2014/main" id="{7A4283CD-FF18-4DFE-9128-B849A50C20B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46085" name="Rectangle 7">
            <a:extLst>
              <a:ext uri="{FF2B5EF4-FFF2-40B4-BE49-F238E27FC236}">
                <a16:creationId xmlns:a16="http://schemas.microsoft.com/office/drawing/2014/main" id="{80C661CB-9D32-4ACF-AEC0-8D44DF7AB8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40BFCE-FE5C-4711-8F7F-752BE1FA9DE3}" type="slidenum">
              <a:rPr lang="en-US" altLang="en-US" smtClean="0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2B1FBB80-8708-4E78-95BF-173A28FF78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7" name="Rectangle 3">
            <a:extLst>
              <a:ext uri="{FF2B5EF4-FFF2-40B4-BE49-F238E27FC236}">
                <a16:creationId xmlns:a16="http://schemas.microsoft.com/office/drawing/2014/main" id="{2B92F470-4197-4119-9BAA-7192DF00B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6447C38-E2FA-47B6-B874-7BDA909253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6A0EBB4-3446-4249-A18C-0307BB258BB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EFFC64-8FFA-431C-9FBE-643713CC4EAE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2" name="Rectangle 6">
            <a:extLst>
              <a:ext uri="{FF2B5EF4-FFF2-40B4-BE49-F238E27FC236}">
                <a16:creationId xmlns:a16="http://schemas.microsoft.com/office/drawing/2014/main" id="{A1A26074-089D-41D5-8E02-3DDAA7A2F7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48133" name="Rectangle 7">
            <a:extLst>
              <a:ext uri="{FF2B5EF4-FFF2-40B4-BE49-F238E27FC236}">
                <a16:creationId xmlns:a16="http://schemas.microsoft.com/office/drawing/2014/main" id="{DAB6A321-9C6A-46EF-B4FD-678812D95B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098402-4A33-403B-A2CB-246604A016E4}" type="slidenum">
              <a:rPr lang="en-US" altLang="en-US" smtClean="0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4" name="Rectangle 2">
            <a:extLst>
              <a:ext uri="{FF2B5EF4-FFF2-40B4-BE49-F238E27FC236}">
                <a16:creationId xmlns:a16="http://schemas.microsoft.com/office/drawing/2014/main" id="{8031F254-5BEC-4975-98E7-EED5E755B3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5" name="Rectangle 3">
            <a:extLst>
              <a:ext uri="{FF2B5EF4-FFF2-40B4-BE49-F238E27FC236}">
                <a16:creationId xmlns:a16="http://schemas.microsoft.com/office/drawing/2014/main" id="{63EFB935-E8FB-4C5B-84BF-448572C94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444856EC-2471-4062-B9CD-0F08D38068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FD12D46-83B4-4DEF-908F-846F1841DED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0A9C22-188A-48BF-A210-49D0AFF2CD77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80" name="Rectangle 6">
            <a:extLst>
              <a:ext uri="{FF2B5EF4-FFF2-40B4-BE49-F238E27FC236}">
                <a16:creationId xmlns:a16="http://schemas.microsoft.com/office/drawing/2014/main" id="{865F4C69-B83D-49EE-8913-2E155DB3A1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50181" name="Rectangle 7">
            <a:extLst>
              <a:ext uri="{FF2B5EF4-FFF2-40B4-BE49-F238E27FC236}">
                <a16:creationId xmlns:a16="http://schemas.microsoft.com/office/drawing/2014/main" id="{66C4BCA9-25FE-4EDF-823E-D04E3A6E05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8EC144-3CA8-4775-A8E8-1603D197F0F0}" type="slidenum">
              <a:rPr lang="en-US" altLang="en-US" smtClean="0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A8A085B3-8CC4-4CE1-8938-0C77EE2572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3" name="Rectangle 3">
            <a:extLst>
              <a:ext uri="{FF2B5EF4-FFF2-40B4-BE49-F238E27FC236}">
                <a16:creationId xmlns:a16="http://schemas.microsoft.com/office/drawing/2014/main" id="{94DFAB4E-B0A8-4C5A-968D-1CD521078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6643DB6-2602-4BA7-BEE7-7901B5EB1E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05DF38A8-AABE-46C1-B802-F8EFB34BF5C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38F290-CFF3-47FD-BF8C-9E491251CFD8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8" name="Rectangle 6">
            <a:extLst>
              <a:ext uri="{FF2B5EF4-FFF2-40B4-BE49-F238E27FC236}">
                <a16:creationId xmlns:a16="http://schemas.microsoft.com/office/drawing/2014/main" id="{D2BE8BEF-CF58-4A6D-89CA-E7A889D6B13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52229" name="Rectangle 7">
            <a:extLst>
              <a:ext uri="{FF2B5EF4-FFF2-40B4-BE49-F238E27FC236}">
                <a16:creationId xmlns:a16="http://schemas.microsoft.com/office/drawing/2014/main" id="{DF6FDA24-9C1B-4BC3-9F9F-C1625B5948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988171-E477-4454-909F-817357C53D94}" type="slidenum">
              <a:rPr lang="en-US" altLang="en-US" smtClean="0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30" name="Rectangle 2">
            <a:extLst>
              <a:ext uri="{FF2B5EF4-FFF2-40B4-BE49-F238E27FC236}">
                <a16:creationId xmlns:a16="http://schemas.microsoft.com/office/drawing/2014/main" id="{55163547-4587-4C93-9A51-0A4015AED7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1" name="Rectangle 3">
            <a:extLst>
              <a:ext uri="{FF2B5EF4-FFF2-40B4-BE49-F238E27FC236}">
                <a16:creationId xmlns:a16="http://schemas.microsoft.com/office/drawing/2014/main" id="{A03485E5-1195-4C1C-A69B-DAA47D9BE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C83C72DD-E15B-4FB1-AA52-3478D84C3B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5EC4EA59-C757-4C55-984E-F7993BAF1E7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CA19BC-F5F2-4B8C-83FB-82B8EBEC5932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6" name="Rectangle 6">
            <a:extLst>
              <a:ext uri="{FF2B5EF4-FFF2-40B4-BE49-F238E27FC236}">
                <a16:creationId xmlns:a16="http://schemas.microsoft.com/office/drawing/2014/main" id="{39253178-E648-415A-96E8-AC3E411B0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54277" name="Rectangle 7">
            <a:extLst>
              <a:ext uri="{FF2B5EF4-FFF2-40B4-BE49-F238E27FC236}">
                <a16:creationId xmlns:a16="http://schemas.microsoft.com/office/drawing/2014/main" id="{F1E15E8F-3AE5-43B8-BDB9-2B5772513B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1780F5-53B0-464B-A29C-F061A212673B}" type="slidenum">
              <a:rPr lang="en-US" altLang="en-US" smtClean="0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8" name="Rectangle 2">
            <a:extLst>
              <a:ext uri="{FF2B5EF4-FFF2-40B4-BE49-F238E27FC236}">
                <a16:creationId xmlns:a16="http://schemas.microsoft.com/office/drawing/2014/main" id="{CD7CA71F-A294-43D6-A4AB-EED722E43C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9" name="Rectangle 3">
            <a:extLst>
              <a:ext uri="{FF2B5EF4-FFF2-40B4-BE49-F238E27FC236}">
                <a16:creationId xmlns:a16="http://schemas.microsoft.com/office/drawing/2014/main" id="{404E762E-86E6-469C-95A2-DD5A75180F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35AC9BB-F43E-4194-A53B-821F3B6E7E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D3E53D1-1E67-40F3-A572-9CC06804D86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579C52-1E59-430A-987F-BD21AFAB73CC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4" name="Rectangle 6">
            <a:extLst>
              <a:ext uri="{FF2B5EF4-FFF2-40B4-BE49-F238E27FC236}">
                <a16:creationId xmlns:a16="http://schemas.microsoft.com/office/drawing/2014/main" id="{5D44FD2A-474D-4A4E-9CB0-890ADD7779F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56325" name="Rectangle 7">
            <a:extLst>
              <a:ext uri="{FF2B5EF4-FFF2-40B4-BE49-F238E27FC236}">
                <a16:creationId xmlns:a16="http://schemas.microsoft.com/office/drawing/2014/main" id="{6FF06EB2-7616-46F8-9BB8-210AAACAC2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87A852-A9A8-4DFE-B47B-15E8AD0A61F1}" type="slidenum">
              <a:rPr lang="en-US" altLang="en-US" smtClean="0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6" name="Rectangle 2">
            <a:extLst>
              <a:ext uri="{FF2B5EF4-FFF2-40B4-BE49-F238E27FC236}">
                <a16:creationId xmlns:a16="http://schemas.microsoft.com/office/drawing/2014/main" id="{7995E5C2-43EE-43EF-828F-3F93B35469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7" name="Rectangle 3">
            <a:extLst>
              <a:ext uri="{FF2B5EF4-FFF2-40B4-BE49-F238E27FC236}">
                <a16:creationId xmlns:a16="http://schemas.microsoft.com/office/drawing/2014/main" id="{BC7E17C1-C8D5-497A-A2FB-8CFA51B28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25D16996-81CB-4F5E-9C70-B3F37C318F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A00AB48-0EBE-4A08-9D34-86ACD4A198A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5C83F3-102F-4B8B-9520-616100EBA95B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2" name="Rectangle 6">
            <a:extLst>
              <a:ext uri="{FF2B5EF4-FFF2-40B4-BE49-F238E27FC236}">
                <a16:creationId xmlns:a16="http://schemas.microsoft.com/office/drawing/2014/main" id="{FBDD526A-9DAC-452C-A50D-CC339045ED6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58373" name="Rectangle 7">
            <a:extLst>
              <a:ext uri="{FF2B5EF4-FFF2-40B4-BE49-F238E27FC236}">
                <a16:creationId xmlns:a16="http://schemas.microsoft.com/office/drawing/2014/main" id="{C856F712-CA76-4836-BEC1-05C852CD49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04FAE1-741E-4A18-B4D2-83EF53BAF974}" type="slidenum">
              <a:rPr lang="en-US" altLang="en-US" smtClean="0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4" name="Rectangle 2">
            <a:extLst>
              <a:ext uri="{FF2B5EF4-FFF2-40B4-BE49-F238E27FC236}">
                <a16:creationId xmlns:a16="http://schemas.microsoft.com/office/drawing/2014/main" id="{6977F0A3-B28C-4120-9E96-CDCC3E7DCE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5" name="Rectangle 3">
            <a:extLst>
              <a:ext uri="{FF2B5EF4-FFF2-40B4-BE49-F238E27FC236}">
                <a16:creationId xmlns:a16="http://schemas.microsoft.com/office/drawing/2014/main" id="{0E9EDA77-0DF9-47E6-84C3-2D719B875A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4331F39-65B6-42FC-BB89-732D7C319A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D9DCB5B-3630-49F0-900D-EBF50A281E3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1F5B5D-39C2-462F-878B-9864A3C0310A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905A222B-4E64-43C1-B0EA-390A0E0036C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8DD42782-343B-44D2-A401-2692C15C4F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CEE6B8-F461-4B04-855A-394FF0C294A1}" type="slidenum">
              <a:rPr lang="en-US" altLang="en-US" smtClean="0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01659688-DB6A-45E1-ACCE-145D558260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214C1188-1ED7-4FAF-9DCB-915979115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C47C956E-F0FF-4300-BF75-890A70EE06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773CCFC5-9CB9-4283-A3E7-8D4917CB3A6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9D8398-21FD-45EF-BAE9-7E0CC855EC2A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2" name="Rectangle 6">
            <a:extLst>
              <a:ext uri="{FF2B5EF4-FFF2-40B4-BE49-F238E27FC236}">
                <a16:creationId xmlns:a16="http://schemas.microsoft.com/office/drawing/2014/main" id="{374B0FFF-81AD-47B9-943F-D5BE7F9EF6E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63493" name="Rectangle 7">
            <a:extLst>
              <a:ext uri="{FF2B5EF4-FFF2-40B4-BE49-F238E27FC236}">
                <a16:creationId xmlns:a16="http://schemas.microsoft.com/office/drawing/2014/main" id="{E5B03460-7C6F-427E-8B22-D3B7EB2D00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213D8D-07BC-4BA7-98C9-A5422B7C642D}" type="slidenum">
              <a:rPr lang="en-US" altLang="en-US" smtClean="0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4" name="Rectangle 2">
            <a:extLst>
              <a:ext uri="{FF2B5EF4-FFF2-40B4-BE49-F238E27FC236}">
                <a16:creationId xmlns:a16="http://schemas.microsoft.com/office/drawing/2014/main" id="{161F0FB7-F046-4D9B-BC6D-6F9B840817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5" name="Rectangle 3">
            <a:extLst>
              <a:ext uri="{FF2B5EF4-FFF2-40B4-BE49-F238E27FC236}">
                <a16:creationId xmlns:a16="http://schemas.microsoft.com/office/drawing/2014/main" id="{AA4BA75A-223C-470B-9C5C-6531B46867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A10C114-97DE-4FA0-9B84-656F9316E37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A0065731-13D3-40B8-B89D-6F64A3C2622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94626A-366B-40FE-B38F-8E29E0445767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B51971E3-BB01-4E1D-A0FA-B22D3FCD7D4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65541" name="Rectangle 7">
            <a:extLst>
              <a:ext uri="{FF2B5EF4-FFF2-40B4-BE49-F238E27FC236}">
                <a16:creationId xmlns:a16="http://schemas.microsoft.com/office/drawing/2014/main" id="{3FD9432C-21A9-4D80-BB4E-76BB6670D1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A57026-6564-4083-8EEF-8A700DE9869F}" type="slidenum">
              <a:rPr lang="en-US" altLang="en-US" smtClean="0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42" name="Rectangle 2">
            <a:extLst>
              <a:ext uri="{FF2B5EF4-FFF2-40B4-BE49-F238E27FC236}">
                <a16:creationId xmlns:a16="http://schemas.microsoft.com/office/drawing/2014/main" id="{2F8CBD19-576A-4669-A4D2-CE86B01297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3" name="Rectangle 3">
            <a:extLst>
              <a:ext uri="{FF2B5EF4-FFF2-40B4-BE49-F238E27FC236}">
                <a16:creationId xmlns:a16="http://schemas.microsoft.com/office/drawing/2014/main" id="{D415C7C5-5EC4-4E50-A924-CE3CBE3F9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DF56549B-AC98-4CAF-B8F9-46C1B918F7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C2F8D0A6-50F9-455C-9D2A-63CEABB3949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7DFE8D-9A1A-4D55-B0FF-EFA530EAEAD2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8" name="Rectangle 6">
            <a:extLst>
              <a:ext uri="{FF2B5EF4-FFF2-40B4-BE49-F238E27FC236}">
                <a16:creationId xmlns:a16="http://schemas.microsoft.com/office/drawing/2014/main" id="{1E3FC9DB-A462-4538-9C1B-40E7267F6E1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67589" name="Rectangle 7">
            <a:extLst>
              <a:ext uri="{FF2B5EF4-FFF2-40B4-BE49-F238E27FC236}">
                <a16:creationId xmlns:a16="http://schemas.microsoft.com/office/drawing/2014/main" id="{6CCB23B6-0F60-4AD7-8B8E-59EE994E6F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9A08A9-97D6-4E90-A02B-3769D2FAEA58}" type="slidenum">
              <a:rPr lang="en-US" altLang="en-US" smtClean="0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90" name="Rectangle 2">
            <a:extLst>
              <a:ext uri="{FF2B5EF4-FFF2-40B4-BE49-F238E27FC236}">
                <a16:creationId xmlns:a16="http://schemas.microsoft.com/office/drawing/2014/main" id="{81403AC8-D3D3-43BF-AF16-FB96C9EC30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91" name="Rectangle 3">
            <a:extLst>
              <a:ext uri="{FF2B5EF4-FFF2-40B4-BE49-F238E27FC236}">
                <a16:creationId xmlns:a16="http://schemas.microsoft.com/office/drawing/2014/main" id="{306A7668-3027-499D-A790-40EA676D2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1AC3B0EB-F05F-4CF8-ABAF-FF8AB1FE72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4714513E-C34D-4C91-8DEC-531BA6A3E0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E6279E-FE1B-465B-A6D6-D067D4511C60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6" name="Rectangle 6">
            <a:extLst>
              <a:ext uri="{FF2B5EF4-FFF2-40B4-BE49-F238E27FC236}">
                <a16:creationId xmlns:a16="http://schemas.microsoft.com/office/drawing/2014/main" id="{BCD4F61C-1A8A-4195-A275-974440A3B61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69637" name="Rectangle 7">
            <a:extLst>
              <a:ext uri="{FF2B5EF4-FFF2-40B4-BE49-F238E27FC236}">
                <a16:creationId xmlns:a16="http://schemas.microsoft.com/office/drawing/2014/main" id="{A2E6ED76-863A-40E2-A839-3857CCE188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25E6D0-0202-4557-8A6A-7EF01FFA00C3}" type="slidenum">
              <a:rPr lang="en-US" altLang="en-US" smtClean="0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8" name="Rectangle 2">
            <a:extLst>
              <a:ext uri="{FF2B5EF4-FFF2-40B4-BE49-F238E27FC236}">
                <a16:creationId xmlns:a16="http://schemas.microsoft.com/office/drawing/2014/main" id="{816E6E47-E918-482F-8975-F7CBB4BA6B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9" name="Rectangle 3">
            <a:extLst>
              <a:ext uri="{FF2B5EF4-FFF2-40B4-BE49-F238E27FC236}">
                <a16:creationId xmlns:a16="http://schemas.microsoft.com/office/drawing/2014/main" id="{F89689F1-0A6C-45F4-BD7F-1844B8ABE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A2A05A8B-7B16-44DB-B48B-0F0A03E810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2DB05FFA-BB13-4FFA-B6ED-2B3FE1CBC1B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1FF4B2-C1A0-4AE2-A19A-9E9A74B22D3D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6" name="Rectangle 6">
            <a:extLst>
              <a:ext uri="{FF2B5EF4-FFF2-40B4-BE49-F238E27FC236}">
                <a16:creationId xmlns:a16="http://schemas.microsoft.com/office/drawing/2014/main" id="{972EE419-39D7-4EC9-BD1C-312EA49D8F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74757" name="Rectangle 7">
            <a:extLst>
              <a:ext uri="{FF2B5EF4-FFF2-40B4-BE49-F238E27FC236}">
                <a16:creationId xmlns:a16="http://schemas.microsoft.com/office/drawing/2014/main" id="{267E572D-25C1-40BB-9EC0-05C4508B48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2A789C-B6CD-41F9-83B1-C80988C11D4A}" type="slidenum">
              <a:rPr lang="en-US" altLang="en-US" smtClean="0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8" name="Rectangle 2">
            <a:extLst>
              <a:ext uri="{FF2B5EF4-FFF2-40B4-BE49-F238E27FC236}">
                <a16:creationId xmlns:a16="http://schemas.microsoft.com/office/drawing/2014/main" id="{B81C58CD-6803-456E-903D-B2F7003220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9" name="Rectangle 3">
            <a:extLst>
              <a:ext uri="{FF2B5EF4-FFF2-40B4-BE49-F238E27FC236}">
                <a16:creationId xmlns:a16="http://schemas.microsoft.com/office/drawing/2014/main" id="{8CE0A0C8-1716-4465-8072-EC57F4497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C83CCE20-FB1C-4BC9-81FD-26F3967E95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5D280AAE-F823-4745-B19C-782A2FEEB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186987-D8E2-4EA8-9B57-1E2D0FB47EBB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4" name="Rectangle 6">
            <a:extLst>
              <a:ext uri="{FF2B5EF4-FFF2-40B4-BE49-F238E27FC236}">
                <a16:creationId xmlns:a16="http://schemas.microsoft.com/office/drawing/2014/main" id="{24770D4D-8689-4ED2-B0CE-5ADA8345BD5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76805" name="Rectangle 7">
            <a:extLst>
              <a:ext uri="{FF2B5EF4-FFF2-40B4-BE49-F238E27FC236}">
                <a16:creationId xmlns:a16="http://schemas.microsoft.com/office/drawing/2014/main" id="{FC77A65A-55DE-4346-9500-09C3354AE6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966629-D4F7-4729-8AD6-6BDAA73A3755}" type="slidenum">
              <a:rPr lang="en-US" altLang="en-US" smtClean="0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6" name="Rectangle 2">
            <a:extLst>
              <a:ext uri="{FF2B5EF4-FFF2-40B4-BE49-F238E27FC236}">
                <a16:creationId xmlns:a16="http://schemas.microsoft.com/office/drawing/2014/main" id="{4D11292E-6E5D-4B77-BDF7-F06F299A7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7" name="Rectangle 3">
            <a:extLst>
              <a:ext uri="{FF2B5EF4-FFF2-40B4-BE49-F238E27FC236}">
                <a16:creationId xmlns:a16="http://schemas.microsoft.com/office/drawing/2014/main" id="{67A79011-818D-4E26-BB1E-40C51BA67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C81B429-28B3-4D54-B792-98E90CE3875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AF94F98-1A31-484B-A4A3-81C2470BA05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CD80AE-9D88-4DBE-B496-94B8CAFCAB81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AD26D19C-9167-4F48-B91C-1AD2B0AA120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FA641E74-BCF0-4E1A-8B1C-7CF9E7A71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AB44E8-FCC7-4540-A1EA-50D2B5184938}" type="slidenum">
              <a:rPr lang="en-US" altLang="en-US" smtClean="0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0C2B1097-7220-4E41-A294-C3D57C18E6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744051C2-8EEE-41F6-9A39-B714F7936A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652B22D-9D95-4052-9731-16485413FD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11F561E4-91E9-47B6-B680-F50AF48A329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5CA45A-B989-4051-812A-AD9FA1D96823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8" name="Rectangle 6">
            <a:extLst>
              <a:ext uri="{FF2B5EF4-FFF2-40B4-BE49-F238E27FC236}">
                <a16:creationId xmlns:a16="http://schemas.microsoft.com/office/drawing/2014/main" id="{8BE4862E-E1CE-4745-BFD9-859085D0F9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82949" name="Rectangle 7">
            <a:extLst>
              <a:ext uri="{FF2B5EF4-FFF2-40B4-BE49-F238E27FC236}">
                <a16:creationId xmlns:a16="http://schemas.microsoft.com/office/drawing/2014/main" id="{DE042BF6-FBD0-49AD-9DA9-9B8573871A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0EE1AD-2B38-462F-971A-B85871A2487D}" type="slidenum">
              <a:rPr lang="en-US" altLang="en-US" smtClean="0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50" name="Rectangle 2">
            <a:extLst>
              <a:ext uri="{FF2B5EF4-FFF2-40B4-BE49-F238E27FC236}">
                <a16:creationId xmlns:a16="http://schemas.microsoft.com/office/drawing/2014/main" id="{0ACE385F-7286-43AC-9E55-9AB7A4A8DC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1" name="Rectangle 3">
            <a:extLst>
              <a:ext uri="{FF2B5EF4-FFF2-40B4-BE49-F238E27FC236}">
                <a16:creationId xmlns:a16="http://schemas.microsoft.com/office/drawing/2014/main" id="{A73322BE-3D31-40CD-909C-889F87D12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330DB6C-9D0B-476F-8482-6053A1011F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58A74E5-F284-4C95-8F0C-55BA709FFE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98CE9B-CE69-4BC0-AE54-F0DF969608EF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6" name="Rectangle 6">
            <a:extLst>
              <a:ext uri="{FF2B5EF4-FFF2-40B4-BE49-F238E27FC236}">
                <a16:creationId xmlns:a16="http://schemas.microsoft.com/office/drawing/2014/main" id="{0C0F6825-993B-4338-91E9-22FDEB4489D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84997" name="Rectangle 7">
            <a:extLst>
              <a:ext uri="{FF2B5EF4-FFF2-40B4-BE49-F238E27FC236}">
                <a16:creationId xmlns:a16="http://schemas.microsoft.com/office/drawing/2014/main" id="{194E9B4F-9756-463A-9AA3-85DE200E00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3D9A08-55DE-44A1-9A88-B8C141C1227C}" type="slidenum">
              <a:rPr lang="en-US" altLang="en-US" smtClean="0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8" name="Rectangle 2">
            <a:extLst>
              <a:ext uri="{FF2B5EF4-FFF2-40B4-BE49-F238E27FC236}">
                <a16:creationId xmlns:a16="http://schemas.microsoft.com/office/drawing/2014/main" id="{ECF32186-7615-42E0-B41B-C96D144287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9" name="Rectangle 3">
            <a:extLst>
              <a:ext uri="{FF2B5EF4-FFF2-40B4-BE49-F238E27FC236}">
                <a16:creationId xmlns:a16="http://schemas.microsoft.com/office/drawing/2014/main" id="{7C6A11F2-8A3D-4885-A7C0-CDA14494E3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D73AB38A-C301-4D1B-9961-1374B3A756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19AE44C1-D79A-40A5-A8B6-FBF5B352653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48825E-205C-45E4-9953-756FF1B55BC8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4" name="Rectangle 6">
            <a:extLst>
              <a:ext uri="{FF2B5EF4-FFF2-40B4-BE49-F238E27FC236}">
                <a16:creationId xmlns:a16="http://schemas.microsoft.com/office/drawing/2014/main" id="{23DD6628-7B1C-4F31-BA35-1812546F420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87045" name="Rectangle 7">
            <a:extLst>
              <a:ext uri="{FF2B5EF4-FFF2-40B4-BE49-F238E27FC236}">
                <a16:creationId xmlns:a16="http://schemas.microsoft.com/office/drawing/2014/main" id="{E20131C5-9612-44A7-9952-3BA107707F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4E1E21-9F53-4CDC-A282-FCFBB8644869}" type="slidenum">
              <a:rPr lang="en-US" altLang="en-US" smtClean="0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6" name="Rectangle 2">
            <a:extLst>
              <a:ext uri="{FF2B5EF4-FFF2-40B4-BE49-F238E27FC236}">
                <a16:creationId xmlns:a16="http://schemas.microsoft.com/office/drawing/2014/main" id="{C3D14926-0BCC-49AB-A0B9-4675EF644F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7" name="Rectangle 3">
            <a:extLst>
              <a:ext uri="{FF2B5EF4-FFF2-40B4-BE49-F238E27FC236}">
                <a16:creationId xmlns:a16="http://schemas.microsoft.com/office/drawing/2014/main" id="{A304BE8B-D60D-4000-B6FD-F0EE39EDB6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77C652D-DC8B-4B6B-B541-5ACB35D5BC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8DD2849-89C3-45E1-8CC1-995506F9D18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B695E9-AFD1-4830-A797-D5570DB27E58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2" name="Rectangle 6">
            <a:extLst>
              <a:ext uri="{FF2B5EF4-FFF2-40B4-BE49-F238E27FC236}">
                <a16:creationId xmlns:a16="http://schemas.microsoft.com/office/drawing/2014/main" id="{DEE6F4BE-4853-4EB5-A9CB-0B84058DC9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89093" name="Rectangle 7">
            <a:extLst>
              <a:ext uri="{FF2B5EF4-FFF2-40B4-BE49-F238E27FC236}">
                <a16:creationId xmlns:a16="http://schemas.microsoft.com/office/drawing/2014/main" id="{D083D47F-4EAA-4A6C-9F4A-B638B62EDF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A52AAF-3806-46EF-B005-DF028DF024FC}" type="slidenum">
              <a:rPr lang="en-US" altLang="en-US" smtClean="0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4" name="Rectangle 2">
            <a:extLst>
              <a:ext uri="{FF2B5EF4-FFF2-40B4-BE49-F238E27FC236}">
                <a16:creationId xmlns:a16="http://schemas.microsoft.com/office/drawing/2014/main" id="{2E27E7F4-27D3-4C40-9361-A8AF11C7D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5" name="Rectangle 3">
            <a:extLst>
              <a:ext uri="{FF2B5EF4-FFF2-40B4-BE49-F238E27FC236}">
                <a16:creationId xmlns:a16="http://schemas.microsoft.com/office/drawing/2014/main" id="{D4667438-FBDB-4C05-BFAD-FEB40CBC2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C83CCE20-FB1C-4BC9-81FD-26F3967E95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5D280AAE-F823-4745-B19C-782A2FEEB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186987-D8E2-4EA8-9B57-1E2D0FB47EBB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4" name="Rectangle 6">
            <a:extLst>
              <a:ext uri="{FF2B5EF4-FFF2-40B4-BE49-F238E27FC236}">
                <a16:creationId xmlns:a16="http://schemas.microsoft.com/office/drawing/2014/main" id="{24770D4D-8689-4ED2-B0CE-5ADA8345BD5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76805" name="Rectangle 7">
            <a:extLst>
              <a:ext uri="{FF2B5EF4-FFF2-40B4-BE49-F238E27FC236}">
                <a16:creationId xmlns:a16="http://schemas.microsoft.com/office/drawing/2014/main" id="{FC77A65A-55DE-4346-9500-09C3354AE6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966629-D4F7-4729-8AD6-6BDAA73A3755}" type="slidenum">
              <a:rPr lang="en-US" altLang="en-US" smtClean="0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6" name="Rectangle 2">
            <a:extLst>
              <a:ext uri="{FF2B5EF4-FFF2-40B4-BE49-F238E27FC236}">
                <a16:creationId xmlns:a16="http://schemas.microsoft.com/office/drawing/2014/main" id="{4D11292E-6E5D-4B77-BDF7-F06F299A7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7" name="Rectangle 3">
            <a:extLst>
              <a:ext uri="{FF2B5EF4-FFF2-40B4-BE49-F238E27FC236}">
                <a16:creationId xmlns:a16="http://schemas.microsoft.com/office/drawing/2014/main" id="{67A79011-818D-4E26-BB1E-40C51BA67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179459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C81B429-28B3-4D54-B792-98E90CE3875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AF94F98-1A31-484B-A4A3-81C2470BA05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CD80AE-9D88-4DBE-B496-94B8CAFCAB81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AD26D19C-9167-4F48-B91C-1AD2B0AA120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FA641E74-BCF0-4E1A-8B1C-7CF9E7A71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AB44E8-FCC7-4540-A1EA-50D2B5184938}" type="slidenum">
              <a:rPr lang="en-US" altLang="en-US" smtClean="0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0C2B1097-7220-4E41-A294-C3D57C18E6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744051C2-8EEE-41F6-9A39-B714F7936A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642592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0BC97741-0BEA-4399-B56F-F29D53E4888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361381D5-E2A3-4E8C-BB4A-F21D1837A85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BCED7B-9A0C-4A4A-B8F9-05C3D306C4E7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40" name="Rectangle 6">
            <a:extLst>
              <a:ext uri="{FF2B5EF4-FFF2-40B4-BE49-F238E27FC236}">
                <a16:creationId xmlns:a16="http://schemas.microsoft.com/office/drawing/2014/main" id="{3DED4AF8-F8CD-48AE-A7A4-3A9DC5272AA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91141" name="Rectangle 7">
            <a:extLst>
              <a:ext uri="{FF2B5EF4-FFF2-40B4-BE49-F238E27FC236}">
                <a16:creationId xmlns:a16="http://schemas.microsoft.com/office/drawing/2014/main" id="{414EF6E2-F608-4F5C-B23B-664F463D4B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76FD84-0895-4D90-80A7-659585B1EA84}" type="slidenum">
              <a:rPr lang="en-US" altLang="en-US" smtClean="0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42" name="Rectangle 2">
            <a:extLst>
              <a:ext uri="{FF2B5EF4-FFF2-40B4-BE49-F238E27FC236}">
                <a16:creationId xmlns:a16="http://schemas.microsoft.com/office/drawing/2014/main" id="{963C09AD-A62F-4559-B23F-97BDDEF231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3" name="Rectangle 3">
            <a:extLst>
              <a:ext uri="{FF2B5EF4-FFF2-40B4-BE49-F238E27FC236}">
                <a16:creationId xmlns:a16="http://schemas.microsoft.com/office/drawing/2014/main" id="{73406983-A81D-4EA6-AF87-5BCA86089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B8BB6C0C-9056-44F4-8AB4-0219C73051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90FE13FD-AE5F-4D25-9E66-0EA4780AB53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95C90D-47C5-482C-96CA-5174292EA579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8" name="Rectangle 6">
            <a:extLst>
              <a:ext uri="{FF2B5EF4-FFF2-40B4-BE49-F238E27FC236}">
                <a16:creationId xmlns:a16="http://schemas.microsoft.com/office/drawing/2014/main" id="{FA4FDADD-8B88-4C28-8B51-672C8DB86E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93189" name="Rectangle 7">
            <a:extLst>
              <a:ext uri="{FF2B5EF4-FFF2-40B4-BE49-F238E27FC236}">
                <a16:creationId xmlns:a16="http://schemas.microsoft.com/office/drawing/2014/main" id="{2F6FAFD4-AEB9-4550-B6A6-3FA90B85EA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C419F5-9D96-43EA-9C48-8C7684B0A282}" type="slidenum">
              <a:rPr lang="en-US" altLang="en-US" smtClean="0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90" name="Rectangle 2">
            <a:extLst>
              <a:ext uri="{FF2B5EF4-FFF2-40B4-BE49-F238E27FC236}">
                <a16:creationId xmlns:a16="http://schemas.microsoft.com/office/drawing/2014/main" id="{2F2B1A81-684E-43FB-ACEE-39583033FE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91" name="Rectangle 3">
            <a:extLst>
              <a:ext uri="{FF2B5EF4-FFF2-40B4-BE49-F238E27FC236}">
                <a16:creationId xmlns:a16="http://schemas.microsoft.com/office/drawing/2014/main" id="{02B10226-62C3-4F79-9F10-FDAAF39024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2526639F-6D29-4FAF-8419-C67B548810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2041D856-9D52-442A-ACBD-315E9988AB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ED2B95-2949-4BB4-BA2D-0AF199340C23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6" name="Rectangle 6">
            <a:extLst>
              <a:ext uri="{FF2B5EF4-FFF2-40B4-BE49-F238E27FC236}">
                <a16:creationId xmlns:a16="http://schemas.microsoft.com/office/drawing/2014/main" id="{768BF2E6-4321-49D5-96EE-40DF84F912B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95237" name="Rectangle 7">
            <a:extLst>
              <a:ext uri="{FF2B5EF4-FFF2-40B4-BE49-F238E27FC236}">
                <a16:creationId xmlns:a16="http://schemas.microsoft.com/office/drawing/2014/main" id="{40209780-53AC-4174-BADF-CBDDFF82B7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1B5479-8A6A-4500-AED8-1293526BB522}" type="slidenum">
              <a:rPr lang="en-US" altLang="en-US" smtClean="0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8" name="Rectangle 2">
            <a:extLst>
              <a:ext uri="{FF2B5EF4-FFF2-40B4-BE49-F238E27FC236}">
                <a16:creationId xmlns:a16="http://schemas.microsoft.com/office/drawing/2014/main" id="{F7A41172-B535-4B83-A9B8-9709676F41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9" name="Rectangle 3">
            <a:extLst>
              <a:ext uri="{FF2B5EF4-FFF2-40B4-BE49-F238E27FC236}">
                <a16:creationId xmlns:a16="http://schemas.microsoft.com/office/drawing/2014/main" id="{DE97B769-9252-4489-A918-BBF2EE482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5DF97A68-2C42-45B4-8DA4-3EA1550CA0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867A7923-855D-4532-BA6A-DB819A9C291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88E010-E41C-49BA-A6C2-FE965B459AE9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4" name="Rectangle 6">
            <a:extLst>
              <a:ext uri="{FF2B5EF4-FFF2-40B4-BE49-F238E27FC236}">
                <a16:creationId xmlns:a16="http://schemas.microsoft.com/office/drawing/2014/main" id="{03FC7E55-39BB-4C19-8241-5B5E1BE616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97285" name="Rectangle 7">
            <a:extLst>
              <a:ext uri="{FF2B5EF4-FFF2-40B4-BE49-F238E27FC236}">
                <a16:creationId xmlns:a16="http://schemas.microsoft.com/office/drawing/2014/main" id="{501DEAD2-67D6-420E-B5F0-3493B10EBA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B42CBB-CEC8-4107-9EA1-D38D17BF4A1F}" type="slidenum">
              <a:rPr lang="en-US" altLang="en-US" smtClean="0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6" name="Rectangle 2">
            <a:extLst>
              <a:ext uri="{FF2B5EF4-FFF2-40B4-BE49-F238E27FC236}">
                <a16:creationId xmlns:a16="http://schemas.microsoft.com/office/drawing/2014/main" id="{24A2F85C-B359-41B7-98FD-C69CCF9945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7" name="Rectangle 3">
            <a:extLst>
              <a:ext uri="{FF2B5EF4-FFF2-40B4-BE49-F238E27FC236}">
                <a16:creationId xmlns:a16="http://schemas.microsoft.com/office/drawing/2014/main" id="{FC62C641-A90F-441D-8486-D4A6920FA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BF449706-3A78-4C91-BB3E-7E99B25CF7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977FE3F5-6865-4A46-B4AE-3017ECA9ED9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2CF374-FB0A-4CD4-B096-D1B383A2AF60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2" name="Rectangle 6">
            <a:extLst>
              <a:ext uri="{FF2B5EF4-FFF2-40B4-BE49-F238E27FC236}">
                <a16:creationId xmlns:a16="http://schemas.microsoft.com/office/drawing/2014/main" id="{6974C5F3-2312-41ED-8E35-5B1D8B05AD1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99333" name="Rectangle 7">
            <a:extLst>
              <a:ext uri="{FF2B5EF4-FFF2-40B4-BE49-F238E27FC236}">
                <a16:creationId xmlns:a16="http://schemas.microsoft.com/office/drawing/2014/main" id="{EDA53C17-56B6-4EC1-830F-B2DE6822B4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A100C8-053C-4673-A279-4D807A449AD6}" type="slidenum">
              <a:rPr lang="en-US" altLang="en-US" smtClean="0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4" name="Rectangle 2">
            <a:extLst>
              <a:ext uri="{FF2B5EF4-FFF2-40B4-BE49-F238E27FC236}">
                <a16:creationId xmlns:a16="http://schemas.microsoft.com/office/drawing/2014/main" id="{8DF75974-624F-44B9-8BBC-E74403BAF2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5" name="Rectangle 3">
            <a:extLst>
              <a:ext uri="{FF2B5EF4-FFF2-40B4-BE49-F238E27FC236}">
                <a16:creationId xmlns:a16="http://schemas.microsoft.com/office/drawing/2014/main" id="{EDE519D5-3400-4763-B8EC-F89EE3896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8A7D7523-2702-40AA-8E8B-68295FF73C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D832CF70-7C5F-4238-A3B9-A034B36BB07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CF973D-083D-4308-A5D6-4CA6BD6B3E2B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80" name="Rectangle 6">
            <a:extLst>
              <a:ext uri="{FF2B5EF4-FFF2-40B4-BE49-F238E27FC236}">
                <a16:creationId xmlns:a16="http://schemas.microsoft.com/office/drawing/2014/main" id="{D36E3430-BD29-4D9E-BF4E-6662B82DA57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01381" name="Rectangle 7">
            <a:extLst>
              <a:ext uri="{FF2B5EF4-FFF2-40B4-BE49-F238E27FC236}">
                <a16:creationId xmlns:a16="http://schemas.microsoft.com/office/drawing/2014/main" id="{B59A0BB0-823A-461C-A7B0-20475765A2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B17D10-4D71-45B0-9C45-FC3F15D7FA64}" type="slidenum">
              <a:rPr lang="en-US" altLang="en-US" smtClean="0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82" name="Rectangle 2">
            <a:extLst>
              <a:ext uri="{FF2B5EF4-FFF2-40B4-BE49-F238E27FC236}">
                <a16:creationId xmlns:a16="http://schemas.microsoft.com/office/drawing/2014/main" id="{A5BA7D6E-3941-4AF7-ACB6-FB1425A51A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3" name="Rectangle 3">
            <a:extLst>
              <a:ext uri="{FF2B5EF4-FFF2-40B4-BE49-F238E27FC236}">
                <a16:creationId xmlns:a16="http://schemas.microsoft.com/office/drawing/2014/main" id="{9194B20D-0AE7-4FE7-B28B-3377147B7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EF26080A-F4DA-4839-B52F-7FB1955BE4C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D54678E3-8B23-4763-AC30-BEDA162AAE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7F898F-F82C-4EA5-9D58-77BD3C158124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8" name="Rectangle 6">
            <a:extLst>
              <a:ext uri="{FF2B5EF4-FFF2-40B4-BE49-F238E27FC236}">
                <a16:creationId xmlns:a16="http://schemas.microsoft.com/office/drawing/2014/main" id="{31B0A703-3D13-4C3D-B079-4A3F5E01E26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03429" name="Rectangle 7">
            <a:extLst>
              <a:ext uri="{FF2B5EF4-FFF2-40B4-BE49-F238E27FC236}">
                <a16:creationId xmlns:a16="http://schemas.microsoft.com/office/drawing/2014/main" id="{6EABACC9-50ED-4478-BA8B-396CFD4612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CF2770-EB05-4C30-8B1F-F48FD72D90B7}" type="slidenum">
              <a:rPr lang="en-US" altLang="en-US" smtClean="0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30" name="Rectangle 2">
            <a:extLst>
              <a:ext uri="{FF2B5EF4-FFF2-40B4-BE49-F238E27FC236}">
                <a16:creationId xmlns:a16="http://schemas.microsoft.com/office/drawing/2014/main" id="{5DC2BAB3-A346-4DB9-8848-1AF4FBCC0A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31" name="Rectangle 3">
            <a:extLst>
              <a:ext uri="{FF2B5EF4-FFF2-40B4-BE49-F238E27FC236}">
                <a16:creationId xmlns:a16="http://schemas.microsoft.com/office/drawing/2014/main" id="{FEE8C663-E9E4-4FAC-B79E-0581B49FF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1944E640-565C-4BF1-B455-E25BF811C9D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3BC7B4F0-567E-4EBA-A8C6-7980A404D0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A59BAE-F7C2-4782-9773-CD7C39AF673A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6" name="Rectangle 6">
            <a:extLst>
              <a:ext uri="{FF2B5EF4-FFF2-40B4-BE49-F238E27FC236}">
                <a16:creationId xmlns:a16="http://schemas.microsoft.com/office/drawing/2014/main" id="{1DE79832-E887-4759-90F8-F936DD032B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05477" name="Rectangle 7">
            <a:extLst>
              <a:ext uri="{FF2B5EF4-FFF2-40B4-BE49-F238E27FC236}">
                <a16:creationId xmlns:a16="http://schemas.microsoft.com/office/drawing/2014/main" id="{D8A30C05-7B23-4179-ABAD-C56EBE0E9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9B61B9-47A4-47AC-B042-CD383F72B06A}" type="slidenum">
              <a:rPr lang="en-US" altLang="en-US" smtClean="0">
                <a:latin typeface="Times New Roman" panose="02020603050405020304" pitchFamily="18" charset="0"/>
              </a:rPr>
              <a:pPr/>
              <a:t>54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8" name="Rectangle 2">
            <a:extLst>
              <a:ext uri="{FF2B5EF4-FFF2-40B4-BE49-F238E27FC236}">
                <a16:creationId xmlns:a16="http://schemas.microsoft.com/office/drawing/2014/main" id="{0D75BA99-1699-4EBD-9CFF-3B59F32E65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9" name="Rectangle 3">
            <a:extLst>
              <a:ext uri="{FF2B5EF4-FFF2-40B4-BE49-F238E27FC236}">
                <a16:creationId xmlns:a16="http://schemas.microsoft.com/office/drawing/2014/main" id="{1CF32E29-5FDE-4EA1-B88C-A57568C8D9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C324EA0E-B987-416B-8388-B8B3731955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BD76FFB6-C2A6-4FB0-ADC6-4BF4884BDB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2AAF02-A51E-4502-A8BC-2DBA17B0E8F4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4" name="Rectangle 6">
            <a:extLst>
              <a:ext uri="{FF2B5EF4-FFF2-40B4-BE49-F238E27FC236}">
                <a16:creationId xmlns:a16="http://schemas.microsoft.com/office/drawing/2014/main" id="{C94B0C8F-EE6B-4811-86A1-20C0682683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07525" name="Rectangle 7">
            <a:extLst>
              <a:ext uri="{FF2B5EF4-FFF2-40B4-BE49-F238E27FC236}">
                <a16:creationId xmlns:a16="http://schemas.microsoft.com/office/drawing/2014/main" id="{15ACD238-2DBB-4143-885A-BAAA035DB9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2323FD-80B4-4B08-A951-1BCD0F56919C}" type="slidenum">
              <a:rPr lang="en-US" altLang="en-US" smtClean="0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6" name="Rectangle 2">
            <a:extLst>
              <a:ext uri="{FF2B5EF4-FFF2-40B4-BE49-F238E27FC236}">
                <a16:creationId xmlns:a16="http://schemas.microsoft.com/office/drawing/2014/main" id="{B42AEC4A-22D7-4C95-B879-A3817EB372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7" name="Rectangle 3">
            <a:extLst>
              <a:ext uri="{FF2B5EF4-FFF2-40B4-BE49-F238E27FC236}">
                <a16:creationId xmlns:a16="http://schemas.microsoft.com/office/drawing/2014/main" id="{2ED63089-3EC1-4750-A54D-B4253E324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8C1C8A4C-AC4D-4357-8E4F-A6453B53703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45478619-8AC6-4797-9B68-1E2AF6F3272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83F4ED-864E-4A35-B706-C01B8100D2C7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2" name="Rectangle 6">
            <a:extLst>
              <a:ext uri="{FF2B5EF4-FFF2-40B4-BE49-F238E27FC236}">
                <a16:creationId xmlns:a16="http://schemas.microsoft.com/office/drawing/2014/main" id="{79BA2798-1ABF-4BC3-A31B-6C902D772F6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09573" name="Rectangle 7">
            <a:extLst>
              <a:ext uri="{FF2B5EF4-FFF2-40B4-BE49-F238E27FC236}">
                <a16:creationId xmlns:a16="http://schemas.microsoft.com/office/drawing/2014/main" id="{80314C0C-2546-4FC5-BC30-3AAD35AD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8BF8DA-E695-43BD-AC90-542EEC49256D}" type="slidenum">
              <a:rPr lang="en-US" altLang="en-US" smtClean="0">
                <a:latin typeface="Times New Roman" panose="02020603050405020304" pitchFamily="18" charset="0"/>
              </a:rPr>
              <a:pPr/>
              <a:t>56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4" name="Rectangle 2">
            <a:extLst>
              <a:ext uri="{FF2B5EF4-FFF2-40B4-BE49-F238E27FC236}">
                <a16:creationId xmlns:a16="http://schemas.microsoft.com/office/drawing/2014/main" id="{21303ECD-8A3F-403D-890D-CC1E3767B5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5" name="Rectangle 3">
            <a:extLst>
              <a:ext uri="{FF2B5EF4-FFF2-40B4-BE49-F238E27FC236}">
                <a16:creationId xmlns:a16="http://schemas.microsoft.com/office/drawing/2014/main" id="{BE43C896-08FB-4385-907F-777047AB1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F6A0A024-3FD6-49B2-A723-2C49902FDE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9ABBC252-7E99-45CF-A4F5-D0B86DCD19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BBDF0E-0BE2-46D1-9107-CE8918B44477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20" name="Rectangle 6">
            <a:extLst>
              <a:ext uri="{FF2B5EF4-FFF2-40B4-BE49-F238E27FC236}">
                <a16:creationId xmlns:a16="http://schemas.microsoft.com/office/drawing/2014/main" id="{C5F9A934-FEAD-480B-9C9C-6A29E825AD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11621" name="Rectangle 7">
            <a:extLst>
              <a:ext uri="{FF2B5EF4-FFF2-40B4-BE49-F238E27FC236}">
                <a16:creationId xmlns:a16="http://schemas.microsoft.com/office/drawing/2014/main" id="{54744AFF-3669-4ABD-9A18-CD07B95A24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B00F42-88FB-4C77-A262-7D1DCAD82E6F}" type="slidenum">
              <a:rPr lang="en-US" altLang="en-US" smtClean="0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22" name="Rectangle 2">
            <a:extLst>
              <a:ext uri="{FF2B5EF4-FFF2-40B4-BE49-F238E27FC236}">
                <a16:creationId xmlns:a16="http://schemas.microsoft.com/office/drawing/2014/main" id="{640E8B34-65BC-4EBC-BCA6-70B6622724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3" name="Rectangle 3">
            <a:extLst>
              <a:ext uri="{FF2B5EF4-FFF2-40B4-BE49-F238E27FC236}">
                <a16:creationId xmlns:a16="http://schemas.microsoft.com/office/drawing/2014/main" id="{45705044-7A82-4039-BA05-5319E01E0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FD5D9E6D-6539-4C53-A45F-B743B59A32D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DA41AD0-F246-4EAB-88BB-987A021EBEE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76AA96-9502-4AFE-81CA-7123045F17E9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8" name="Rectangle 6">
            <a:extLst>
              <a:ext uri="{FF2B5EF4-FFF2-40B4-BE49-F238E27FC236}">
                <a16:creationId xmlns:a16="http://schemas.microsoft.com/office/drawing/2014/main" id="{82D7A19B-6643-4FB6-875E-0EA46176916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13669" name="Rectangle 7">
            <a:extLst>
              <a:ext uri="{FF2B5EF4-FFF2-40B4-BE49-F238E27FC236}">
                <a16:creationId xmlns:a16="http://schemas.microsoft.com/office/drawing/2014/main" id="{523A13A9-0102-4C8E-9F7B-A92FF71A74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013C2D-3586-4E20-BF08-43B288C43724}" type="slidenum">
              <a:rPr lang="en-US" altLang="en-US" smtClean="0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70" name="Rectangle 2">
            <a:extLst>
              <a:ext uri="{FF2B5EF4-FFF2-40B4-BE49-F238E27FC236}">
                <a16:creationId xmlns:a16="http://schemas.microsoft.com/office/drawing/2014/main" id="{84747956-E628-4B29-9387-1AD8BB377A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71" name="Rectangle 3">
            <a:extLst>
              <a:ext uri="{FF2B5EF4-FFF2-40B4-BE49-F238E27FC236}">
                <a16:creationId xmlns:a16="http://schemas.microsoft.com/office/drawing/2014/main" id="{2474E292-64C4-4812-A17A-DEA593873D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0ED6B1D0-856F-4F40-9E7D-D2F8AB3303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7C571533-4386-4E47-9BCD-F339BBCC7BE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4C005E-5F2D-4B88-86B6-E8618626BC66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6" name="Rectangle 6">
            <a:extLst>
              <a:ext uri="{FF2B5EF4-FFF2-40B4-BE49-F238E27FC236}">
                <a16:creationId xmlns:a16="http://schemas.microsoft.com/office/drawing/2014/main" id="{D5FC2830-D466-49C8-A592-98A2261167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15717" name="Rectangle 7">
            <a:extLst>
              <a:ext uri="{FF2B5EF4-FFF2-40B4-BE49-F238E27FC236}">
                <a16:creationId xmlns:a16="http://schemas.microsoft.com/office/drawing/2014/main" id="{DA7128A3-7E90-41DC-BA77-04C552CEAA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CDDF90-3294-4B07-B696-2D7FD3D9C2E2}" type="slidenum">
              <a:rPr lang="en-US" altLang="en-US" smtClean="0">
                <a:latin typeface="Times New Roman" panose="02020603050405020304" pitchFamily="18" charset="0"/>
              </a:rPr>
              <a:pPr/>
              <a:t>59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8" name="Rectangle 2">
            <a:extLst>
              <a:ext uri="{FF2B5EF4-FFF2-40B4-BE49-F238E27FC236}">
                <a16:creationId xmlns:a16="http://schemas.microsoft.com/office/drawing/2014/main" id="{9CA687DA-B3C2-4AD2-9D16-F7AD3254CC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9" name="Rectangle 3">
            <a:extLst>
              <a:ext uri="{FF2B5EF4-FFF2-40B4-BE49-F238E27FC236}">
                <a16:creationId xmlns:a16="http://schemas.microsoft.com/office/drawing/2014/main" id="{708C0A0A-491E-47CA-8744-07314657D3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55A0FA9-A06D-438D-BD46-83D1A32498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04976601-DE9C-457A-8ECF-31B95E54DD3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53A45A-7293-4BF9-98C0-0D716B148EF5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4" name="Rectangle 6">
            <a:extLst>
              <a:ext uri="{FF2B5EF4-FFF2-40B4-BE49-F238E27FC236}">
                <a16:creationId xmlns:a16="http://schemas.microsoft.com/office/drawing/2014/main" id="{1BE209EC-8EA6-4D53-A486-26761B43598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17765" name="Rectangle 7">
            <a:extLst>
              <a:ext uri="{FF2B5EF4-FFF2-40B4-BE49-F238E27FC236}">
                <a16:creationId xmlns:a16="http://schemas.microsoft.com/office/drawing/2014/main" id="{903A43D7-15A2-4BFF-A4A8-1B3216793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35A01E-42B0-41C7-AB67-C330C96192A6}" type="slidenum">
              <a:rPr lang="en-US" altLang="en-US" smtClean="0">
                <a:latin typeface="Times New Roman" panose="02020603050405020304" pitchFamily="18" charset="0"/>
              </a:rPr>
              <a:pPr/>
              <a:t>60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6" name="Rectangle 2">
            <a:extLst>
              <a:ext uri="{FF2B5EF4-FFF2-40B4-BE49-F238E27FC236}">
                <a16:creationId xmlns:a16="http://schemas.microsoft.com/office/drawing/2014/main" id="{39D5FC13-8EB7-4548-B106-90B06B8738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7" name="Rectangle 3">
            <a:extLst>
              <a:ext uri="{FF2B5EF4-FFF2-40B4-BE49-F238E27FC236}">
                <a16:creationId xmlns:a16="http://schemas.microsoft.com/office/drawing/2014/main" id="{541343A5-B32B-422B-B7C2-26E84E3AE4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8E4512FA-4ECC-4EA9-AB7B-C917CB3DA4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A5B725A-DC81-4AA4-90BF-3A6B87FC435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BF8100-97C1-4DC1-8154-14B845681DF9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2" name="Rectangle 6">
            <a:extLst>
              <a:ext uri="{FF2B5EF4-FFF2-40B4-BE49-F238E27FC236}">
                <a16:creationId xmlns:a16="http://schemas.microsoft.com/office/drawing/2014/main" id="{206AACF0-2145-4903-BD97-C796A1F43F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19813" name="Rectangle 7">
            <a:extLst>
              <a:ext uri="{FF2B5EF4-FFF2-40B4-BE49-F238E27FC236}">
                <a16:creationId xmlns:a16="http://schemas.microsoft.com/office/drawing/2014/main" id="{0FBECD57-E4FF-44BC-8A62-C6026A1935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E87EDF-D668-4419-AE15-9847A689E583}" type="slidenum">
              <a:rPr lang="en-US" altLang="en-US" smtClean="0">
                <a:latin typeface="Times New Roman" panose="02020603050405020304" pitchFamily="18" charset="0"/>
              </a:rPr>
              <a:pPr/>
              <a:t>62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4" name="Rectangle 2">
            <a:extLst>
              <a:ext uri="{FF2B5EF4-FFF2-40B4-BE49-F238E27FC236}">
                <a16:creationId xmlns:a16="http://schemas.microsoft.com/office/drawing/2014/main" id="{F79F7A0D-67A8-476B-B64F-09FC582C2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5" name="Rectangle 3">
            <a:extLst>
              <a:ext uri="{FF2B5EF4-FFF2-40B4-BE49-F238E27FC236}">
                <a16:creationId xmlns:a16="http://schemas.microsoft.com/office/drawing/2014/main" id="{AC59F2F1-6F68-4890-B646-83A9448CCC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6F9FC1B-A2F7-4AD0-93F0-144830B719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2EC4A1C5-1832-442D-88E4-A2229D92554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A2E274-CF9C-4A67-B422-58FF56A0A374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60" name="Rectangle 6">
            <a:extLst>
              <a:ext uri="{FF2B5EF4-FFF2-40B4-BE49-F238E27FC236}">
                <a16:creationId xmlns:a16="http://schemas.microsoft.com/office/drawing/2014/main" id="{DBB2F9CF-C238-48FA-8D93-F7017CBB9D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21861" name="Rectangle 7">
            <a:extLst>
              <a:ext uri="{FF2B5EF4-FFF2-40B4-BE49-F238E27FC236}">
                <a16:creationId xmlns:a16="http://schemas.microsoft.com/office/drawing/2014/main" id="{37812CAA-3257-4A1A-A3E8-7B4B6BF4DA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9376FD-027D-463F-B9A4-CD4C67F3D6C0}" type="slidenum">
              <a:rPr lang="en-US" altLang="en-US" smtClean="0">
                <a:latin typeface="Times New Roman" panose="02020603050405020304" pitchFamily="18" charset="0"/>
              </a:rPr>
              <a:pPr/>
              <a:t>63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62" name="Rectangle 2">
            <a:extLst>
              <a:ext uri="{FF2B5EF4-FFF2-40B4-BE49-F238E27FC236}">
                <a16:creationId xmlns:a16="http://schemas.microsoft.com/office/drawing/2014/main" id="{23D4AC16-DB56-460C-AF21-57E01EA69F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3" name="Rectangle 3">
            <a:extLst>
              <a:ext uri="{FF2B5EF4-FFF2-40B4-BE49-F238E27FC236}">
                <a16:creationId xmlns:a16="http://schemas.microsoft.com/office/drawing/2014/main" id="{42E2C732-95AE-4CF4-8D67-8C2F039FE6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1358427E-D338-4FAD-9EA2-71E91552DB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93A87872-74FE-4DBF-AFEF-750FE8C667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0A416A-5112-4801-8B9B-273A2ED58643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8004" name="Rectangle 6">
            <a:extLst>
              <a:ext uri="{FF2B5EF4-FFF2-40B4-BE49-F238E27FC236}">
                <a16:creationId xmlns:a16="http://schemas.microsoft.com/office/drawing/2014/main" id="{F5292BF8-6512-4DCD-AFE1-070C64B781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28005" name="Rectangle 7">
            <a:extLst>
              <a:ext uri="{FF2B5EF4-FFF2-40B4-BE49-F238E27FC236}">
                <a16:creationId xmlns:a16="http://schemas.microsoft.com/office/drawing/2014/main" id="{24964A56-984C-4499-87CD-6684C92BF8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0ABE98-9F3E-42CF-8C94-0AA8ED791DE8}" type="slidenum">
              <a:rPr lang="en-US" altLang="en-US" smtClean="0">
                <a:latin typeface="Times New Roman" panose="02020603050405020304" pitchFamily="18" charset="0"/>
              </a:rPr>
              <a:pPr/>
              <a:t>64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8006" name="Rectangle 2">
            <a:extLst>
              <a:ext uri="{FF2B5EF4-FFF2-40B4-BE49-F238E27FC236}">
                <a16:creationId xmlns:a16="http://schemas.microsoft.com/office/drawing/2014/main" id="{2A2DFF64-40CB-4EEA-835E-E2AEDB6244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7" name="Rectangle 3">
            <a:extLst>
              <a:ext uri="{FF2B5EF4-FFF2-40B4-BE49-F238E27FC236}">
                <a16:creationId xmlns:a16="http://schemas.microsoft.com/office/drawing/2014/main" id="{7B61FE85-6682-4CC2-BD22-81353A578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79934EDE-0108-4058-8486-A4EE1B46D17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73F388F5-0148-46E0-8843-E33D62AD686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609B33-3036-486E-BC34-9A72248AA1C8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8" name="Rectangle 6">
            <a:extLst>
              <a:ext uri="{FF2B5EF4-FFF2-40B4-BE49-F238E27FC236}">
                <a16:creationId xmlns:a16="http://schemas.microsoft.com/office/drawing/2014/main" id="{100DE22E-CCC6-42C1-A6C3-FE15E73EDA6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23909" name="Rectangle 7">
            <a:extLst>
              <a:ext uri="{FF2B5EF4-FFF2-40B4-BE49-F238E27FC236}">
                <a16:creationId xmlns:a16="http://schemas.microsoft.com/office/drawing/2014/main" id="{72EBE7A1-5C5C-41FF-AD7E-62B5DFCD95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367194-9B84-4500-BDAF-350924F51DC0}" type="slidenum">
              <a:rPr lang="en-US" altLang="en-US" smtClean="0">
                <a:latin typeface="Times New Roman" panose="02020603050405020304" pitchFamily="18" charset="0"/>
              </a:rPr>
              <a:pPr/>
              <a:t>65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10" name="Rectangle 2">
            <a:extLst>
              <a:ext uri="{FF2B5EF4-FFF2-40B4-BE49-F238E27FC236}">
                <a16:creationId xmlns:a16="http://schemas.microsoft.com/office/drawing/2014/main" id="{9C34F6DE-2F51-49E8-A14C-FFF955701D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11" name="Rectangle 3">
            <a:extLst>
              <a:ext uri="{FF2B5EF4-FFF2-40B4-BE49-F238E27FC236}">
                <a16:creationId xmlns:a16="http://schemas.microsoft.com/office/drawing/2014/main" id="{4B81583B-DBDF-4086-B86E-AD733022D6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248B3708-1BA1-4485-8FA1-D8288D354C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F7850685-EC83-4F3B-881B-5691631CA94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7DFF2D4-5252-4767-AAE9-ED868D308A3C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6" name="Rectangle 6">
            <a:extLst>
              <a:ext uri="{FF2B5EF4-FFF2-40B4-BE49-F238E27FC236}">
                <a16:creationId xmlns:a16="http://schemas.microsoft.com/office/drawing/2014/main" id="{F20FA701-1F85-4D77-BD1A-6FA140CF97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25957" name="Rectangle 7">
            <a:extLst>
              <a:ext uri="{FF2B5EF4-FFF2-40B4-BE49-F238E27FC236}">
                <a16:creationId xmlns:a16="http://schemas.microsoft.com/office/drawing/2014/main" id="{7401C39F-71DB-4254-AC17-770F745D2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2C553C-F805-4C60-B3B2-C6DB0F8BFB0D}" type="slidenum">
              <a:rPr lang="en-US" altLang="en-US" smtClean="0">
                <a:latin typeface="Times New Roman" panose="02020603050405020304" pitchFamily="18" charset="0"/>
              </a:rPr>
              <a:pPr/>
              <a:t>66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8" name="Rectangle 2">
            <a:extLst>
              <a:ext uri="{FF2B5EF4-FFF2-40B4-BE49-F238E27FC236}">
                <a16:creationId xmlns:a16="http://schemas.microsoft.com/office/drawing/2014/main" id="{8EB9E8DE-43AE-4079-A871-94BCBD8260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9" name="Rectangle 3">
            <a:extLst>
              <a:ext uri="{FF2B5EF4-FFF2-40B4-BE49-F238E27FC236}">
                <a16:creationId xmlns:a16="http://schemas.microsoft.com/office/drawing/2014/main" id="{22608904-58E3-4EDC-8212-F2E84D798D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A7168B2A-033E-47EA-9793-DFBE4D24FCF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5A401779-30A7-4F7F-9E0A-8E02430A7F1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2A539E-E32C-465A-BDA6-DD78299DCCE1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2" name="Rectangle 6">
            <a:extLst>
              <a:ext uri="{FF2B5EF4-FFF2-40B4-BE49-F238E27FC236}">
                <a16:creationId xmlns:a16="http://schemas.microsoft.com/office/drawing/2014/main" id="{B8DC555F-EC41-4331-9FBD-819B91D28E2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30053" name="Rectangle 7">
            <a:extLst>
              <a:ext uri="{FF2B5EF4-FFF2-40B4-BE49-F238E27FC236}">
                <a16:creationId xmlns:a16="http://schemas.microsoft.com/office/drawing/2014/main" id="{8C3176BD-0345-4659-9C93-8117057EAD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85BF23-F600-458E-8C42-E6C669A27CA9}" type="slidenum">
              <a:rPr lang="en-US" altLang="en-US" smtClean="0">
                <a:latin typeface="Times New Roman" panose="02020603050405020304" pitchFamily="18" charset="0"/>
              </a:rPr>
              <a:pPr/>
              <a:t>67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4" name="Rectangle 2">
            <a:extLst>
              <a:ext uri="{FF2B5EF4-FFF2-40B4-BE49-F238E27FC236}">
                <a16:creationId xmlns:a16="http://schemas.microsoft.com/office/drawing/2014/main" id="{349ECF2D-876B-4F07-ACA7-4130D605F6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5" name="Rectangle 3">
            <a:extLst>
              <a:ext uri="{FF2B5EF4-FFF2-40B4-BE49-F238E27FC236}">
                <a16:creationId xmlns:a16="http://schemas.microsoft.com/office/drawing/2014/main" id="{C9B2D729-23C2-43FA-B02C-E05259BAC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A9DC8F5C-8292-4932-AE29-6BD78DC4AEF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EB84CF81-4941-418D-8C63-617044072D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1779D6-834C-49FF-AC23-40398915F485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100" name="Rectangle 6">
            <a:extLst>
              <a:ext uri="{FF2B5EF4-FFF2-40B4-BE49-F238E27FC236}">
                <a16:creationId xmlns:a16="http://schemas.microsoft.com/office/drawing/2014/main" id="{A6D2DC03-637F-4801-A670-B4330CE755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32101" name="Rectangle 7">
            <a:extLst>
              <a:ext uri="{FF2B5EF4-FFF2-40B4-BE49-F238E27FC236}">
                <a16:creationId xmlns:a16="http://schemas.microsoft.com/office/drawing/2014/main" id="{6FD870CC-3720-4717-882C-88C4409109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3D44B1-59EF-415B-8F61-B7519DBE2C6F}" type="slidenum">
              <a:rPr lang="en-US" altLang="en-US" smtClean="0">
                <a:latin typeface="Times New Roman" panose="02020603050405020304" pitchFamily="18" charset="0"/>
              </a:rPr>
              <a:pPr/>
              <a:t>68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102" name="Rectangle 2">
            <a:extLst>
              <a:ext uri="{FF2B5EF4-FFF2-40B4-BE49-F238E27FC236}">
                <a16:creationId xmlns:a16="http://schemas.microsoft.com/office/drawing/2014/main" id="{6DDBBE4D-3B37-4557-BFB8-107F7877CF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3" name="Rectangle 3">
            <a:extLst>
              <a:ext uri="{FF2B5EF4-FFF2-40B4-BE49-F238E27FC236}">
                <a16:creationId xmlns:a16="http://schemas.microsoft.com/office/drawing/2014/main" id="{6F9F89B8-A2A0-4965-9EE3-6A3A6561AA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C731FD66-2C59-4F26-AA8D-B28FEA4A90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403EFB6C-74F3-47D4-8B66-8C443C81847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5BA646-50B4-4ADB-B5B9-1B30AB05B098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48" name="Rectangle 6">
            <a:extLst>
              <a:ext uri="{FF2B5EF4-FFF2-40B4-BE49-F238E27FC236}">
                <a16:creationId xmlns:a16="http://schemas.microsoft.com/office/drawing/2014/main" id="{C17504E2-6D32-4F25-AFBE-E6F97BB9C0E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34149" name="Rectangle 7">
            <a:extLst>
              <a:ext uri="{FF2B5EF4-FFF2-40B4-BE49-F238E27FC236}">
                <a16:creationId xmlns:a16="http://schemas.microsoft.com/office/drawing/2014/main" id="{30369736-6855-4BFB-9E2A-B30AAC83A5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223C84-ACA2-4AAA-8129-10AA45A7F49C}" type="slidenum">
              <a:rPr lang="en-US" altLang="en-US" smtClean="0">
                <a:latin typeface="Times New Roman" panose="02020603050405020304" pitchFamily="18" charset="0"/>
              </a:rPr>
              <a:pPr/>
              <a:t>69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50" name="Rectangle 2">
            <a:extLst>
              <a:ext uri="{FF2B5EF4-FFF2-40B4-BE49-F238E27FC236}">
                <a16:creationId xmlns:a16="http://schemas.microsoft.com/office/drawing/2014/main" id="{D59172AB-4957-4FD5-BEE4-7F9310DFC0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51" name="Rectangle 3">
            <a:extLst>
              <a:ext uri="{FF2B5EF4-FFF2-40B4-BE49-F238E27FC236}">
                <a16:creationId xmlns:a16="http://schemas.microsoft.com/office/drawing/2014/main" id="{B1C8C577-9242-4C48-931A-C7D44B4BB1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EDBD2B3A-A750-4E20-8DD9-B2FA183E12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6FEA3360-CC56-49A7-9F2D-8F227E972EE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BAAFAA5-EEBA-46A5-86E5-837464749F5F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6" name="Rectangle 6">
            <a:extLst>
              <a:ext uri="{FF2B5EF4-FFF2-40B4-BE49-F238E27FC236}">
                <a16:creationId xmlns:a16="http://schemas.microsoft.com/office/drawing/2014/main" id="{1A407F7B-C809-46A3-BC40-CB08B1DE90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36197" name="Rectangle 7">
            <a:extLst>
              <a:ext uri="{FF2B5EF4-FFF2-40B4-BE49-F238E27FC236}">
                <a16:creationId xmlns:a16="http://schemas.microsoft.com/office/drawing/2014/main" id="{51860EED-DE72-4044-ABA1-8370D542B8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A7DB89-3104-4D6F-96C4-B23D281BB763}" type="slidenum">
              <a:rPr lang="en-US" altLang="en-US" smtClean="0">
                <a:latin typeface="Times New Roman" panose="02020603050405020304" pitchFamily="18" charset="0"/>
              </a:rPr>
              <a:pPr/>
              <a:t>70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8" name="Rectangle 2">
            <a:extLst>
              <a:ext uri="{FF2B5EF4-FFF2-40B4-BE49-F238E27FC236}">
                <a16:creationId xmlns:a16="http://schemas.microsoft.com/office/drawing/2014/main" id="{50A07DBE-7EE9-4F0B-8DEB-0F5756A04F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9" name="Rectangle 3">
            <a:extLst>
              <a:ext uri="{FF2B5EF4-FFF2-40B4-BE49-F238E27FC236}">
                <a16:creationId xmlns:a16="http://schemas.microsoft.com/office/drawing/2014/main" id="{D19CBF61-A396-4AA4-A958-6A138F351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1FB9E023-D2F7-47A7-B58D-92DF8E577F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38BF809E-FBD2-4945-8274-BA6A89E54CC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A61FB2-D47F-4CFF-8E56-F9ADCA322414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4" name="Rectangle 6">
            <a:extLst>
              <a:ext uri="{FF2B5EF4-FFF2-40B4-BE49-F238E27FC236}">
                <a16:creationId xmlns:a16="http://schemas.microsoft.com/office/drawing/2014/main" id="{4312EBD4-F321-4BFA-86AC-D21817D701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38245" name="Rectangle 7">
            <a:extLst>
              <a:ext uri="{FF2B5EF4-FFF2-40B4-BE49-F238E27FC236}">
                <a16:creationId xmlns:a16="http://schemas.microsoft.com/office/drawing/2014/main" id="{F72EC67F-A519-460E-A124-702977BA7F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98F685-12FE-449B-8009-138BFCEB8AA9}" type="slidenum">
              <a:rPr lang="en-US" altLang="en-US" smtClean="0">
                <a:latin typeface="Times New Roman" panose="02020603050405020304" pitchFamily="18" charset="0"/>
              </a:rPr>
              <a:pPr/>
              <a:t>72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6" name="Rectangle 2">
            <a:extLst>
              <a:ext uri="{FF2B5EF4-FFF2-40B4-BE49-F238E27FC236}">
                <a16:creationId xmlns:a16="http://schemas.microsoft.com/office/drawing/2014/main" id="{161BFFBF-951A-4049-8346-208FFFCE49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7" name="Rectangle 3">
            <a:extLst>
              <a:ext uri="{FF2B5EF4-FFF2-40B4-BE49-F238E27FC236}">
                <a16:creationId xmlns:a16="http://schemas.microsoft.com/office/drawing/2014/main" id="{06BADE0E-1738-4C59-9E64-AD0FF17D0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F16FF039-B511-48CA-AB7B-AC4E0D17895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2E0E6BE9-AE9D-47F0-A78A-FB0E1B3F62A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6E180B-5691-4257-A290-6DB36671017D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2" name="Rectangle 6">
            <a:extLst>
              <a:ext uri="{FF2B5EF4-FFF2-40B4-BE49-F238E27FC236}">
                <a16:creationId xmlns:a16="http://schemas.microsoft.com/office/drawing/2014/main" id="{BFEF3D85-101A-431C-9602-CA33EBBA9EB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40293" name="Rectangle 7">
            <a:extLst>
              <a:ext uri="{FF2B5EF4-FFF2-40B4-BE49-F238E27FC236}">
                <a16:creationId xmlns:a16="http://schemas.microsoft.com/office/drawing/2014/main" id="{04947790-640F-40B8-839F-76B35A52F4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4ECB11-E029-42A4-81C3-5800531DEFDA}" type="slidenum">
              <a:rPr lang="en-US" altLang="en-US" smtClean="0">
                <a:latin typeface="Times New Roman" panose="02020603050405020304" pitchFamily="18" charset="0"/>
              </a:rPr>
              <a:pPr/>
              <a:t>73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4" name="Rectangle 2">
            <a:extLst>
              <a:ext uri="{FF2B5EF4-FFF2-40B4-BE49-F238E27FC236}">
                <a16:creationId xmlns:a16="http://schemas.microsoft.com/office/drawing/2014/main" id="{D87EC797-22D4-4467-805D-9729447B8A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5" name="Rectangle 3">
            <a:extLst>
              <a:ext uri="{FF2B5EF4-FFF2-40B4-BE49-F238E27FC236}">
                <a16:creationId xmlns:a16="http://schemas.microsoft.com/office/drawing/2014/main" id="{E0542C6B-4232-4E42-AC86-FFD7F8DCE5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030B05C1-4CB9-47B6-90E9-9B9F9D7D3F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43A864E7-552C-40C6-93E9-369CD2CF0AB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F6713F-5B74-4B48-8A9B-8D085F1AEF2A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40" name="Rectangle 6">
            <a:extLst>
              <a:ext uri="{FF2B5EF4-FFF2-40B4-BE49-F238E27FC236}">
                <a16:creationId xmlns:a16="http://schemas.microsoft.com/office/drawing/2014/main" id="{0D43A954-A23C-4E30-9B7D-CCAE313AEF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42341" name="Rectangle 7">
            <a:extLst>
              <a:ext uri="{FF2B5EF4-FFF2-40B4-BE49-F238E27FC236}">
                <a16:creationId xmlns:a16="http://schemas.microsoft.com/office/drawing/2014/main" id="{962BAA23-9006-41B1-BDE6-A2DD16A460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7950DE-4F7B-4B82-BB76-8D35E0A83560}" type="slidenum">
              <a:rPr lang="en-US" altLang="en-US" smtClean="0">
                <a:latin typeface="Times New Roman" panose="02020603050405020304" pitchFamily="18" charset="0"/>
              </a:rPr>
              <a:pPr/>
              <a:t>74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42" name="Rectangle 2">
            <a:extLst>
              <a:ext uri="{FF2B5EF4-FFF2-40B4-BE49-F238E27FC236}">
                <a16:creationId xmlns:a16="http://schemas.microsoft.com/office/drawing/2014/main" id="{7AD06D3C-A84F-443E-9D6A-CB87D5270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3" name="Rectangle 3">
            <a:extLst>
              <a:ext uri="{FF2B5EF4-FFF2-40B4-BE49-F238E27FC236}">
                <a16:creationId xmlns:a16="http://schemas.microsoft.com/office/drawing/2014/main" id="{1D5F2426-86A4-4F43-B01D-B4AD24826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D93AACCA-3C5F-45CA-92CB-EBE4A9E1FEA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2BE37839-8AF4-4925-A1CB-D71418CA666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C517C1-1C66-477A-BBB7-30EDA13B6932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8" name="Rectangle 6">
            <a:extLst>
              <a:ext uri="{FF2B5EF4-FFF2-40B4-BE49-F238E27FC236}">
                <a16:creationId xmlns:a16="http://schemas.microsoft.com/office/drawing/2014/main" id="{0AF4B08D-6752-435F-B1A6-F25FAE4476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44389" name="Rectangle 7">
            <a:extLst>
              <a:ext uri="{FF2B5EF4-FFF2-40B4-BE49-F238E27FC236}">
                <a16:creationId xmlns:a16="http://schemas.microsoft.com/office/drawing/2014/main" id="{43C8715F-A80C-4188-8DDB-78D7B1ECC6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7C1F57-2161-4D27-B434-D5A6744E5876}" type="slidenum">
              <a:rPr lang="en-US" altLang="en-US" smtClean="0">
                <a:latin typeface="Times New Roman" panose="02020603050405020304" pitchFamily="18" charset="0"/>
              </a:rPr>
              <a:pPr/>
              <a:t>75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90" name="Rectangle 2">
            <a:extLst>
              <a:ext uri="{FF2B5EF4-FFF2-40B4-BE49-F238E27FC236}">
                <a16:creationId xmlns:a16="http://schemas.microsoft.com/office/drawing/2014/main" id="{EC427424-D494-44CA-BE72-A4BB3788BF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91" name="Rectangle 3">
            <a:extLst>
              <a:ext uri="{FF2B5EF4-FFF2-40B4-BE49-F238E27FC236}">
                <a16:creationId xmlns:a16="http://schemas.microsoft.com/office/drawing/2014/main" id="{D421C7FB-D108-4F87-8D8F-59F0AAEEF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10E87B49-63F6-4F16-A377-6FA1AF8A3A0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2DF5199B-B061-4A28-B758-5523F2960E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591EB9-32DF-49CF-B4A7-7D8B7144D588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6436" name="Rectangle 6">
            <a:extLst>
              <a:ext uri="{FF2B5EF4-FFF2-40B4-BE49-F238E27FC236}">
                <a16:creationId xmlns:a16="http://schemas.microsoft.com/office/drawing/2014/main" id="{913505CD-3796-4CB8-8F2F-494C7DFB15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46437" name="Rectangle 7">
            <a:extLst>
              <a:ext uri="{FF2B5EF4-FFF2-40B4-BE49-F238E27FC236}">
                <a16:creationId xmlns:a16="http://schemas.microsoft.com/office/drawing/2014/main" id="{2E5266C6-10A3-4EAE-BD90-8A8E92472A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0D7C85-DD2F-478D-BC2D-052EF145880A}" type="slidenum">
              <a:rPr lang="en-US" altLang="en-US" smtClean="0">
                <a:latin typeface="Times New Roman" panose="02020603050405020304" pitchFamily="18" charset="0"/>
              </a:rPr>
              <a:pPr/>
              <a:t>76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6438" name="Rectangle 2">
            <a:extLst>
              <a:ext uri="{FF2B5EF4-FFF2-40B4-BE49-F238E27FC236}">
                <a16:creationId xmlns:a16="http://schemas.microsoft.com/office/drawing/2014/main" id="{D1D14ADB-987E-423D-AB1C-5DD5376774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9" name="Rectangle 3">
            <a:extLst>
              <a:ext uri="{FF2B5EF4-FFF2-40B4-BE49-F238E27FC236}">
                <a16:creationId xmlns:a16="http://schemas.microsoft.com/office/drawing/2014/main" id="{A3944957-6150-4AD4-BFB7-C6779D4AD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99E01C95-D237-41CF-B6D8-E2336873E5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547A53E1-5019-4F78-AD7A-BEE672C550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6CC249-A3B6-4EA1-9477-1BEAB30BF4D0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4" name="Rectangle 6">
            <a:extLst>
              <a:ext uri="{FF2B5EF4-FFF2-40B4-BE49-F238E27FC236}">
                <a16:creationId xmlns:a16="http://schemas.microsoft.com/office/drawing/2014/main" id="{3A6546C2-B797-4EAF-B02E-A4E9F6D466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48485" name="Rectangle 7">
            <a:extLst>
              <a:ext uri="{FF2B5EF4-FFF2-40B4-BE49-F238E27FC236}">
                <a16:creationId xmlns:a16="http://schemas.microsoft.com/office/drawing/2014/main" id="{076C0C37-B487-407B-8369-AF9A305D93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582C22-E08F-4C5B-B67F-FD15CB512D4A}" type="slidenum">
              <a:rPr lang="en-US" altLang="en-US" smtClean="0">
                <a:latin typeface="Times New Roman" panose="02020603050405020304" pitchFamily="18" charset="0"/>
              </a:rPr>
              <a:pPr/>
              <a:t>77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6" name="Rectangle 2">
            <a:extLst>
              <a:ext uri="{FF2B5EF4-FFF2-40B4-BE49-F238E27FC236}">
                <a16:creationId xmlns:a16="http://schemas.microsoft.com/office/drawing/2014/main" id="{E3FA297F-03A4-400E-9F08-A9C88DA7B2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7" name="Rectangle 3">
            <a:extLst>
              <a:ext uri="{FF2B5EF4-FFF2-40B4-BE49-F238E27FC236}">
                <a16:creationId xmlns:a16="http://schemas.microsoft.com/office/drawing/2014/main" id="{3F2D409F-3D19-4C58-94F3-C4452DCB67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B8880093-EC81-4E8B-9019-E2FB53DDFE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7CBD1899-7DBF-48C0-9D3F-0BBD4C895B9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F5C1B2-6504-4A0A-A63E-C22551340BA3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2" name="Rectangle 6">
            <a:extLst>
              <a:ext uri="{FF2B5EF4-FFF2-40B4-BE49-F238E27FC236}">
                <a16:creationId xmlns:a16="http://schemas.microsoft.com/office/drawing/2014/main" id="{F6C0F6DE-DFAF-411A-BF42-7B1050DDDC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50533" name="Rectangle 7">
            <a:extLst>
              <a:ext uri="{FF2B5EF4-FFF2-40B4-BE49-F238E27FC236}">
                <a16:creationId xmlns:a16="http://schemas.microsoft.com/office/drawing/2014/main" id="{2FEB2120-FDF6-4528-BBAC-9F928C1171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3F2321-2D4C-489F-98A5-9E864EEAC907}" type="slidenum">
              <a:rPr lang="en-US" altLang="en-US" smtClean="0">
                <a:latin typeface="Times New Roman" panose="02020603050405020304" pitchFamily="18" charset="0"/>
              </a:rPr>
              <a:pPr/>
              <a:t>78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4" name="Rectangle 2">
            <a:extLst>
              <a:ext uri="{FF2B5EF4-FFF2-40B4-BE49-F238E27FC236}">
                <a16:creationId xmlns:a16="http://schemas.microsoft.com/office/drawing/2014/main" id="{A4C6CE29-0861-4B10-8227-DCDF405706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5" name="Rectangle 3">
            <a:extLst>
              <a:ext uri="{FF2B5EF4-FFF2-40B4-BE49-F238E27FC236}">
                <a16:creationId xmlns:a16="http://schemas.microsoft.com/office/drawing/2014/main" id="{835C3B2D-EF2C-4A96-B61A-1E1E4AF681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AD3ABD06-D20B-4943-BA05-E822B855101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56AA2FC6-CE01-4CF5-9105-9C1C3DFCB99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CDC9C3-7891-4FB8-A17C-F9E34B6101C9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80" name="Rectangle 6">
            <a:extLst>
              <a:ext uri="{FF2B5EF4-FFF2-40B4-BE49-F238E27FC236}">
                <a16:creationId xmlns:a16="http://schemas.microsoft.com/office/drawing/2014/main" id="{C25F5021-E872-4499-98E2-0B9C3742B0E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52581" name="Rectangle 7">
            <a:extLst>
              <a:ext uri="{FF2B5EF4-FFF2-40B4-BE49-F238E27FC236}">
                <a16:creationId xmlns:a16="http://schemas.microsoft.com/office/drawing/2014/main" id="{98D7D534-A5FD-49DC-8CEF-4B1B674B62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E935B4-A1C3-4653-8AB1-BC57F054C30F}" type="slidenum">
              <a:rPr lang="en-US" altLang="en-US" smtClean="0">
                <a:latin typeface="Times New Roman" panose="02020603050405020304" pitchFamily="18" charset="0"/>
              </a:rPr>
              <a:pPr/>
              <a:t>79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82" name="Rectangle 2">
            <a:extLst>
              <a:ext uri="{FF2B5EF4-FFF2-40B4-BE49-F238E27FC236}">
                <a16:creationId xmlns:a16="http://schemas.microsoft.com/office/drawing/2014/main" id="{F8B86596-5E1B-47BC-B6F0-D0D945E0E0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3" name="Rectangle 3">
            <a:extLst>
              <a:ext uri="{FF2B5EF4-FFF2-40B4-BE49-F238E27FC236}">
                <a16:creationId xmlns:a16="http://schemas.microsoft.com/office/drawing/2014/main" id="{4AE8E411-DE1F-4F84-BB18-E61FF4F45C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DA9EB0D2-7EFF-48B2-A17E-0D84401F91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D7D39614-98F1-4D57-95F6-3635792473B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627919-0788-442E-8912-6F8DBE70D07A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2" name="Rectangle 6">
            <a:extLst>
              <a:ext uri="{FF2B5EF4-FFF2-40B4-BE49-F238E27FC236}">
                <a16:creationId xmlns:a16="http://schemas.microsoft.com/office/drawing/2014/main" id="{D5BF9481-A652-4C19-A1B1-2B7D4131D5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55653" name="Rectangle 7">
            <a:extLst>
              <a:ext uri="{FF2B5EF4-FFF2-40B4-BE49-F238E27FC236}">
                <a16:creationId xmlns:a16="http://schemas.microsoft.com/office/drawing/2014/main" id="{4A9C0B41-9DF1-48B5-A03C-275B119446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7C39DD-8B00-4AE5-808B-FC6B71EF1493}" type="slidenum">
              <a:rPr lang="en-US" altLang="en-US" smtClean="0">
                <a:latin typeface="Times New Roman" panose="02020603050405020304" pitchFamily="18" charset="0"/>
              </a:rPr>
              <a:pPr/>
              <a:t>81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4" name="Rectangle 2">
            <a:extLst>
              <a:ext uri="{FF2B5EF4-FFF2-40B4-BE49-F238E27FC236}">
                <a16:creationId xmlns:a16="http://schemas.microsoft.com/office/drawing/2014/main" id="{54F07AD4-4D82-4822-9361-F929B19CE3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5" name="Rectangle 3">
            <a:extLst>
              <a:ext uri="{FF2B5EF4-FFF2-40B4-BE49-F238E27FC236}">
                <a16:creationId xmlns:a16="http://schemas.microsoft.com/office/drawing/2014/main" id="{4658C183-BF79-48DA-9ECC-064029D96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3B0BCD8F-0352-42AC-B1CE-CBB1001FE7E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3871EF23-4251-41B5-A7D4-A82E1524E9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EC3F51-12B6-4D27-853F-53A0781711C8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7700" name="Rectangle 6">
            <a:extLst>
              <a:ext uri="{FF2B5EF4-FFF2-40B4-BE49-F238E27FC236}">
                <a16:creationId xmlns:a16="http://schemas.microsoft.com/office/drawing/2014/main" id="{60C41508-A1B1-4E92-8811-0692F5C1FD5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57701" name="Rectangle 7">
            <a:extLst>
              <a:ext uri="{FF2B5EF4-FFF2-40B4-BE49-F238E27FC236}">
                <a16:creationId xmlns:a16="http://schemas.microsoft.com/office/drawing/2014/main" id="{4DC422BD-4073-40D5-AFD8-D70C29C41A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57C1A4-8FB5-4289-A542-627561399A83}" type="slidenum">
              <a:rPr lang="en-US" altLang="en-US" smtClean="0">
                <a:latin typeface="Times New Roman" panose="02020603050405020304" pitchFamily="18" charset="0"/>
              </a:rPr>
              <a:pPr/>
              <a:t>82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7702" name="Rectangle 2">
            <a:extLst>
              <a:ext uri="{FF2B5EF4-FFF2-40B4-BE49-F238E27FC236}">
                <a16:creationId xmlns:a16="http://schemas.microsoft.com/office/drawing/2014/main" id="{6511C6DC-CDAE-4943-AEE9-68AD771499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3" name="Rectangle 3">
            <a:extLst>
              <a:ext uri="{FF2B5EF4-FFF2-40B4-BE49-F238E27FC236}">
                <a16:creationId xmlns:a16="http://schemas.microsoft.com/office/drawing/2014/main" id="{9A0FE313-617B-44DB-8318-6ADDCB933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C271224C-EBDE-4021-8352-E05F717810E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CAF5933E-3849-4D0F-A7EC-B452AC2661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7E6B42-5E36-42AB-933C-2DBFF2EB3C6C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9748" name="Rectangle 6">
            <a:extLst>
              <a:ext uri="{FF2B5EF4-FFF2-40B4-BE49-F238E27FC236}">
                <a16:creationId xmlns:a16="http://schemas.microsoft.com/office/drawing/2014/main" id="{BD56C7E3-F0DB-430F-B2D7-D6D0C76858C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59749" name="Rectangle 7">
            <a:extLst>
              <a:ext uri="{FF2B5EF4-FFF2-40B4-BE49-F238E27FC236}">
                <a16:creationId xmlns:a16="http://schemas.microsoft.com/office/drawing/2014/main" id="{209BF46E-52CD-4E29-8864-EC77D11AE8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C7338F-E0B0-4A3E-95BD-DFEB0D3CD0AF}" type="slidenum">
              <a:rPr lang="en-US" altLang="en-US" smtClean="0">
                <a:latin typeface="Times New Roman" panose="02020603050405020304" pitchFamily="18" charset="0"/>
              </a:rPr>
              <a:pPr/>
              <a:t>83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9750" name="Rectangle 2">
            <a:extLst>
              <a:ext uri="{FF2B5EF4-FFF2-40B4-BE49-F238E27FC236}">
                <a16:creationId xmlns:a16="http://schemas.microsoft.com/office/drawing/2014/main" id="{41A240ED-C30A-45B6-BFC0-8C68435F56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51" name="Rectangle 3">
            <a:extLst>
              <a:ext uri="{FF2B5EF4-FFF2-40B4-BE49-F238E27FC236}">
                <a16:creationId xmlns:a16="http://schemas.microsoft.com/office/drawing/2014/main" id="{F0683BFE-9F98-4D45-B4A9-BCC3CF1542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9D971ADA-25F4-4BA1-9ED0-9DA0AAF98D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AE2C61D2-5650-4776-9FB7-BDD45CB20C7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DC59A4-0200-42A4-9DED-819EB57A14C0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1796" name="Rectangle 6">
            <a:extLst>
              <a:ext uri="{FF2B5EF4-FFF2-40B4-BE49-F238E27FC236}">
                <a16:creationId xmlns:a16="http://schemas.microsoft.com/office/drawing/2014/main" id="{1A7F9BAA-93B3-4696-B728-4464F79A58B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1797" name="Rectangle 7">
            <a:extLst>
              <a:ext uri="{FF2B5EF4-FFF2-40B4-BE49-F238E27FC236}">
                <a16:creationId xmlns:a16="http://schemas.microsoft.com/office/drawing/2014/main" id="{62310FE2-6863-446E-9404-45CC478299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2F5651-42A5-40E3-A256-2F73840510C2}" type="slidenum">
              <a:rPr lang="en-US" altLang="en-US" smtClean="0">
                <a:latin typeface="Times New Roman" panose="02020603050405020304" pitchFamily="18" charset="0"/>
              </a:rPr>
              <a:pPr/>
              <a:t>84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1798" name="Rectangle 2">
            <a:extLst>
              <a:ext uri="{FF2B5EF4-FFF2-40B4-BE49-F238E27FC236}">
                <a16:creationId xmlns:a16="http://schemas.microsoft.com/office/drawing/2014/main" id="{D356BB67-2C45-4D78-8694-F6B5CF483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9" name="Rectangle 3">
            <a:extLst>
              <a:ext uri="{FF2B5EF4-FFF2-40B4-BE49-F238E27FC236}">
                <a16:creationId xmlns:a16="http://schemas.microsoft.com/office/drawing/2014/main" id="{FD41DAF2-00CD-4C31-9197-AB921C77AE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4DFCA867-AF8A-405D-9613-E665F462D7E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573A9F70-5295-44D7-8AC6-F0F7E0D4EB2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49EDEE-67EA-453D-8D73-46D6378B40E0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44" name="Rectangle 6">
            <a:extLst>
              <a:ext uri="{FF2B5EF4-FFF2-40B4-BE49-F238E27FC236}">
                <a16:creationId xmlns:a16="http://schemas.microsoft.com/office/drawing/2014/main" id="{84EB0AE9-265A-47B4-9A35-E3D38C84C8B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3845" name="Rectangle 7">
            <a:extLst>
              <a:ext uri="{FF2B5EF4-FFF2-40B4-BE49-F238E27FC236}">
                <a16:creationId xmlns:a16="http://schemas.microsoft.com/office/drawing/2014/main" id="{C8BE83E6-07EA-48A3-B3F4-B5D95D021C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95500D-6B92-4249-8734-A64A5CB9FB3E}" type="slidenum">
              <a:rPr lang="en-US" altLang="en-US" smtClean="0">
                <a:latin typeface="Times New Roman" panose="02020603050405020304" pitchFamily="18" charset="0"/>
              </a:rPr>
              <a:pPr/>
              <a:t>85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46" name="Rectangle 2">
            <a:extLst>
              <a:ext uri="{FF2B5EF4-FFF2-40B4-BE49-F238E27FC236}">
                <a16:creationId xmlns:a16="http://schemas.microsoft.com/office/drawing/2014/main" id="{777362BF-710F-4A30-BF9F-80E931B6DE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7" name="Rectangle 3">
            <a:extLst>
              <a:ext uri="{FF2B5EF4-FFF2-40B4-BE49-F238E27FC236}">
                <a16:creationId xmlns:a16="http://schemas.microsoft.com/office/drawing/2014/main" id="{638EE462-2B3F-477B-80CC-6CB5D4BDAE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A31E1CEC-4829-429A-A701-B26BD7CFAD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95BABEDE-7774-46E0-A3F1-8EE9A974F2F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BEBBBA-2F7D-425F-86C8-53E432B794A8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5892" name="Rectangle 6">
            <a:extLst>
              <a:ext uri="{FF2B5EF4-FFF2-40B4-BE49-F238E27FC236}">
                <a16:creationId xmlns:a16="http://schemas.microsoft.com/office/drawing/2014/main" id="{1D7B246F-ED58-48AA-9800-0FC58FD146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5893" name="Rectangle 7">
            <a:extLst>
              <a:ext uri="{FF2B5EF4-FFF2-40B4-BE49-F238E27FC236}">
                <a16:creationId xmlns:a16="http://schemas.microsoft.com/office/drawing/2014/main" id="{A8C63F86-2DD7-4045-A47D-DC42C63FBF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CDC7E5-0C11-4C06-8E29-340642EF79B6}" type="slidenum">
              <a:rPr lang="en-US" altLang="en-US" smtClean="0">
                <a:latin typeface="Times New Roman" panose="02020603050405020304" pitchFamily="18" charset="0"/>
              </a:rPr>
              <a:pPr/>
              <a:t>86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5894" name="Rectangle 2">
            <a:extLst>
              <a:ext uri="{FF2B5EF4-FFF2-40B4-BE49-F238E27FC236}">
                <a16:creationId xmlns:a16="http://schemas.microsoft.com/office/drawing/2014/main" id="{6516D444-A25E-474C-BCC0-EAEC48B902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5" name="Rectangle 3">
            <a:extLst>
              <a:ext uri="{FF2B5EF4-FFF2-40B4-BE49-F238E27FC236}">
                <a16:creationId xmlns:a16="http://schemas.microsoft.com/office/drawing/2014/main" id="{031378EE-4076-41F1-B793-66E4B6810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93FCC6BC-8D07-4E9F-ABBD-7C0CA50004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C532D3EC-C10F-42E7-AE8D-FB11C8D0D1F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B95926-F450-4F31-ABA4-E614C6CCF3AB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7940" name="Rectangle 6">
            <a:extLst>
              <a:ext uri="{FF2B5EF4-FFF2-40B4-BE49-F238E27FC236}">
                <a16:creationId xmlns:a16="http://schemas.microsoft.com/office/drawing/2014/main" id="{2BDE41B7-6542-4857-AAD9-8F9F050A364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7941" name="Rectangle 7">
            <a:extLst>
              <a:ext uri="{FF2B5EF4-FFF2-40B4-BE49-F238E27FC236}">
                <a16:creationId xmlns:a16="http://schemas.microsoft.com/office/drawing/2014/main" id="{757A9605-D6A6-4FA6-8701-74AA65D72B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48850C-EE95-48B5-BE36-3D66310521A8}" type="slidenum">
              <a:rPr lang="en-US" altLang="en-US" smtClean="0">
                <a:latin typeface="Times New Roman" panose="02020603050405020304" pitchFamily="18" charset="0"/>
              </a:rPr>
              <a:pPr/>
              <a:t>87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7942" name="Rectangle 2">
            <a:extLst>
              <a:ext uri="{FF2B5EF4-FFF2-40B4-BE49-F238E27FC236}">
                <a16:creationId xmlns:a16="http://schemas.microsoft.com/office/drawing/2014/main" id="{83CA92DD-DF47-47A3-BD6E-5B0431A602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3" name="Rectangle 3">
            <a:extLst>
              <a:ext uri="{FF2B5EF4-FFF2-40B4-BE49-F238E27FC236}">
                <a16:creationId xmlns:a16="http://schemas.microsoft.com/office/drawing/2014/main" id="{02553634-C69F-4C55-B216-88691FB2B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0F0D362F-EB62-4172-93E4-EFC4112A19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A5FCEB0A-4300-46FC-9061-6F17ABA14E7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E88FC2-30D4-4C83-9B48-874CFF3FE350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9988" name="Rectangle 6">
            <a:extLst>
              <a:ext uri="{FF2B5EF4-FFF2-40B4-BE49-F238E27FC236}">
                <a16:creationId xmlns:a16="http://schemas.microsoft.com/office/drawing/2014/main" id="{C502F328-24B2-4FCC-AF9B-56B96AB48AB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9989" name="Rectangle 7">
            <a:extLst>
              <a:ext uri="{FF2B5EF4-FFF2-40B4-BE49-F238E27FC236}">
                <a16:creationId xmlns:a16="http://schemas.microsoft.com/office/drawing/2014/main" id="{5488EA00-4FBC-4E06-B1E9-852360379B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D2A5E9-C789-4B99-AC7F-AFBB5B98506B}" type="slidenum">
              <a:rPr lang="en-US" altLang="en-US" smtClean="0">
                <a:latin typeface="Times New Roman" panose="02020603050405020304" pitchFamily="18" charset="0"/>
              </a:rPr>
              <a:pPr/>
              <a:t>88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9990" name="Rectangle 2">
            <a:extLst>
              <a:ext uri="{FF2B5EF4-FFF2-40B4-BE49-F238E27FC236}">
                <a16:creationId xmlns:a16="http://schemas.microsoft.com/office/drawing/2014/main" id="{8E4D7109-873D-44E5-B202-9E6A3DC52B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91" name="Rectangle 3">
            <a:extLst>
              <a:ext uri="{FF2B5EF4-FFF2-40B4-BE49-F238E27FC236}">
                <a16:creationId xmlns:a16="http://schemas.microsoft.com/office/drawing/2014/main" id="{396C568F-E062-4C3D-998B-D3CC04A2F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E5BE4D1C-5D35-4A8B-9CCF-1933812E3D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1D172A24-9965-4D05-8F4A-8A78EF75F8C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0A904A-4E28-4685-BF89-00CF8DD6F7C0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2036" name="Rectangle 6">
            <a:extLst>
              <a:ext uri="{FF2B5EF4-FFF2-40B4-BE49-F238E27FC236}">
                <a16:creationId xmlns:a16="http://schemas.microsoft.com/office/drawing/2014/main" id="{D65D7D34-3735-45D3-8CF9-D626F140AA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2037" name="Rectangle 7">
            <a:extLst>
              <a:ext uri="{FF2B5EF4-FFF2-40B4-BE49-F238E27FC236}">
                <a16:creationId xmlns:a16="http://schemas.microsoft.com/office/drawing/2014/main" id="{4B1FC92F-8143-4936-BFB9-0199DAC006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73E443-F4F5-4B78-8B8E-3389B1BA6140}" type="slidenum">
              <a:rPr lang="en-US" altLang="en-US" smtClean="0">
                <a:latin typeface="Times New Roman" panose="02020603050405020304" pitchFamily="18" charset="0"/>
              </a:rPr>
              <a:pPr/>
              <a:t>89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2038" name="Rectangle 2">
            <a:extLst>
              <a:ext uri="{FF2B5EF4-FFF2-40B4-BE49-F238E27FC236}">
                <a16:creationId xmlns:a16="http://schemas.microsoft.com/office/drawing/2014/main" id="{3D185AF2-1139-4AC3-B811-CD32E63835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9" name="Rectangle 3">
            <a:extLst>
              <a:ext uri="{FF2B5EF4-FFF2-40B4-BE49-F238E27FC236}">
                <a16:creationId xmlns:a16="http://schemas.microsoft.com/office/drawing/2014/main" id="{6AF85E8E-1436-432A-B6C2-A16B060AD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EABC78B9-FB80-4C05-820E-BE676AC912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8DEFE763-58D9-4B63-AF0D-AE821189C2B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9E8FF7-BD14-4C49-B521-E91776359215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084" name="Rectangle 6">
            <a:extLst>
              <a:ext uri="{FF2B5EF4-FFF2-40B4-BE49-F238E27FC236}">
                <a16:creationId xmlns:a16="http://schemas.microsoft.com/office/drawing/2014/main" id="{90156050-271A-40C3-8717-FB4DBA3308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4085" name="Rectangle 7">
            <a:extLst>
              <a:ext uri="{FF2B5EF4-FFF2-40B4-BE49-F238E27FC236}">
                <a16:creationId xmlns:a16="http://schemas.microsoft.com/office/drawing/2014/main" id="{4468F959-F176-4A07-8C9D-824EAF2FE1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3B11F6-D8E2-4B7B-AFB8-8EAFCE5FB916}" type="slidenum">
              <a:rPr lang="en-US" altLang="en-US" smtClean="0">
                <a:latin typeface="Times New Roman" panose="02020603050405020304" pitchFamily="18" charset="0"/>
              </a:rPr>
              <a:pPr/>
              <a:t>90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086" name="Rectangle 2">
            <a:extLst>
              <a:ext uri="{FF2B5EF4-FFF2-40B4-BE49-F238E27FC236}">
                <a16:creationId xmlns:a16="http://schemas.microsoft.com/office/drawing/2014/main" id="{E51FB9D1-BED9-4A0A-AE54-76E9EA582E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7" name="Rectangle 3">
            <a:extLst>
              <a:ext uri="{FF2B5EF4-FFF2-40B4-BE49-F238E27FC236}">
                <a16:creationId xmlns:a16="http://schemas.microsoft.com/office/drawing/2014/main" id="{7CA1F85A-E502-47DC-86B1-2EC0E367B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11D77F71-A36E-4A76-906A-CC95240A878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A64EA9BC-03F7-4B0C-8E89-E399BFC3459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094268-7C81-4C0D-A789-08DED47A45C2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6132" name="Rectangle 6">
            <a:extLst>
              <a:ext uri="{FF2B5EF4-FFF2-40B4-BE49-F238E27FC236}">
                <a16:creationId xmlns:a16="http://schemas.microsoft.com/office/drawing/2014/main" id="{1B6EB935-A8BB-4FA4-A25A-68C5D84FE6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6133" name="Rectangle 7">
            <a:extLst>
              <a:ext uri="{FF2B5EF4-FFF2-40B4-BE49-F238E27FC236}">
                <a16:creationId xmlns:a16="http://schemas.microsoft.com/office/drawing/2014/main" id="{83D24F93-FF5D-4798-AD39-AC84A43446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3FFEBD-1175-49D7-99AD-7CE5CFDF6654}" type="slidenum">
              <a:rPr lang="en-US" altLang="en-US" smtClean="0">
                <a:latin typeface="Times New Roman" panose="02020603050405020304" pitchFamily="18" charset="0"/>
              </a:rPr>
              <a:pPr/>
              <a:t>91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6134" name="Rectangle 2">
            <a:extLst>
              <a:ext uri="{FF2B5EF4-FFF2-40B4-BE49-F238E27FC236}">
                <a16:creationId xmlns:a16="http://schemas.microsoft.com/office/drawing/2014/main" id="{1616D2FC-AFBE-4C4B-AFF3-368B787689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5" name="Rectangle 3">
            <a:extLst>
              <a:ext uri="{FF2B5EF4-FFF2-40B4-BE49-F238E27FC236}">
                <a16:creationId xmlns:a16="http://schemas.microsoft.com/office/drawing/2014/main" id="{848D82E2-F426-4C42-BD6F-9032AD7AA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3F3DCEFE-C313-4CAA-B935-DD7406DC17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ECD99972-710E-4FA7-9BCB-D4AF67839B7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138A46-BCD8-4D4A-B605-6B0AFB80A975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8180" name="Rectangle 6">
            <a:extLst>
              <a:ext uri="{FF2B5EF4-FFF2-40B4-BE49-F238E27FC236}">
                <a16:creationId xmlns:a16="http://schemas.microsoft.com/office/drawing/2014/main" id="{D5242758-8451-429E-87EF-DC566FD393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8181" name="Rectangle 7">
            <a:extLst>
              <a:ext uri="{FF2B5EF4-FFF2-40B4-BE49-F238E27FC236}">
                <a16:creationId xmlns:a16="http://schemas.microsoft.com/office/drawing/2014/main" id="{8BB39B45-2607-47A4-9E98-0FCF74599E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248CCA-CEFD-44F8-A1E4-7F0057D52587}" type="slidenum">
              <a:rPr lang="en-US" altLang="en-US" smtClean="0">
                <a:latin typeface="Times New Roman" panose="02020603050405020304" pitchFamily="18" charset="0"/>
              </a:rPr>
              <a:pPr/>
              <a:t>92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8182" name="Rectangle 2">
            <a:extLst>
              <a:ext uri="{FF2B5EF4-FFF2-40B4-BE49-F238E27FC236}">
                <a16:creationId xmlns:a16="http://schemas.microsoft.com/office/drawing/2014/main" id="{380B37D7-CB57-4243-97FE-1086835647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3" name="Rectangle 3">
            <a:extLst>
              <a:ext uri="{FF2B5EF4-FFF2-40B4-BE49-F238E27FC236}">
                <a16:creationId xmlns:a16="http://schemas.microsoft.com/office/drawing/2014/main" id="{1DE43465-24A6-46A0-899F-D857AE7E1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D863827F-026C-4986-B224-4002649C6A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CC66DAA8-5F4D-42A5-90D6-CE9FDC91B0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15810D-889A-475A-82C8-ADD13C5ACF59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0228" name="Rectangle 6">
            <a:extLst>
              <a:ext uri="{FF2B5EF4-FFF2-40B4-BE49-F238E27FC236}">
                <a16:creationId xmlns:a16="http://schemas.microsoft.com/office/drawing/2014/main" id="{32B052B1-F9AC-4728-86F5-14296FC114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80229" name="Rectangle 7">
            <a:extLst>
              <a:ext uri="{FF2B5EF4-FFF2-40B4-BE49-F238E27FC236}">
                <a16:creationId xmlns:a16="http://schemas.microsoft.com/office/drawing/2014/main" id="{7161F65C-6A1B-44D2-966F-82CB8273B0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E937F7-FD7E-47DC-83BC-F07477C13992}" type="slidenum">
              <a:rPr lang="en-US" altLang="en-US" smtClean="0">
                <a:latin typeface="Times New Roman" panose="02020603050405020304" pitchFamily="18" charset="0"/>
              </a:rPr>
              <a:pPr/>
              <a:t>93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0230" name="Rectangle 2">
            <a:extLst>
              <a:ext uri="{FF2B5EF4-FFF2-40B4-BE49-F238E27FC236}">
                <a16:creationId xmlns:a16="http://schemas.microsoft.com/office/drawing/2014/main" id="{2CC7EBF2-447D-4D51-AD42-525C00A8B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31" name="Rectangle 3">
            <a:extLst>
              <a:ext uri="{FF2B5EF4-FFF2-40B4-BE49-F238E27FC236}">
                <a16:creationId xmlns:a16="http://schemas.microsoft.com/office/drawing/2014/main" id="{B7923399-46DA-477A-88D7-9A2CFE366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D863827F-026C-4986-B224-4002649C6A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CC66DAA8-5F4D-42A5-90D6-CE9FDC91B0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15810D-889A-475A-82C8-ADD13C5ACF59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0228" name="Rectangle 6">
            <a:extLst>
              <a:ext uri="{FF2B5EF4-FFF2-40B4-BE49-F238E27FC236}">
                <a16:creationId xmlns:a16="http://schemas.microsoft.com/office/drawing/2014/main" id="{32B052B1-F9AC-4728-86F5-14296FC114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80229" name="Rectangle 7">
            <a:extLst>
              <a:ext uri="{FF2B5EF4-FFF2-40B4-BE49-F238E27FC236}">
                <a16:creationId xmlns:a16="http://schemas.microsoft.com/office/drawing/2014/main" id="{7161F65C-6A1B-44D2-966F-82CB8273B0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E937F7-FD7E-47DC-83BC-F07477C13992}" type="slidenum">
              <a:rPr lang="en-US" altLang="en-US" smtClean="0">
                <a:latin typeface="Times New Roman" panose="02020603050405020304" pitchFamily="18" charset="0"/>
              </a:rPr>
              <a:pPr/>
              <a:t>94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0230" name="Rectangle 2">
            <a:extLst>
              <a:ext uri="{FF2B5EF4-FFF2-40B4-BE49-F238E27FC236}">
                <a16:creationId xmlns:a16="http://schemas.microsoft.com/office/drawing/2014/main" id="{2CC7EBF2-447D-4D51-AD42-525C00A8B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31" name="Rectangle 3">
            <a:extLst>
              <a:ext uri="{FF2B5EF4-FFF2-40B4-BE49-F238E27FC236}">
                <a16:creationId xmlns:a16="http://schemas.microsoft.com/office/drawing/2014/main" id="{B7923399-46DA-477A-88D7-9A2CFE366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330697192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A12778EA-AE1A-4C44-AAC9-47D390B955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278BB67B-1DA4-416F-A0EC-4F426A0B46C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38B7F7-7545-418F-8D4D-8276E9EBEEAB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2276" name="Rectangle 6">
            <a:extLst>
              <a:ext uri="{FF2B5EF4-FFF2-40B4-BE49-F238E27FC236}">
                <a16:creationId xmlns:a16="http://schemas.microsoft.com/office/drawing/2014/main" id="{6B032339-A41A-48EC-B8A5-5FC9169369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82277" name="Rectangle 7">
            <a:extLst>
              <a:ext uri="{FF2B5EF4-FFF2-40B4-BE49-F238E27FC236}">
                <a16:creationId xmlns:a16="http://schemas.microsoft.com/office/drawing/2014/main" id="{7C3C1000-037C-4819-BF2A-6DA4A75FB8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E22006-1C08-4BBF-ABCF-B2DD6A9B6ED5}" type="slidenum">
              <a:rPr lang="en-US" altLang="en-US" smtClean="0">
                <a:latin typeface="Times New Roman" panose="02020603050405020304" pitchFamily="18" charset="0"/>
              </a:rPr>
              <a:pPr/>
              <a:t>95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2278" name="Rectangle 2">
            <a:extLst>
              <a:ext uri="{FF2B5EF4-FFF2-40B4-BE49-F238E27FC236}">
                <a16:creationId xmlns:a16="http://schemas.microsoft.com/office/drawing/2014/main" id="{22DFB4A2-3378-4B0C-92AC-73E403DE8D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9" name="Rectangle 3">
            <a:extLst>
              <a:ext uri="{FF2B5EF4-FFF2-40B4-BE49-F238E27FC236}">
                <a16:creationId xmlns:a16="http://schemas.microsoft.com/office/drawing/2014/main" id="{F294710E-01D6-49C3-92FB-0BBB9D66C4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924D17CF-7431-4FB3-94E7-11EDF4DA2F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37D89394-B5D0-4EC6-A72C-0A30AF9E80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E04D28-3636-4CC5-AAD2-0E73B0578F49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24" name="Rectangle 6">
            <a:extLst>
              <a:ext uri="{FF2B5EF4-FFF2-40B4-BE49-F238E27FC236}">
                <a16:creationId xmlns:a16="http://schemas.microsoft.com/office/drawing/2014/main" id="{B9385C34-DF4D-4F2E-B477-2A77B87F548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84325" name="Rectangle 7">
            <a:extLst>
              <a:ext uri="{FF2B5EF4-FFF2-40B4-BE49-F238E27FC236}">
                <a16:creationId xmlns:a16="http://schemas.microsoft.com/office/drawing/2014/main" id="{96005634-7F74-4287-9FEE-D68C82C47A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4F2C43-59FC-48FA-B8AC-CFC9FB15E071}" type="slidenum">
              <a:rPr lang="en-US" altLang="en-US" smtClean="0">
                <a:latin typeface="Times New Roman" panose="02020603050405020304" pitchFamily="18" charset="0"/>
              </a:rPr>
              <a:pPr/>
              <a:t>96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26" name="Rectangle 2">
            <a:extLst>
              <a:ext uri="{FF2B5EF4-FFF2-40B4-BE49-F238E27FC236}">
                <a16:creationId xmlns:a16="http://schemas.microsoft.com/office/drawing/2014/main" id="{B27AC689-8664-43FB-B340-899335AD52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7" name="Rectangle 3">
            <a:extLst>
              <a:ext uri="{FF2B5EF4-FFF2-40B4-BE49-F238E27FC236}">
                <a16:creationId xmlns:a16="http://schemas.microsoft.com/office/drawing/2014/main" id="{D43BFE38-61E2-4058-AD94-9208DB9479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7BD644A8-7704-4AC7-9EFE-FEEDB90D5A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22A52040-B5B1-48BF-A1D6-712198923C3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2DD25F-018C-4014-B11F-1FD6452D06AF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6372" name="Rectangle 6">
            <a:extLst>
              <a:ext uri="{FF2B5EF4-FFF2-40B4-BE49-F238E27FC236}">
                <a16:creationId xmlns:a16="http://schemas.microsoft.com/office/drawing/2014/main" id="{5D8E8311-A3BE-4E14-AA3E-632CCEA9F8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86373" name="Rectangle 7">
            <a:extLst>
              <a:ext uri="{FF2B5EF4-FFF2-40B4-BE49-F238E27FC236}">
                <a16:creationId xmlns:a16="http://schemas.microsoft.com/office/drawing/2014/main" id="{C02FDCEB-1F2E-4DB9-B925-C5E59E7F7A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0DDF93-BE8B-43B0-9BEC-C523B3D86DDC}" type="slidenum">
              <a:rPr lang="en-US" altLang="en-US" smtClean="0">
                <a:latin typeface="Times New Roman" panose="02020603050405020304" pitchFamily="18" charset="0"/>
              </a:rPr>
              <a:pPr/>
              <a:t>97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6374" name="Rectangle 2">
            <a:extLst>
              <a:ext uri="{FF2B5EF4-FFF2-40B4-BE49-F238E27FC236}">
                <a16:creationId xmlns:a16="http://schemas.microsoft.com/office/drawing/2014/main" id="{D7ADC32E-D56A-4C35-90F4-826B965371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5" name="Rectangle 3">
            <a:extLst>
              <a:ext uri="{FF2B5EF4-FFF2-40B4-BE49-F238E27FC236}">
                <a16:creationId xmlns:a16="http://schemas.microsoft.com/office/drawing/2014/main" id="{94EF920A-8D8C-4A60-8608-6722142A8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AA13ADD7-82C8-4D04-A08B-3624152118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2DE46365-748D-4D3A-B5D5-0355A3B38C7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1F4B43-ABE0-415C-9434-02B814B0BE16}" type="datetime3">
              <a:rPr lang="en-US" altLang="en-US" smtClean="0">
                <a:latin typeface="Times New Roman" panose="02020603050405020304" pitchFamily="18" charset="0"/>
              </a:rPr>
              <a:pPr/>
              <a:t>8 November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8420" name="Rectangle 6">
            <a:extLst>
              <a:ext uri="{FF2B5EF4-FFF2-40B4-BE49-F238E27FC236}">
                <a16:creationId xmlns:a16="http://schemas.microsoft.com/office/drawing/2014/main" id="{423F9355-B7D1-44DB-9C3B-AD147F86EDA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88421" name="Rectangle 7">
            <a:extLst>
              <a:ext uri="{FF2B5EF4-FFF2-40B4-BE49-F238E27FC236}">
                <a16:creationId xmlns:a16="http://schemas.microsoft.com/office/drawing/2014/main" id="{95A6D86A-BB09-48F0-93C7-358EC364E4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D98939-AAAC-4BA4-AD6F-3F19C597FAED}" type="slidenum">
              <a:rPr lang="en-US" altLang="en-US" smtClean="0">
                <a:latin typeface="Times New Roman" panose="02020603050405020304" pitchFamily="18" charset="0"/>
              </a:rPr>
              <a:pPr/>
              <a:t>98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8422" name="Rectangle 2">
            <a:extLst>
              <a:ext uri="{FF2B5EF4-FFF2-40B4-BE49-F238E27FC236}">
                <a16:creationId xmlns:a16="http://schemas.microsoft.com/office/drawing/2014/main" id="{0F6F80F8-6A7C-4075-A266-47DB2B10EC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3" name="Rectangle 3">
            <a:extLst>
              <a:ext uri="{FF2B5EF4-FFF2-40B4-BE49-F238E27FC236}">
                <a16:creationId xmlns:a16="http://schemas.microsoft.com/office/drawing/2014/main" id="{96C924D8-656C-4FB3-BA1F-D0EBE3547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67AD28F-0EDE-4FA8-95F6-E6AA8F9B8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25538"/>
            <a:ext cx="28575" cy="5732462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285C8A-0660-488B-9177-2DB57CE03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98755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046968-55E5-46E9-8C7B-42EE2FA3F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708275"/>
            <a:ext cx="7380287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90391C4-F80F-41BA-B489-C93CD3AAE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8" name="Picture 8" descr="MKP-logo-white-transparent">
            <a:extLst>
              <a:ext uri="{FF2B5EF4-FFF2-40B4-BE49-F238E27FC236}">
                <a16:creationId xmlns:a16="http://schemas.microsoft.com/office/drawing/2014/main" id="{67D5A2E4-D921-473C-A2AD-11F8F13E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39725"/>
            <a:ext cx="1360487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5FB2D887-83D5-456F-AAD1-478BC7C5E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B1A580EE-DA82-4E3C-9D4C-DCA370141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49275"/>
            <a:ext cx="28575" cy="576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11" name="Picture 11" descr="Title">
            <a:extLst>
              <a:ext uri="{FF2B5EF4-FFF2-40B4-BE49-F238E27FC236}">
                <a16:creationId xmlns:a16="http://schemas.microsoft.com/office/drawing/2014/main" id="{5FA2AE6F-8822-46BB-85A6-29A6309FF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15888"/>
            <a:ext cx="6424612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2" descr="4th-edition">
            <a:extLst>
              <a:ext uri="{FF2B5EF4-FFF2-40B4-BE49-F238E27FC236}">
                <a16:creationId xmlns:a16="http://schemas.microsoft.com/office/drawing/2014/main" id="{279DC279-760A-48E2-98FF-2A2E02D61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813" y="188913"/>
            <a:ext cx="730250" cy="72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06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09825" y="1844675"/>
            <a:ext cx="5832475" cy="762000"/>
          </a:xfrm>
        </p:spPr>
        <p:txBody>
          <a:bodyPr anchor="t"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AU"/>
              <a:t>Chapter …</a:t>
            </a:r>
          </a:p>
        </p:txBody>
      </p:sp>
      <p:sp>
        <p:nvSpPr>
          <p:cNvPr id="2406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579438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AU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16687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601DE97-7512-4512-961C-DC6E664082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67B89FCF-0639-43D6-AC75-8BED1ABDDDE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36611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C25786-B1AF-4EE2-89F7-DB3AF89FB46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2ACF9A48-CD2F-4794-8AE8-CDE787CB23F3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690915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64A4B9-B299-4923-81D0-6601910607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65061B5E-A1B6-4555-8C94-957363EEFE9F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23831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1DAEE27-AEEA-47E5-A350-E3FEE4844A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38C98045-A19E-45A0-8308-985DD57D1863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52339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D38AE8D-14E4-4B1E-A1B8-514DDF55689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C4F54A24-E686-45E7-A922-03287376FB3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7936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1E75825-E691-41DB-AF18-4B9B657E79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4C612C60-80E3-4F2F-AC52-3B3DEC4F26C6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21425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E5D76-EA82-41BA-B365-502662237C8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D48139B2-45FE-42C6-9453-19E9906B4E05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98792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E1E5AB-7904-43C4-A28D-E3FC87EAA6C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1B6B515F-E725-4956-8F2D-18276B7C8867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66440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F498C3-8024-4534-8076-D3D0855F05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82090C29-89B5-4696-A2D9-821263D3D456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90667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146050"/>
            <a:ext cx="2066925" cy="6091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51550" cy="6091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7BA475B-FC66-42F0-B84D-C3BDFC85FE7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D829A1BE-1FA1-4133-868D-B856EBF27B98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71795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95B8C1-908B-46FD-AA23-A47C62446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12AE754-9A9D-4CBE-85C7-C36FD2D881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AU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F30F141-DE9D-495C-8786-41A76F7728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sp>
        <p:nvSpPr>
          <p:cNvPr id="239621" name="Rectangle 5">
            <a:extLst>
              <a:ext uri="{FF2B5EF4-FFF2-40B4-BE49-F238E27FC236}">
                <a16:creationId xmlns:a16="http://schemas.microsoft.com/office/drawing/2014/main" id="{390D8A65-48BF-451A-A183-2ADE531EBA7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92275" y="6381750"/>
            <a:ext cx="7272338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C31DE214-69A1-4F15-B80E-F816E6D98AC9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  <p:pic>
        <p:nvPicPr>
          <p:cNvPr id="1030" name="Picture 6" descr="MKP-logo">
            <a:extLst>
              <a:ext uri="{FF2B5EF4-FFF2-40B4-BE49-F238E27FC236}">
                <a16:creationId xmlns:a16="http://schemas.microsoft.com/office/drawing/2014/main" id="{71BB6471-82C3-4E84-BFBD-50842E1D6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308725"/>
            <a:ext cx="1371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7">
            <a:extLst>
              <a:ext uri="{FF2B5EF4-FFF2-40B4-BE49-F238E27FC236}">
                <a16:creationId xmlns:a16="http://schemas.microsoft.com/office/drawing/2014/main" id="{92C48AF4-CDC6-4839-902E-408766A45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8" r:id="rId1"/>
    <p:sldLayoutId id="2147484218" r:id="rId2"/>
    <p:sldLayoutId id="2147484219" r:id="rId3"/>
    <p:sldLayoutId id="2147484220" r:id="rId4"/>
    <p:sldLayoutId id="2147484221" r:id="rId5"/>
    <p:sldLayoutId id="2147484222" r:id="rId6"/>
    <p:sldLayoutId id="2147484223" r:id="rId7"/>
    <p:sldLayoutId id="2147484224" r:id="rId8"/>
    <p:sldLayoutId id="2147484225" r:id="rId9"/>
    <p:sldLayoutId id="2147484226" r:id="rId10"/>
    <p:sldLayoutId id="2147484227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ps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3_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09E2F34B-FD4A-4CE5-B6D5-CBBAB29352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8D22D08D-94F2-4269-AF1C-EAE9E4D0090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AU" altLang="en-US" sz="14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F422834F-D16C-4C27-99A1-35C8F9AA8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Purpose of the course</a:t>
            </a:r>
            <a:endParaRPr lang="en-AU" altLang="en-US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64E97AB6-EE21-425E-8037-155B122C73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559675" cy="4679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An introduction to the organization and design of computers – principles, techniques, issues…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Prerequisites: </a:t>
            </a:r>
          </a:p>
          <a:p>
            <a:pPr marL="971550" lvl="1" indent="-514350" eaLnBrk="1" hangingPunct="1">
              <a:lnSpc>
                <a:spcPct val="90000"/>
              </a:lnSpc>
              <a:buClrTx/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dirty="0"/>
              <a:t>Assembly programming (the view of computer (processor) at the </a:t>
            </a:r>
            <a:r>
              <a:rPr lang="en-US" altLang="en-US" i="1" dirty="0"/>
              <a:t>register’s level</a:t>
            </a:r>
            <a:r>
              <a:rPr lang="en-US" altLang="en-US" dirty="0"/>
              <a:t>)</a:t>
            </a:r>
          </a:p>
          <a:p>
            <a:pPr marL="971550" lvl="1" indent="-514350" eaLnBrk="1" hangingPunct="1">
              <a:lnSpc>
                <a:spcPct val="90000"/>
              </a:lnSpc>
              <a:buClrTx/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dirty="0"/>
              <a:t>Basic knowledge of Boolean algebra and logic circuits – AND/OR gates, and Boolean functions performed by them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E0FE14E0-26B3-4D7D-BDF9-D99CD89C17A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17669" y="759619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§2.1 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72B3ED59-DF20-40B1-9825-E51B70CC66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01B162CB-D331-4A4F-BB7F-F3A364FFCB7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AU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CAA7ED1-2C5B-4210-B520-F95B41B1C4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Purpose of the course</a:t>
            </a:r>
            <a:endParaRPr lang="en-AU" altLang="en-US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619B3D7-CFF8-465D-B0A6-E922F6623B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920037" cy="4967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It is a common practice to discuss the principles of computer HW/SW design based on a specific, existing computer structure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underlying computer this course is based on is called </a:t>
            </a:r>
            <a:r>
              <a:rPr lang="en-US" altLang="en-US" b="1" dirty="0">
                <a:solidFill>
                  <a:srgbClr val="FF0000"/>
                </a:solidFill>
              </a:rPr>
              <a:t>MIPS</a:t>
            </a:r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M</a:t>
            </a:r>
            <a:r>
              <a:rPr lang="en-US" dirty="0"/>
              <a:t>icroprocessor without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nterlocked </a:t>
            </a:r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en-US" dirty="0"/>
              <a:t>ipelined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tages</a:t>
            </a:r>
            <a:endParaRPr lang="en-US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M</a:t>
            </a:r>
            <a:r>
              <a:rPr lang="en-US" altLang="en-US" dirty="0"/>
              <a:t>illions of </a:t>
            </a:r>
            <a:r>
              <a:rPr lang="en-US" altLang="en-US" b="1" dirty="0">
                <a:solidFill>
                  <a:srgbClr val="FF0000"/>
                </a:solidFill>
              </a:rPr>
              <a:t>I</a:t>
            </a:r>
            <a:r>
              <a:rPr lang="en-US" altLang="en-US" dirty="0"/>
              <a:t>nstructions </a:t>
            </a:r>
            <a:r>
              <a:rPr lang="en-US" altLang="en-US" b="1" dirty="0">
                <a:solidFill>
                  <a:srgbClr val="FF0000"/>
                </a:solidFill>
              </a:rPr>
              <a:t>P</a:t>
            </a:r>
            <a:r>
              <a:rPr lang="en-US" altLang="en-US" dirty="0"/>
              <a:t>er </a:t>
            </a:r>
            <a:r>
              <a:rPr lang="en-US" altLang="en-US" b="1" dirty="0">
                <a:solidFill>
                  <a:srgbClr val="FF0000"/>
                </a:solidFill>
              </a:rPr>
              <a:t>S</a:t>
            </a:r>
            <a:r>
              <a:rPr lang="en-US" altLang="en-US" dirty="0"/>
              <a:t>econd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A8B4B780-CFA7-41A2-B27B-16A6445A858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17669" y="759619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§2.1 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4CB877E5-D958-463C-AE63-BBF1377E5B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DDE6BAF-719E-4068-8EA1-133897880DC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AU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8D76DA7-D5E3-4E98-ACE9-5ABFA2336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Purpose of the course</a:t>
            </a:r>
            <a:endParaRPr lang="en-AU" altLang="en-US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FF7F5279-5D65-4AC9-8709-CAB088F3E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0413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i="1" dirty="0"/>
              <a:t>instruction set </a:t>
            </a:r>
            <a:r>
              <a:rPr lang="en-US" altLang="en-US" dirty="0"/>
              <a:t>of a computer describes how the computer functions at the lowest (register/memory) level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We start by examining the instruction set of MIPS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Idea – We want to design a processor. The first thing to do is to specify the computer’s operations, i.e. what this computer can do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9221" name="Text Box 4">
            <a:extLst>
              <a:ext uri="{FF2B5EF4-FFF2-40B4-BE49-F238E27FC236}">
                <a16:creationId xmlns:a16="http://schemas.microsoft.com/office/drawing/2014/main" id="{AA8DE3CB-18B1-4CF1-96C9-B1E11B0A54F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17669" y="759619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§2.1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3B2B1EE8-D2BB-42B5-9369-77D9748B8E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Chapter 2</a:t>
            </a:r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38D7BD44-34D5-4A1C-9827-84EFC22A1B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1066800"/>
          </a:xfrm>
        </p:spPr>
        <p:txBody>
          <a:bodyPr/>
          <a:lstStyle/>
          <a:p>
            <a:pPr eaLnBrk="1" hangingPunct="1"/>
            <a:r>
              <a:rPr lang="en-AU" altLang="en-US"/>
              <a:t>Instructions: Language of the Computer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97C5775B-1845-4C87-8C00-16E4776515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27C9C312-AD0E-4ED2-B810-1C19B105EA9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AU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7B8990CE-91ED-48BC-958E-AE476FF6FD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Instruction Set</a:t>
            </a:r>
            <a:endParaRPr lang="en-AU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6" name="Rectangle 3">
                <a:extLst>
                  <a:ext uri="{FF2B5EF4-FFF2-40B4-BE49-F238E27FC236}">
                    <a16:creationId xmlns:a16="http://schemas.microsoft.com/office/drawing/2014/main" id="{EDD24C78-4F15-4F54-BB90-E83C76A4A62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125538"/>
                <a:ext cx="8453437" cy="511175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dirty="0"/>
                  <a:t>It is the repertoire of instructions of a computer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dirty="0"/>
                  <a:t>Different computers have different instruction sets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dirty="0"/>
                  <a:t>But with many aspects in common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dirty="0"/>
                  <a:t>Early computers had very simple instruction sets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dirty="0"/>
                  <a:t>Simple instructions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en-US" dirty="0"/>
                  <a:t> simple implementation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dirty="0"/>
                  <a:t>However, many modern computers also have simple instruction sets</a:t>
                </a:r>
              </a:p>
            </p:txBody>
          </p:sp>
        </mc:Choice>
        <mc:Fallback xmlns="">
          <p:sp>
            <p:nvSpPr>
              <p:cNvPr id="13316" name="Rectangle 3">
                <a:extLst>
                  <a:ext uri="{FF2B5EF4-FFF2-40B4-BE49-F238E27FC236}">
                    <a16:creationId xmlns:a16="http://schemas.microsoft.com/office/drawing/2014/main" id="{EDD24C78-4F15-4F54-BB90-E83C76A4A6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125538"/>
                <a:ext cx="8453437" cy="5111750"/>
              </a:xfrm>
              <a:blipFill>
                <a:blip r:embed="rId3"/>
                <a:stretch>
                  <a:fillRect l="-577" t="-2506" r="-2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7" name="Text Box 4">
            <a:extLst>
              <a:ext uri="{FF2B5EF4-FFF2-40B4-BE49-F238E27FC236}">
                <a16:creationId xmlns:a16="http://schemas.microsoft.com/office/drawing/2014/main" id="{7A42A92E-704B-4BAC-B425-EDAF40420BD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17669" y="759619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§2.1 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F3E3513C-1F44-4AC6-996B-86A4F0695F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4CD6AD64-6EEA-4FF4-B62C-6B5C43BE25F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AU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95A9D1F0-9606-4F31-8194-453044E6D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Instruction Set</a:t>
            </a:r>
            <a:endParaRPr lang="en-AU" altLang="en-US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35F809E-9575-4F96-A477-EA6071AD5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Two computer design paradigm</a:t>
            </a:r>
            <a:r>
              <a:rPr lang="en-US" altLang="zh-CN" dirty="0"/>
              <a:t>s</a:t>
            </a:r>
            <a:endParaRPr lang="en-US" altLang="en-US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 –  CISC vs. RISC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CISC: Complex Instruction Set Computer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dirty="0"/>
              <a:t>Powerful, complex instructions, shorter programs, but need more complex hardware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RISC: Reduced Instruction Set Computer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dirty="0"/>
              <a:t>Smaller, simple instruction set, need more instructions for complex operations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alt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MIPS belongs to the RISC category</a:t>
            </a:r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326CC720-5759-4D97-A7F9-32964838005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17669" y="759619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§2.1 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2334B2CE-FE04-4EE8-B8F5-DCCFC7ED4E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3942AE64-FEB2-4E44-AF23-41DD542D43D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AU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E078E54-6C41-408E-8899-D26FA05F19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MIPS Instruction Set</a:t>
            </a:r>
            <a:endParaRPr lang="en-AU" altLang="en-US"/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7CA7BB95-699E-417E-BD14-AA46914D22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991475" cy="5111750"/>
          </a:xfrm>
        </p:spPr>
        <p:txBody>
          <a:bodyPr/>
          <a:lstStyle/>
          <a:p>
            <a:pPr eaLnBrk="1" hangingPunct="1"/>
            <a:r>
              <a:rPr lang="en-US" altLang="en-US" sz="2800"/>
              <a:t>Used as the example throughout this course</a:t>
            </a:r>
          </a:p>
          <a:p>
            <a:pPr eaLnBrk="1" hangingPunct="1"/>
            <a:r>
              <a:rPr lang="en-US" altLang="en-US" sz="2800"/>
              <a:t>Stanford MIPS commercialized by MIPS Technologies (</a:t>
            </a:r>
            <a:r>
              <a:rPr lang="en-US" altLang="en-US" sz="2800">
                <a:hlinkClick r:id="rId3"/>
              </a:rPr>
              <a:t>www.mips.com</a:t>
            </a:r>
            <a:r>
              <a:rPr lang="en-US" altLang="en-US" sz="2800"/>
              <a:t>)</a:t>
            </a:r>
          </a:p>
          <a:p>
            <a:pPr eaLnBrk="1" hangingPunct="1"/>
            <a:r>
              <a:rPr lang="en-US" altLang="en-US" sz="2800"/>
              <a:t>Typical of many modern ISAs (Industry Standard Architecture)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1">
            <a:extLst>
              <a:ext uri="{FF2B5EF4-FFF2-40B4-BE49-F238E27FC236}">
                <a16:creationId xmlns:a16="http://schemas.microsoft.com/office/drawing/2014/main" id="{0CBFB543-C9A3-435B-B70A-84346C39F7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E04EEFDE-D8BC-4ED8-9E2C-A6EE8F97FEA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AU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DDDFF2E4-EA59-438D-B2C1-CF3FD9C2B0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CA52DF76-6855-4CCB-A2ED-A4A09543B26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AU" altLang="en-US" sz="1400"/>
          </a:p>
        </p:txBody>
      </p:sp>
      <p:sp>
        <p:nvSpPr>
          <p:cNvPr id="20483" name="Rectangle 5">
            <a:extLst>
              <a:ext uri="{FF2B5EF4-FFF2-40B4-BE49-F238E27FC236}">
                <a16:creationId xmlns:a16="http://schemas.microsoft.com/office/drawing/2014/main" id="{C7435A4C-8C18-479F-A860-A6DE354E95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Arithmetic Operations</a:t>
            </a:r>
            <a:endParaRPr lang="en-AU" altLang="en-US"/>
          </a:p>
        </p:txBody>
      </p:sp>
      <p:sp>
        <p:nvSpPr>
          <p:cNvPr id="17412" name="Rectangle 6">
            <a:extLst>
              <a:ext uri="{FF2B5EF4-FFF2-40B4-BE49-F238E27FC236}">
                <a16:creationId xmlns:a16="http://schemas.microsoft.com/office/drawing/2014/main" id="{D6F2301C-A3BE-4EFB-ABF0-EAAD5AFD2B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04137" cy="51117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add/subtract, three operands</a:t>
            </a:r>
          </a:p>
          <a:p>
            <a:pPr lvl="1" eaLnBrk="1" hangingPunct="1">
              <a:defRPr/>
            </a:pPr>
            <a:r>
              <a:rPr lang="en-US" altLang="en-US" dirty="0"/>
              <a:t>Two sources and one destination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Lucida Console" panose="020B0609040504020204" pitchFamily="49" charset="0"/>
              </a:rPr>
              <a:t>	add a, b, c  # a gets b + c 	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Lucida Console" panose="020B0609040504020204" pitchFamily="49" charset="0"/>
              </a:rPr>
              <a:t>	</a:t>
            </a:r>
            <a:r>
              <a:rPr lang="en-US" altLang="en-US" dirty="0"/>
              <a:t>where </a:t>
            </a:r>
            <a:r>
              <a:rPr lang="en-US" altLang="en-US" dirty="0" err="1">
                <a:latin typeface="Lucida Console" panose="020B0609040504020204" pitchFamily="49" charset="0"/>
              </a:rPr>
              <a:t>a,b,c</a:t>
            </a: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/>
              <a:t>are all </a:t>
            </a:r>
            <a:r>
              <a:rPr lang="en-US" altLang="en-US" i="1" dirty="0">
                <a:solidFill>
                  <a:srgbClr val="C00000"/>
                </a:solidFill>
              </a:rPr>
              <a:t>registers</a:t>
            </a:r>
            <a:r>
              <a:rPr lang="en-US" altLang="en-US" dirty="0"/>
              <a:t> 	in the processor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All arithmetic operations have the same form (sub a, b, c; </a:t>
            </a:r>
            <a:r>
              <a:rPr lang="en-US" altLang="en-US" dirty="0" err="1"/>
              <a:t>mul</a:t>
            </a:r>
            <a:r>
              <a:rPr lang="en-US" altLang="en-US" dirty="0"/>
              <a:t> a, b, c …)</a:t>
            </a:r>
          </a:p>
          <a:p>
            <a:pPr lvl="1" eaLnBrk="1" hangingPunct="1">
              <a:defRPr/>
            </a:pPr>
            <a:r>
              <a:rPr lang="en-US" altLang="en-US" dirty="0"/>
              <a:t>Favors regularity</a:t>
            </a: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018D972C-12FF-4038-A59A-153C899A5469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677819" y="2099469"/>
            <a:ext cx="45656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§2.2 Operations of the Computer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7B758244-E696-4650-8AA9-D64607894F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CE9B5706-C0D3-4411-9A38-3ABEEFB4291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AU" altLang="en-US" sz="1400"/>
          </a:p>
        </p:txBody>
      </p:sp>
      <p:sp>
        <p:nvSpPr>
          <p:cNvPr id="22531" name="Rectangle 5">
            <a:extLst>
              <a:ext uri="{FF2B5EF4-FFF2-40B4-BE49-F238E27FC236}">
                <a16:creationId xmlns:a16="http://schemas.microsoft.com/office/drawing/2014/main" id="{F111FC01-47C7-4D06-99E7-0CD6D7C087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Arithmetic Operations</a:t>
            </a:r>
            <a:endParaRPr lang="en-AU" altLang="en-US"/>
          </a:p>
        </p:txBody>
      </p:sp>
      <p:sp>
        <p:nvSpPr>
          <p:cNvPr id="22532" name="Rectangle 6">
            <a:extLst>
              <a:ext uri="{FF2B5EF4-FFF2-40B4-BE49-F238E27FC236}">
                <a16:creationId xmlns:a16="http://schemas.microsoft.com/office/drawing/2014/main" id="{B261957C-1EF6-49B4-9BA6-2C2EDFBE96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093075" cy="5111750"/>
          </a:xfrm>
        </p:spPr>
        <p:txBody>
          <a:bodyPr/>
          <a:lstStyle/>
          <a:p>
            <a:pPr eaLnBrk="1" hangingPunct="1"/>
            <a:r>
              <a:rPr lang="en-US" altLang="en-US" i="1"/>
              <a:t>Design Principle 1:</a:t>
            </a:r>
            <a:r>
              <a:rPr lang="en-US" altLang="en-US"/>
              <a:t> Simplicity favors regularity</a:t>
            </a:r>
          </a:p>
          <a:p>
            <a:pPr lvl="1" eaLnBrk="1" hangingPunct="1"/>
            <a:r>
              <a:rPr lang="en-US" altLang="en-US"/>
              <a:t>Regularity/uniformity makes hardware implementation simpler</a:t>
            </a:r>
          </a:p>
          <a:p>
            <a:pPr lvl="1" eaLnBrk="1" hangingPunct="1"/>
            <a:r>
              <a:rPr lang="en-US" altLang="en-US"/>
              <a:t>Simplicity enables higher performance at lower cost</a:t>
            </a:r>
            <a:endParaRPr lang="en-AU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D82A8AD4-3690-4FC6-8FE0-AA3A1533FDB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677819" y="2099469"/>
            <a:ext cx="45656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§2.2 Operations of the Computer Hardware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EAA1D209-90F8-4F99-BEDE-C14756236A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00FC1CB4-1BE7-44B7-B28E-6CFB92F710D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AU" altLang="en-US" sz="14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D816306-2542-4945-A458-FCF791E92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Arithmetic Example</a:t>
            </a:r>
            <a:endParaRPr lang="en-AU" altLang="en-US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02BBAE1-1592-49BB-86C7-B97BEFFD2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Most programmers write programs in  </a:t>
            </a:r>
            <a:r>
              <a:rPr lang="en-US" altLang="en-US" i="1"/>
              <a:t>high-level languages</a:t>
            </a:r>
            <a:r>
              <a:rPr lang="en-US" altLang="en-US"/>
              <a:t>, such as Java or C</a:t>
            </a:r>
          </a:p>
          <a:p>
            <a:pPr eaLnBrk="1" hangingPunct="1"/>
            <a:r>
              <a:rPr lang="en-US" altLang="en-US"/>
              <a:t>Example C code: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sz="2800">
                <a:latin typeface="Lucida Console" panose="020B0609040504020204" pitchFamily="49" charset="0"/>
              </a:rPr>
              <a:t>	f = (g + h) - (i + j);</a:t>
            </a:r>
          </a:p>
          <a:p>
            <a:pPr eaLnBrk="1" hangingPunct="1"/>
            <a:r>
              <a:rPr lang="en-US" altLang="en-US"/>
              <a:t>Compiled MIPS code: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sz="2800">
                <a:latin typeface="Lucida Console" panose="020B0609040504020204" pitchFamily="49" charset="0"/>
              </a:rPr>
              <a:t>	add t0, g, h   # temp t0 = g + h</a:t>
            </a:r>
            <a:br>
              <a:rPr lang="en-US" altLang="en-US" sz="2800">
                <a:latin typeface="Lucida Console" panose="020B0609040504020204" pitchFamily="49" charset="0"/>
              </a:rPr>
            </a:br>
            <a:r>
              <a:rPr lang="en-US" altLang="en-US" sz="2800">
                <a:latin typeface="Lucida Console" panose="020B0609040504020204" pitchFamily="49" charset="0"/>
              </a:rPr>
              <a:t>add t1, i, j   # temp t1 = i + j</a:t>
            </a:r>
            <a:br>
              <a:rPr lang="en-US" altLang="en-US" sz="2800">
                <a:latin typeface="Lucida Console" panose="020B0609040504020204" pitchFamily="49" charset="0"/>
              </a:rPr>
            </a:br>
            <a:r>
              <a:rPr lang="en-US" altLang="en-US" sz="2800">
                <a:latin typeface="Lucida Console" panose="020B0609040504020204" pitchFamily="49" charset="0"/>
              </a:rPr>
              <a:t>sub f, t0, t1  # f = t0 - t1</a:t>
            </a:r>
            <a:endParaRPr lang="en-AU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3E465EA2-5A20-412B-9663-55D8A45D37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99C2B68D-B01A-4F02-B3CD-82C9FFB4A77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AU" altLang="en-US" sz="1400"/>
          </a:p>
        </p:txBody>
      </p:sp>
      <p:sp>
        <p:nvSpPr>
          <p:cNvPr id="26627" name="Rectangle 5">
            <a:extLst>
              <a:ext uri="{FF2B5EF4-FFF2-40B4-BE49-F238E27FC236}">
                <a16:creationId xmlns:a16="http://schemas.microsoft.com/office/drawing/2014/main" id="{2C345F0D-3D81-4C58-ABE5-F5F894C4C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Register Operands</a:t>
            </a:r>
            <a:endParaRPr lang="en-AU" altLang="en-US"/>
          </a:p>
        </p:txBody>
      </p:sp>
      <p:sp>
        <p:nvSpPr>
          <p:cNvPr id="26628" name="Rectangle 6">
            <a:extLst>
              <a:ext uri="{FF2B5EF4-FFF2-40B4-BE49-F238E27FC236}">
                <a16:creationId xmlns:a16="http://schemas.microsoft.com/office/drawing/2014/main" id="{7AAFBE5E-FBE9-4BF6-B8CF-BB9A3D9F6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0930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 computers, arithmetic instructions use </a:t>
            </a:r>
            <a:r>
              <a:rPr lang="en-US" altLang="en-US" sz="2800" i="1" dirty="0">
                <a:solidFill>
                  <a:srgbClr val="C00000"/>
                </a:solidFill>
              </a:rPr>
              <a:t>registers</a:t>
            </a:r>
            <a:r>
              <a:rPr lang="en-US" altLang="en-US" sz="2800" i="1" dirty="0"/>
              <a:t> </a:t>
            </a:r>
            <a:r>
              <a:rPr lang="en-US" altLang="en-US" sz="2800" dirty="0"/>
              <a:t>to hold </a:t>
            </a:r>
            <a:r>
              <a:rPr lang="en-US" altLang="en-US" sz="2800" i="1" dirty="0">
                <a:solidFill>
                  <a:srgbClr val="C00000"/>
                </a:solidFill>
              </a:rPr>
              <a:t>operands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MIPS has a </a:t>
            </a:r>
            <a:r>
              <a:rPr lang="en-US" altLang="en-US" sz="2800" dirty="0">
                <a:highlight>
                  <a:srgbClr val="FFFF00"/>
                </a:highlight>
              </a:rPr>
              <a:t>32 × 32-bit register </a:t>
            </a:r>
            <a:r>
              <a:rPr lang="en-US" altLang="en-US" sz="2800" dirty="0"/>
              <a:t>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Used for holding data that are currently processed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Registers are numbered from 0 to 31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32-bit data called a “word”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We can assign names to registers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$t0, $t1, …, $t9 for temporary values (10 registers)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$s0, $s1, …, $s7 for saved variables (8 registers)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i="1" dirty="0"/>
              <a:t>Design Principle 2:</a:t>
            </a:r>
            <a:r>
              <a:rPr lang="en-US" altLang="en-US" sz="2800" dirty="0"/>
              <a:t> Smaller is faster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i="1" dirty="0"/>
              <a:t>c.f.</a:t>
            </a:r>
            <a:r>
              <a:rPr lang="en-US" altLang="en-US" sz="2400" dirty="0"/>
              <a:t> main memory: millions of locations</a:t>
            </a:r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1DFE01D0-71DE-4E25-A80E-78E2F4F73A7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734969" y="2042319"/>
            <a:ext cx="44513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§2.3 Operands of the Computer Hardware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D4A3BC3D-3A7E-4744-BA78-39640BC59E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AAA4FC47-BC59-4F1A-9224-E608D7006DA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AU" altLang="en-US" sz="1400"/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CF737382-1797-4626-81F3-BD4419FECF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Register Operand Example</a:t>
            </a:r>
            <a:endParaRPr lang="en-AU" altLang="en-US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FC3BD39C-2C95-4DCD-AA67-451D32A8D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C code: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dirty="0">
                <a:latin typeface="Lucida Console" panose="020B0609040504020204" pitchFamily="49" charset="0"/>
              </a:rPr>
              <a:t>	f = (g + h) - (</a:t>
            </a:r>
            <a:r>
              <a:rPr lang="en-US" altLang="en-US" sz="2800" dirty="0" err="1"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latin typeface="Lucida Console" panose="020B0609040504020204" pitchFamily="49" charset="0"/>
              </a:rPr>
              <a:t> + j);</a:t>
            </a:r>
          </a:p>
          <a:p>
            <a:pPr lvl="1" eaLnBrk="1" hangingPunct="1">
              <a:defRPr/>
            </a:pPr>
            <a:r>
              <a:rPr lang="en-US" altLang="en-US" dirty="0"/>
              <a:t>f, g, h, </a:t>
            </a:r>
            <a:r>
              <a:rPr lang="en-US" altLang="en-US" dirty="0" err="1"/>
              <a:t>i</a:t>
            </a:r>
            <a:r>
              <a:rPr lang="en-US" altLang="en-US" dirty="0"/>
              <a:t>, j         $s0, $s1, $s2, $s3, $s4</a:t>
            </a:r>
          </a:p>
          <a:p>
            <a:pPr marL="457200" lvl="1" indent="0" eaLnBrk="1" hangingPunct="1">
              <a:buNone/>
              <a:defRPr/>
            </a:pPr>
            <a:r>
              <a:rPr lang="en-US" altLang="en-US" dirty="0"/>
              <a:t>   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variables</a:t>
            </a:r>
            <a:r>
              <a:rPr lang="en-US" altLang="en-US" dirty="0"/>
              <a:t>          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registers</a:t>
            </a:r>
          </a:p>
          <a:p>
            <a:pPr marL="457200" lvl="1" indent="0" eaLnBrk="1" hangingPunct="1">
              <a:buNone/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Compiled MIPS code: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dirty="0">
                <a:latin typeface="Lucida Console" panose="020B0609040504020204" pitchFamily="49" charset="0"/>
              </a:rPr>
              <a:t>	add $t0, $s1, $s2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add $t1, $s3, $s4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sub $s0, $t0, $t1</a:t>
            </a:r>
            <a:endParaRPr lang="en-AU" altLang="en-US" sz="2800" dirty="0">
              <a:latin typeface="Lucida Console" panose="020B0609040504020204" pitchFamily="49" charset="0"/>
            </a:endParaRPr>
          </a:p>
        </p:txBody>
      </p:sp>
      <p:sp>
        <p:nvSpPr>
          <p:cNvPr id="28677" name="Right Arrow 1">
            <a:extLst>
              <a:ext uri="{FF2B5EF4-FFF2-40B4-BE49-F238E27FC236}">
                <a16:creationId xmlns:a16="http://schemas.microsoft.com/office/drawing/2014/main" id="{A880D6CE-B20D-41F9-A281-B52235415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2374900"/>
            <a:ext cx="574675" cy="212725"/>
          </a:xfrm>
          <a:prstGeom prst="rightArrow">
            <a:avLst>
              <a:gd name="adj1" fmla="val 50000"/>
              <a:gd name="adj2" fmla="val 4990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" name="Right Arrow 1">
            <a:extLst>
              <a:ext uri="{FF2B5EF4-FFF2-40B4-BE49-F238E27FC236}">
                <a16:creationId xmlns:a16="http://schemas.microsoft.com/office/drawing/2014/main" id="{B3595ADA-8103-4298-BCF9-1164B3542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2903487"/>
            <a:ext cx="574675" cy="212725"/>
          </a:xfrm>
          <a:prstGeom prst="rightArrow">
            <a:avLst>
              <a:gd name="adj1" fmla="val 50000"/>
              <a:gd name="adj2" fmla="val 4990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FF763A76-C218-4263-9276-A2F499FE86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 dirty="0"/>
              <a:t>Chapter 2 — Instructions: Language of the Computer — </a:t>
            </a:r>
            <a:fld id="{5D6AD83D-AEBA-40AA-AD2E-CEBD53D7C9C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AU" altLang="en-US" sz="1400" dirty="0"/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F70BF335-C339-403A-9B64-D71EC65C5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Operands</a:t>
            </a:r>
            <a:endParaRPr lang="en-AU" altLang="en-US"/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E60F90FB-E066-485E-B6D6-E54C60C46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51117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dirty="0"/>
              <a:t>Main memory used for composite and large amount of data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Arrays, structures (Java objects), dynamic data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endParaRPr lang="en-US" alt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A90C3-7225-4123-9047-67683DFA23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719" y="2492895"/>
            <a:ext cx="6762901" cy="3455963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35352042-2BF2-43A7-812A-379BC5A1FDED}"/>
              </a:ext>
            </a:extLst>
          </p:cNvPr>
          <p:cNvSpPr>
            <a:spLocks/>
          </p:cNvSpPr>
          <p:nvPr/>
        </p:nvSpPr>
        <p:spPr bwMode="auto">
          <a:xfrm>
            <a:off x="3979585" y="5758209"/>
            <a:ext cx="1511747" cy="577300"/>
          </a:xfrm>
          <a:prstGeom prst="borderCallout1">
            <a:avLst>
              <a:gd name="adj1" fmla="val 508"/>
              <a:gd name="adj2" fmla="val 59440"/>
              <a:gd name="adj3" fmla="val -159843"/>
              <a:gd name="adj4" fmla="val 12071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600" dirty="0"/>
              <a:t>Registers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600" dirty="0"/>
              <a:t>in here</a:t>
            </a:r>
          </a:p>
        </p:txBody>
      </p:sp>
    </p:spTree>
    <p:extLst>
      <p:ext uri="{BB962C8B-B14F-4D97-AF65-F5344CB8AC3E}">
        <p14:creationId xmlns:p14="http://schemas.microsoft.com/office/powerpoint/2010/main" val="3914810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E24AD9-5535-4DEE-83C9-AF922D89D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81" y="4098280"/>
            <a:ext cx="2774944" cy="2499072"/>
          </a:xfrm>
          <a:prstGeom prst="rect">
            <a:avLst/>
          </a:prstGeom>
        </p:spPr>
      </p:pic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FF763A76-C218-4263-9276-A2F499FE86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5D6AD83D-AEBA-40AA-AD2E-CEBD53D7C9C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AU" altLang="en-US" sz="1400"/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F70BF335-C339-403A-9B64-D71EC65C5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Operands</a:t>
            </a:r>
            <a:endParaRPr lang="en-AU" altLang="en-US"/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E60F90FB-E066-485E-B6D6-E54C60C46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dirty="0"/>
              <a:t>To apply arithmetic operations, need to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Load values from memory into registers (</a:t>
            </a:r>
            <a:r>
              <a:rPr lang="en-US" altLang="en-US" sz="2400" dirty="0" err="1"/>
              <a:t>g,h,i,j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Store result from register to memory (f)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dirty="0"/>
              <a:t>Memory is </a:t>
            </a:r>
            <a:r>
              <a:rPr lang="en-US" altLang="en-US" sz="2800" i="1" dirty="0"/>
              <a:t>byte-addressed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Each address holds an 8-bit </a:t>
            </a:r>
            <a:r>
              <a:rPr lang="en-US" altLang="en-US" sz="2400" b="1" i="1" dirty="0"/>
              <a:t>byte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dirty="0"/>
              <a:t>Words are aligned in memory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Each word occupies 4 consecutive addresses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So a word address must be a multiple of 4</a:t>
            </a:r>
          </a:p>
        </p:txBody>
      </p:sp>
    </p:spTree>
    <p:extLst>
      <p:ext uri="{BB962C8B-B14F-4D97-AF65-F5344CB8AC3E}">
        <p14:creationId xmlns:p14="http://schemas.microsoft.com/office/powerpoint/2010/main" val="3434692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23F1D939-CC31-4F9F-9091-B679CB000C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1677F755-6036-472B-9CA0-5B2D32BF3F4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AU" altLang="en-US" sz="1400"/>
          </a:p>
        </p:txBody>
      </p:sp>
      <p:sp>
        <p:nvSpPr>
          <p:cNvPr id="32771" name="Rectangle 4">
            <a:extLst>
              <a:ext uri="{FF2B5EF4-FFF2-40B4-BE49-F238E27FC236}">
                <a16:creationId xmlns:a16="http://schemas.microsoft.com/office/drawing/2014/main" id="{93ABCE76-CB0B-436B-A278-ABFC5B19D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Operands</a:t>
            </a:r>
            <a:endParaRPr lang="en-AU" altLang="en-US"/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46DBD7B8-6364-47AB-913C-B374B3379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3668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MIPS uses “Big Endian” convention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Most-significant byte at least address of a word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400" i="1"/>
              <a:t>c.f.</a:t>
            </a:r>
            <a:r>
              <a:rPr lang="en-AU" altLang="en-US" sz="2400"/>
              <a:t> Little Endian: least-significant byte at least address</a:t>
            </a:r>
          </a:p>
        </p:txBody>
      </p:sp>
      <p:pic>
        <p:nvPicPr>
          <p:cNvPr id="32773" name="Picture 1">
            <a:extLst>
              <a:ext uri="{FF2B5EF4-FFF2-40B4-BE49-F238E27FC236}">
                <a16:creationId xmlns:a16="http://schemas.microsoft.com/office/drawing/2014/main" id="{207E7655-268A-40CF-95AF-BB5D323CA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038" y="2349500"/>
            <a:ext cx="4171950" cy="372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2">
            <a:extLst>
              <a:ext uri="{FF2B5EF4-FFF2-40B4-BE49-F238E27FC236}">
                <a16:creationId xmlns:a16="http://schemas.microsoft.com/office/drawing/2014/main" id="{80F1C773-0A10-4065-93F7-229BD4C67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2368550"/>
            <a:ext cx="4135438" cy="369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5393CCAD-544F-4B84-A7E4-0EDAEDA8A5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00904EC8-D095-498B-8C09-8CF305B03C1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AU" altLang="en-US" sz="1400"/>
          </a:p>
        </p:txBody>
      </p:sp>
      <p:sp>
        <p:nvSpPr>
          <p:cNvPr id="38915" name="Rectangle 4">
            <a:extLst>
              <a:ext uri="{FF2B5EF4-FFF2-40B4-BE49-F238E27FC236}">
                <a16:creationId xmlns:a16="http://schemas.microsoft.com/office/drawing/2014/main" id="{A7FEE34F-F450-4AB3-8198-AB3A129E2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Registers vs. Memory</a:t>
            </a:r>
            <a:endParaRPr lang="en-AU" altLang="en-US"/>
          </a:p>
        </p:txBody>
      </p:sp>
      <p:sp>
        <p:nvSpPr>
          <p:cNvPr id="38916" name="Rectangle 5">
            <a:extLst>
              <a:ext uri="{FF2B5EF4-FFF2-40B4-BE49-F238E27FC236}">
                <a16:creationId xmlns:a16="http://schemas.microsoft.com/office/drawing/2014/main" id="{67BD4296-00F3-4212-9912-FEA3DFEA6E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755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Registers are much faster to access and operate on than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Operating on memory data requires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	load-word (</a:t>
            </a:r>
            <a:r>
              <a:rPr lang="en-US" altLang="en-US" dirty="0" err="1"/>
              <a:t>lw</a:t>
            </a:r>
            <a:r>
              <a:rPr lang="en-US" altLang="en-US" dirty="0"/>
              <a:t>) and store-word (</a:t>
            </a:r>
            <a:r>
              <a:rPr lang="en-US" altLang="en-US" dirty="0" err="1"/>
              <a:t>sw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206A34AF-A62C-4C7B-BF33-211A8F4AEF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AE2AFB19-EF3B-4BE6-8887-88EC09199CD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AU" altLang="en-US" sz="1400"/>
          </a:p>
        </p:txBody>
      </p:sp>
      <p:sp>
        <p:nvSpPr>
          <p:cNvPr id="34819" name="Rectangle 4">
            <a:extLst>
              <a:ext uri="{FF2B5EF4-FFF2-40B4-BE49-F238E27FC236}">
                <a16:creationId xmlns:a16="http://schemas.microsoft.com/office/drawing/2014/main" id="{884A3A58-DB98-4F0D-AF94-24E49B8A1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Operand Example 1</a:t>
            </a:r>
            <a:endParaRPr lang="en-AU" alt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7E6EC78B-3BEC-4EB0-9F25-2043D048E4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g = h + A[8];</a:t>
            </a:r>
          </a:p>
          <a:p>
            <a:pPr lvl="1" eaLnBrk="1" hangingPunct="1"/>
            <a:r>
              <a:rPr lang="en-US" altLang="en-US" dirty="0"/>
              <a:t>g in $s1, h in $s2, base address of A in $s3</a:t>
            </a:r>
          </a:p>
          <a:p>
            <a:pPr eaLnBrk="1" hangingPunct="1"/>
            <a:r>
              <a:rPr lang="en-US" altLang="en-US" dirty="0"/>
              <a:t>Compiled MIPS code:</a:t>
            </a:r>
          </a:p>
          <a:p>
            <a:pPr lvl="1" eaLnBrk="1" hangingPunct="1"/>
            <a:r>
              <a:rPr lang="en-US" altLang="en-US" dirty="0"/>
              <a:t>Index [8] requires offset of 32</a:t>
            </a:r>
          </a:p>
          <a:p>
            <a:pPr lvl="2" eaLnBrk="1" hangingPunct="1"/>
            <a:r>
              <a:rPr lang="en-US" altLang="en-US" dirty="0"/>
              <a:t>4 bytes per word</a:t>
            </a:r>
          </a:p>
          <a:p>
            <a:pPr lvl="2" eaLnBrk="1" hangingPunct="1"/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</a:t>
            </a:r>
            <a:r>
              <a:rPr lang="en-US" altLang="en-US" sz="2800" dirty="0" err="1">
                <a:latin typeface="Lucida Console" panose="020B0609040504020204" pitchFamily="49" charset="0"/>
              </a:rPr>
              <a:t>lw</a:t>
            </a:r>
            <a:r>
              <a:rPr lang="en-US" altLang="en-US" sz="2800" dirty="0">
                <a:latin typeface="Lucida Console" panose="020B0609040504020204" pitchFamily="49" charset="0"/>
              </a:rPr>
              <a:t>  $t0, 32($s3)    # load word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add $s1, $s2, $t0</a:t>
            </a:r>
            <a:endParaRPr lang="en-AU" altLang="en-US" sz="2800" dirty="0">
              <a:latin typeface="Lucida Console" panose="020B0609040504020204" pitchFamily="49" charset="0"/>
            </a:endParaRPr>
          </a:p>
        </p:txBody>
      </p:sp>
      <p:sp>
        <p:nvSpPr>
          <p:cNvPr id="18437" name="AutoShape 6">
            <a:extLst>
              <a:ext uri="{FF2B5EF4-FFF2-40B4-BE49-F238E27FC236}">
                <a16:creationId xmlns:a16="http://schemas.microsoft.com/office/drawing/2014/main" id="{676A6CD9-B1B5-4B08-A09E-8E18B3A5B9FB}"/>
              </a:ext>
            </a:extLst>
          </p:cNvPr>
          <p:cNvSpPr>
            <a:spLocks/>
          </p:cNvSpPr>
          <p:nvPr/>
        </p:nvSpPr>
        <p:spPr bwMode="auto">
          <a:xfrm>
            <a:off x="1619250" y="5881688"/>
            <a:ext cx="914400" cy="403225"/>
          </a:xfrm>
          <a:prstGeom prst="borderCallout1">
            <a:avLst>
              <a:gd name="adj1" fmla="val -1051"/>
              <a:gd name="adj2" fmla="val 100926"/>
              <a:gd name="adj3" fmla="val -192301"/>
              <a:gd name="adj4" fmla="val 1773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offset</a:t>
            </a:r>
          </a:p>
        </p:txBody>
      </p:sp>
      <p:sp>
        <p:nvSpPr>
          <p:cNvPr id="18438" name="AutoShape 7">
            <a:extLst>
              <a:ext uri="{FF2B5EF4-FFF2-40B4-BE49-F238E27FC236}">
                <a16:creationId xmlns:a16="http://schemas.microsoft.com/office/drawing/2014/main" id="{A54195D2-9862-4751-BD35-205CEBC4BAA7}"/>
              </a:ext>
            </a:extLst>
          </p:cNvPr>
          <p:cNvSpPr>
            <a:spLocks/>
          </p:cNvSpPr>
          <p:nvPr/>
        </p:nvSpPr>
        <p:spPr bwMode="auto">
          <a:xfrm>
            <a:off x="4140200" y="5881688"/>
            <a:ext cx="1655763" cy="403225"/>
          </a:xfrm>
          <a:prstGeom prst="borderCallout1">
            <a:avLst>
              <a:gd name="adj1" fmla="val 60"/>
              <a:gd name="adj2" fmla="val -241"/>
              <a:gd name="adj3" fmla="val -189602"/>
              <a:gd name="adj4" fmla="val -961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base register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12EEF9A-D1B3-4FBE-B5AA-5B658EF60CE3}"/>
              </a:ext>
            </a:extLst>
          </p:cNvPr>
          <p:cNvSpPr>
            <a:spLocks/>
          </p:cNvSpPr>
          <p:nvPr/>
        </p:nvSpPr>
        <p:spPr bwMode="auto">
          <a:xfrm>
            <a:off x="4292600" y="1196752"/>
            <a:ext cx="1655763" cy="403225"/>
          </a:xfrm>
          <a:prstGeom prst="borderCallout1">
            <a:avLst>
              <a:gd name="adj1" fmla="val 41489"/>
              <a:gd name="adj2" fmla="val -772"/>
              <a:gd name="adj3" fmla="val 139653"/>
              <a:gd name="adj4" fmla="val -5315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 dirty="0"/>
              <a:t>in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animBg="1"/>
      <p:bldP spid="184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>
            <a:extLst>
              <a:ext uri="{FF2B5EF4-FFF2-40B4-BE49-F238E27FC236}">
                <a16:creationId xmlns:a16="http://schemas.microsoft.com/office/drawing/2014/main" id="{74FE07DF-103B-4B18-BAC6-DBF4953252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E428660E-261F-475B-9981-57CD60E6056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AU" altLang="en-US" sz="1400"/>
          </a:p>
        </p:txBody>
      </p:sp>
      <p:sp>
        <p:nvSpPr>
          <p:cNvPr id="36867" name="Rectangle 4">
            <a:extLst>
              <a:ext uri="{FF2B5EF4-FFF2-40B4-BE49-F238E27FC236}">
                <a16:creationId xmlns:a16="http://schemas.microsoft.com/office/drawing/2014/main" id="{70B78EF0-2695-44ED-85C5-CEC837C60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Operand Example 2</a:t>
            </a:r>
            <a:endParaRPr lang="en-AU" altLang="en-US"/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DE44CF90-0EE9-486F-8CAC-25B2C1AA70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5039766"/>
          </a:xfrm>
        </p:spPr>
        <p:txBody>
          <a:bodyPr/>
          <a:lstStyle/>
          <a:p>
            <a:pPr eaLnBrk="1" hangingPunct="1"/>
            <a:r>
              <a:rPr lang="en-US" altLang="en-US" dirty="0"/>
              <a:t>C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A[12] = h + A[8];</a:t>
            </a:r>
          </a:p>
          <a:p>
            <a:pPr lvl="1" eaLnBrk="1" hangingPunct="1"/>
            <a:r>
              <a:rPr lang="en-US" altLang="en-US" dirty="0"/>
              <a:t>h in $s2, base address of A in $s3</a:t>
            </a:r>
          </a:p>
          <a:p>
            <a:pPr eaLnBrk="1" hangingPunct="1"/>
            <a:r>
              <a:rPr lang="en-US" altLang="en-US" dirty="0"/>
              <a:t>Compiled MIPS code:</a:t>
            </a:r>
          </a:p>
          <a:p>
            <a:pPr lvl="1" eaLnBrk="1" hangingPunct="1"/>
            <a:r>
              <a:rPr lang="en-US" altLang="en-US" dirty="0"/>
              <a:t>Index [8] requires offset of 32</a:t>
            </a:r>
          </a:p>
          <a:p>
            <a:pPr lvl="1" eaLnBrk="1" hangingPunct="1"/>
            <a:r>
              <a:rPr lang="en-US" altLang="en-US" sz="2800" dirty="0"/>
              <a:t>Index [12] requires offset of 48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 </a:t>
            </a:r>
            <a:r>
              <a:rPr lang="en-US" altLang="en-US" sz="2800" dirty="0" err="1">
                <a:latin typeface="Lucida Console" panose="020B0609040504020204" pitchFamily="49" charset="0"/>
              </a:rPr>
              <a:t>lw</a:t>
            </a:r>
            <a:r>
              <a:rPr lang="en-US" altLang="en-US" sz="2800" dirty="0">
                <a:latin typeface="Lucida Console" panose="020B0609040504020204" pitchFamily="49" charset="0"/>
              </a:rPr>
              <a:t>  $t0, 32($s3)    # load word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add $t0, $s2, $t0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latin typeface="Lucida Console" panose="020B0609040504020204" pitchFamily="49" charset="0"/>
              </a:rPr>
              <a:t>sw</a:t>
            </a:r>
            <a:r>
              <a:rPr lang="en-US" altLang="en-US" sz="2800" dirty="0">
                <a:latin typeface="Lucida Console" panose="020B0609040504020204" pitchFamily="49" charset="0"/>
              </a:rPr>
              <a:t>  $t0, 48($s3)    # store word</a:t>
            </a:r>
            <a:endParaRPr lang="en-AU" altLang="en-US" sz="2800" dirty="0">
              <a:latin typeface="Lucida Console" panose="020B0609040504020204" pitchFamily="49" charset="0"/>
            </a:endParaRP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65FC9102-1897-45FB-A52F-376848A87E5C}"/>
              </a:ext>
            </a:extLst>
          </p:cNvPr>
          <p:cNvSpPr>
            <a:spLocks/>
          </p:cNvSpPr>
          <p:nvPr/>
        </p:nvSpPr>
        <p:spPr bwMode="auto">
          <a:xfrm>
            <a:off x="5076477" y="1196752"/>
            <a:ext cx="1655763" cy="403225"/>
          </a:xfrm>
          <a:prstGeom prst="borderCallout1">
            <a:avLst>
              <a:gd name="adj1" fmla="val 50211"/>
              <a:gd name="adj2" fmla="val 290"/>
              <a:gd name="adj3" fmla="val 139653"/>
              <a:gd name="adj4" fmla="val -356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 dirty="0"/>
              <a:t>in memory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34CA25D-5495-458D-AB8D-E54D9D7D2F7D}"/>
              </a:ext>
            </a:extLst>
          </p:cNvPr>
          <p:cNvCxnSpPr>
            <a:stCxn id="5" idx="2"/>
          </p:cNvCxnSpPr>
          <p:nvPr/>
        </p:nvCxnSpPr>
        <p:spPr bwMode="auto">
          <a:xfrm flipH="1">
            <a:off x="2123729" y="1398365"/>
            <a:ext cx="2952748" cy="3744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>
            <a:extLst>
              <a:ext uri="{FF2B5EF4-FFF2-40B4-BE49-F238E27FC236}">
                <a16:creationId xmlns:a16="http://schemas.microsoft.com/office/drawing/2014/main" id="{4BC28E18-BBDD-480E-BE13-34BB1E4391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051E1253-EB20-4323-8AB6-30B89A32F18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AU" altLang="en-US" sz="1400"/>
          </a:p>
        </p:txBody>
      </p:sp>
      <p:sp>
        <p:nvSpPr>
          <p:cNvPr id="40963" name="Rectangle 4">
            <a:extLst>
              <a:ext uri="{FF2B5EF4-FFF2-40B4-BE49-F238E27FC236}">
                <a16:creationId xmlns:a16="http://schemas.microsoft.com/office/drawing/2014/main" id="{8B9E49CD-B5F5-473C-9627-A65767A44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Registers vs. Memory</a:t>
            </a:r>
            <a:endParaRPr lang="en-AU" altLang="en-US" dirty="0"/>
          </a:p>
        </p:txBody>
      </p:sp>
      <p:sp>
        <p:nvSpPr>
          <p:cNvPr id="40964" name="Rectangle 5">
            <a:extLst>
              <a:ext uri="{FF2B5EF4-FFF2-40B4-BE49-F238E27FC236}">
                <a16:creationId xmlns:a16="http://schemas.microsoft.com/office/drawing/2014/main" id="{1D9756ED-306E-4ABB-A626-E0D1E4122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7050" y="1085850"/>
            <a:ext cx="82708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Compiler should use registers for variables as much as possible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Only spill to memory for less frequently used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Register optimization is important!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Out of the range of this course</a:t>
            </a:r>
            <a:endParaRPr lang="en-AU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199D83DE-184E-44CA-A33B-5F3CEA5AC7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BBADF398-F924-4CDB-8BBE-ED53C106D33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AU" altLang="en-US" sz="1400"/>
          </a:p>
        </p:txBody>
      </p:sp>
      <p:sp>
        <p:nvSpPr>
          <p:cNvPr id="43011" name="Rectangle 4">
            <a:extLst>
              <a:ext uri="{FF2B5EF4-FFF2-40B4-BE49-F238E27FC236}">
                <a16:creationId xmlns:a16="http://schemas.microsoft.com/office/drawing/2014/main" id="{A693B9E0-8A6E-4377-9EAF-C755821DD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Immediate Operands</a:t>
            </a:r>
            <a:endParaRPr lang="en-AU" altLang="en-US"/>
          </a:p>
        </p:txBody>
      </p:sp>
      <p:sp>
        <p:nvSpPr>
          <p:cNvPr id="43012" name="Rectangle 5">
            <a:extLst>
              <a:ext uri="{FF2B5EF4-FFF2-40B4-BE49-F238E27FC236}">
                <a16:creationId xmlns:a16="http://schemas.microsoft.com/office/drawing/2014/main" id="{3A7BB8D1-4601-4146-A4FA-0F8679AFA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2092" y="957752"/>
            <a:ext cx="8442521" cy="551258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Constant data specified in an instruction</a:t>
            </a:r>
          </a:p>
          <a:p>
            <a:pPr lvl="1" eaLnBrk="1" hangingPunct="1"/>
            <a:r>
              <a:rPr lang="en-US" altLang="en-US" dirty="0"/>
              <a:t>add immediate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</a:t>
            </a:r>
            <a:r>
              <a:rPr lang="en-US" altLang="en-US" sz="2400" dirty="0" err="1">
                <a:latin typeface="Lucida Console" panose="020B0609040504020204" pitchFamily="49" charset="0"/>
              </a:rPr>
              <a:t>addi</a:t>
            </a:r>
            <a:r>
              <a:rPr lang="en-US" altLang="en-US" sz="2400" dirty="0">
                <a:latin typeface="Lucida Console" panose="020B0609040504020204" pitchFamily="49" charset="0"/>
              </a:rPr>
              <a:t> $s3, $s3, 4  </a:t>
            </a:r>
            <a:r>
              <a:rPr lang="en-US" altLang="en-US" sz="2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 4 is part of instruction</a:t>
            </a:r>
          </a:p>
          <a:p>
            <a:pPr eaLnBrk="1" hangingPunct="1"/>
            <a:r>
              <a:rPr lang="en-US" altLang="en-US" sz="3000" dirty="0"/>
              <a:t>No “subtract immediate” instruction</a:t>
            </a:r>
          </a:p>
          <a:p>
            <a:pPr lvl="1" eaLnBrk="1" hangingPunct="1"/>
            <a:r>
              <a:rPr lang="en-US" altLang="en-US" dirty="0"/>
              <a:t>Just use a negative constant</a:t>
            </a:r>
          </a:p>
          <a:p>
            <a:pPr lvl="1" eaLnBrk="1" hangingPunct="1"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	</a:t>
            </a:r>
            <a:r>
              <a:rPr lang="en-US" altLang="en-US" sz="2400" dirty="0" err="1">
                <a:latin typeface="Lucida Console" panose="020B0609040504020204" pitchFamily="49" charset="0"/>
              </a:rPr>
              <a:t>addi</a:t>
            </a:r>
            <a:r>
              <a:rPr lang="en-US" altLang="en-US" sz="2400" dirty="0">
                <a:latin typeface="Lucida Console" panose="020B0609040504020204" pitchFamily="49" charset="0"/>
              </a:rPr>
              <a:t> $s2, $s1, -1  # minus 1</a:t>
            </a:r>
          </a:p>
          <a:p>
            <a:pPr lvl="1" eaLnBrk="1" hangingPunct="1"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	</a:t>
            </a:r>
            <a:r>
              <a:rPr lang="en-US" altLang="en-US" sz="2400" dirty="0" err="1">
                <a:latin typeface="Lucida Console" panose="020B0609040504020204" pitchFamily="49" charset="0"/>
              </a:rPr>
              <a:t>addi</a:t>
            </a:r>
            <a:r>
              <a:rPr lang="en-US" altLang="en-US" sz="2400" dirty="0">
                <a:latin typeface="Lucida Console" panose="020B0609040504020204" pitchFamily="49" charset="0"/>
              </a:rPr>
              <a:t> $s2, $s1, -7  # minus 7</a:t>
            </a:r>
          </a:p>
          <a:p>
            <a:pPr eaLnBrk="1" hangingPunct="1"/>
            <a:r>
              <a:rPr lang="en-US" altLang="en-US" sz="3000" i="1" dirty="0"/>
              <a:t>Design Principle 3:</a:t>
            </a:r>
            <a:r>
              <a:rPr lang="en-US" altLang="en-US" sz="3000" dirty="0"/>
              <a:t> Make the common case fast</a:t>
            </a:r>
          </a:p>
          <a:p>
            <a:pPr lvl="1" eaLnBrk="1" hangingPunct="1"/>
            <a:r>
              <a:rPr lang="en-US" altLang="en-US" dirty="0"/>
              <a:t>Small constants are common in programming</a:t>
            </a:r>
          </a:p>
          <a:p>
            <a:pPr lvl="1" eaLnBrk="1" hangingPunct="1"/>
            <a:r>
              <a:rPr lang="en-US" altLang="en-US" dirty="0"/>
              <a:t>Immediate operand avoids a load instruction</a:t>
            </a:r>
            <a:endParaRPr lang="en-AU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>
            <a:extLst>
              <a:ext uri="{FF2B5EF4-FFF2-40B4-BE49-F238E27FC236}">
                <a16:creationId xmlns:a16="http://schemas.microsoft.com/office/drawing/2014/main" id="{3CAB1ABA-6DC5-4970-97DD-24DB0C3B0B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DEE7AA2F-6791-4614-BD70-2A6A578E9E4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AU" altLang="en-US" sz="14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F1A022F3-9915-4567-9BC0-196EEB22C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The Constant Zero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B959FAB-3DB5-484C-9DE5-179A123F8D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6262" y="1125538"/>
            <a:ext cx="8028185" cy="4751387"/>
          </a:xfrm>
        </p:spPr>
        <p:txBody>
          <a:bodyPr/>
          <a:lstStyle/>
          <a:p>
            <a:pPr eaLnBrk="1" hangingPunct="1"/>
            <a:r>
              <a:rPr lang="en-AU" altLang="en-US" dirty="0"/>
              <a:t>MIPS register 0 ($zero) is the constant 0</a:t>
            </a:r>
          </a:p>
          <a:p>
            <a:pPr lvl="1" eaLnBrk="1" hangingPunct="1"/>
            <a:r>
              <a:rPr lang="en-AU" altLang="en-US" dirty="0"/>
              <a:t>Fixed value, always contains 0</a:t>
            </a:r>
          </a:p>
          <a:p>
            <a:pPr lvl="1" eaLnBrk="1" hangingPunct="1"/>
            <a:r>
              <a:rPr lang="en-AU" altLang="en-US" dirty="0"/>
              <a:t>Cannot be overwritten</a:t>
            </a:r>
          </a:p>
          <a:p>
            <a:pPr eaLnBrk="1" hangingPunct="1"/>
            <a:r>
              <a:rPr lang="en-AU" altLang="en-US" dirty="0"/>
              <a:t>Useful for some commonplace operations</a:t>
            </a:r>
          </a:p>
          <a:p>
            <a:pPr lvl="1" eaLnBrk="1" hangingPunct="1"/>
            <a:r>
              <a:rPr lang="en-AU" altLang="en-US" dirty="0"/>
              <a:t>E.g., move between registers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AU" altLang="en-US" dirty="0">
                <a:latin typeface="Lucida Console" panose="020B0609040504020204" pitchFamily="49" charset="0"/>
              </a:rPr>
              <a:t>	add $t2, $s1, $zero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AU" altLang="en-US" dirty="0">
                <a:latin typeface="Lucida Console" panose="020B0609040504020204" pitchFamily="49" charset="0"/>
              </a:rPr>
              <a:t> Equivalent to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AU" altLang="en-US" dirty="0">
                <a:latin typeface="Lucida Console" panose="020B0609040504020204" pitchFamily="49" charset="0"/>
              </a:rPr>
              <a:t>	move $t2, $s1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AU" altLang="en-US" dirty="0">
              <a:latin typeface="Lucida Console" panose="020B06090405040202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0F15B-7063-49D0-9461-348329D788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C4F54A24-E686-45E7-A922-03287376FB3B}" type="slidenum">
              <a:rPr lang="en-AU" altLang="en-US" smtClean="0"/>
              <a:pPr>
                <a:defRPr/>
              </a:pPr>
              <a:t>23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695278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9595FF7E-BDDE-41C0-BAF7-2EEFC3712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9E76123-328D-4D6A-8009-5E486C8C000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AU" altLang="en-US" sz="1400"/>
          </a:p>
        </p:txBody>
      </p:sp>
      <p:sp>
        <p:nvSpPr>
          <p:cNvPr id="47107" name="Rectangle 8">
            <a:extLst>
              <a:ext uri="{FF2B5EF4-FFF2-40B4-BE49-F238E27FC236}">
                <a16:creationId xmlns:a16="http://schemas.microsoft.com/office/drawing/2014/main" id="{C05F0BFE-A987-49CB-A278-0BA8CF841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Unsigned Binary Integers</a:t>
            </a:r>
            <a:endParaRPr lang="en-AU" altLang="en-US"/>
          </a:p>
        </p:txBody>
      </p:sp>
      <p:sp>
        <p:nvSpPr>
          <p:cNvPr id="46084" name="Rectangle 9">
            <a:extLst>
              <a:ext uri="{FF2B5EF4-FFF2-40B4-BE49-F238E27FC236}">
                <a16:creationId xmlns:a16="http://schemas.microsoft.com/office/drawing/2014/main" id="{15255716-AAF1-486C-838A-A82F592E3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2971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Given an n-bit binary number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AU" altLang="en-US" dirty="0"/>
              <a:t>b</a:t>
            </a:r>
            <a:r>
              <a:rPr lang="en-AU" altLang="en-US" baseline="-25000" dirty="0"/>
              <a:t>n-1</a:t>
            </a:r>
            <a:r>
              <a:rPr lang="en-AU" altLang="en-US" dirty="0"/>
              <a:t>b</a:t>
            </a:r>
            <a:r>
              <a:rPr lang="en-AU" altLang="en-US" baseline="-25000" dirty="0"/>
              <a:t>n-2</a:t>
            </a:r>
            <a:r>
              <a:rPr lang="en-AU" altLang="en-US" dirty="0"/>
              <a:t>… b</a:t>
            </a:r>
            <a:r>
              <a:rPr lang="en-AU" altLang="en-US" baseline="-25000" dirty="0"/>
              <a:t>1</a:t>
            </a:r>
            <a:r>
              <a:rPr lang="en-AU" altLang="en-US" dirty="0"/>
              <a:t>b</a:t>
            </a:r>
            <a:r>
              <a:rPr lang="en-AU" altLang="en-US" baseline="-25000" dirty="0"/>
              <a:t>0</a:t>
            </a:r>
            <a:endParaRPr lang="en-AU" altLang="en-US" dirty="0"/>
          </a:p>
          <a:p>
            <a:pPr eaLnBrk="1" hangingPunct="1">
              <a:defRPr/>
            </a:pPr>
            <a:r>
              <a:rPr lang="en-AU" altLang="en-US" dirty="0"/>
              <a:t>Its decimal value x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AU" altLang="en-US" dirty="0"/>
              <a:t>x = b</a:t>
            </a:r>
            <a:r>
              <a:rPr lang="en-AU" altLang="en-US" baseline="-25000" dirty="0"/>
              <a:t>n-1</a:t>
            </a:r>
            <a:r>
              <a:rPr lang="en-US" altLang="en-US" dirty="0"/>
              <a:t>×2</a:t>
            </a:r>
            <a:r>
              <a:rPr lang="en-AU" altLang="en-US" baseline="30000" dirty="0"/>
              <a:t>n-1 </a:t>
            </a:r>
            <a:r>
              <a:rPr lang="en-AU" altLang="en-US" dirty="0"/>
              <a:t>+ b</a:t>
            </a:r>
            <a:r>
              <a:rPr lang="en-AU" altLang="en-US" baseline="-25000" dirty="0"/>
              <a:t>n-2</a:t>
            </a:r>
            <a:r>
              <a:rPr lang="en-US" altLang="en-US" dirty="0"/>
              <a:t>×2</a:t>
            </a:r>
            <a:r>
              <a:rPr lang="en-AU" altLang="en-US" baseline="30000" dirty="0"/>
              <a:t>n-2 </a:t>
            </a:r>
            <a:r>
              <a:rPr lang="en-AU" altLang="en-US" dirty="0"/>
              <a:t>+… + b</a:t>
            </a:r>
            <a:r>
              <a:rPr lang="en-AU" altLang="en-US" baseline="-25000" dirty="0"/>
              <a:t>1</a:t>
            </a:r>
            <a:r>
              <a:rPr lang="en-US" altLang="en-US" dirty="0"/>
              <a:t>×2</a:t>
            </a:r>
            <a:r>
              <a:rPr lang="en-AU" altLang="en-US" baseline="30000" dirty="0"/>
              <a:t>1 </a:t>
            </a:r>
            <a:r>
              <a:rPr lang="en-AU" altLang="en-US" dirty="0"/>
              <a:t>+ b</a:t>
            </a:r>
            <a:r>
              <a:rPr lang="en-AU" altLang="en-US" baseline="-25000" dirty="0"/>
              <a:t>0</a:t>
            </a:r>
            <a:r>
              <a:rPr lang="en-US" altLang="en-US" dirty="0"/>
              <a:t>×2</a:t>
            </a:r>
            <a:r>
              <a:rPr lang="en-AU" altLang="en-US" baseline="30000" dirty="0"/>
              <a:t>0</a:t>
            </a:r>
            <a:endParaRPr lang="en-AU" altLang="en-US" dirty="0"/>
          </a:p>
          <a:p>
            <a:pPr lvl="1" eaLnBrk="1" hangingPunct="1">
              <a:defRPr/>
            </a:pPr>
            <a:endParaRPr lang="en-AU" altLang="en-US" dirty="0"/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C1B6553C-1A13-46E4-ADD1-C61319C09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854450"/>
            <a:ext cx="8093075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Range: 0 to +2</a:t>
            </a:r>
            <a:r>
              <a:rPr lang="en-US" altLang="en-US" baseline="30000" dirty="0"/>
              <a:t>n</a:t>
            </a:r>
            <a:r>
              <a:rPr lang="en-US" altLang="en-US" dirty="0"/>
              <a:t> – 1</a:t>
            </a:r>
          </a:p>
          <a:p>
            <a:pPr eaLnBrk="1" hangingPunct="1"/>
            <a:r>
              <a:rPr lang="en-US" altLang="en-US" dirty="0"/>
              <a:t>Example: </a:t>
            </a:r>
          </a:p>
          <a:p>
            <a:pPr lvl="1" eaLnBrk="1" hangingPunct="1"/>
            <a:r>
              <a:rPr lang="en-US" altLang="en-US" dirty="0"/>
              <a:t>n = 4; Range: 0 to 15 (0000 – 1111)</a:t>
            </a:r>
          </a:p>
          <a:p>
            <a:pPr lvl="1" eaLnBrk="1" hangingPunct="1"/>
            <a:r>
              <a:rPr lang="en-US" altLang="en-US" dirty="0"/>
              <a:t>n = 5; Range: 0 to 31 (00000 – 11111)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47110" name="Text Box 7">
            <a:extLst>
              <a:ext uri="{FF2B5EF4-FFF2-40B4-BE49-F238E27FC236}">
                <a16:creationId xmlns:a16="http://schemas.microsoft.com/office/drawing/2014/main" id="{7ED7681B-8894-4139-9CD1-B046EF461215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027069" y="1750219"/>
            <a:ext cx="3867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§2.4 Signed and Unsigned Numbers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>
            <a:extLst>
              <a:ext uri="{FF2B5EF4-FFF2-40B4-BE49-F238E27FC236}">
                <a16:creationId xmlns:a16="http://schemas.microsoft.com/office/drawing/2014/main" id="{F440B39C-AE34-4CBB-BFB7-48A504733D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2705E7B6-45E6-4A24-A10F-62ADC124960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AU" altLang="en-US" sz="1400"/>
          </a:p>
        </p:txBody>
      </p:sp>
      <p:sp>
        <p:nvSpPr>
          <p:cNvPr id="49155" name="Rectangle 8">
            <a:extLst>
              <a:ext uri="{FF2B5EF4-FFF2-40B4-BE49-F238E27FC236}">
                <a16:creationId xmlns:a16="http://schemas.microsoft.com/office/drawing/2014/main" id="{21C66055-AAF9-4158-BE6C-37A57F53A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Unsigned Binary Integers</a:t>
            </a:r>
            <a:endParaRPr lang="en-AU" altLang="en-US"/>
          </a:p>
        </p:txBody>
      </p:sp>
      <p:sp>
        <p:nvSpPr>
          <p:cNvPr id="49156" name="Text Box 7">
            <a:extLst>
              <a:ext uri="{FF2B5EF4-FFF2-40B4-BE49-F238E27FC236}">
                <a16:creationId xmlns:a16="http://schemas.microsoft.com/office/drawing/2014/main" id="{20796F19-2A6C-4596-B161-1F02E027498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027069" y="1750219"/>
            <a:ext cx="3867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§2.4 Signed and Unsigned Numbers</a:t>
            </a:r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6560ACE8-F47A-4A0E-97F3-4702D2307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208088"/>
            <a:ext cx="8093075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MIPS Example</a:t>
            </a:r>
          </a:p>
          <a:p>
            <a:pPr lvl="1" eaLnBrk="1" hangingPunct="1"/>
            <a:r>
              <a:rPr lang="en-US" altLang="en-US" sz="2400" dirty="0"/>
              <a:t>0000 0000 0000 0000 0000 0000 0000 1011</a:t>
            </a:r>
            <a:r>
              <a:rPr lang="en-US" altLang="en-US" sz="2400" baseline="-25000" dirty="0"/>
              <a:t>2</a:t>
            </a:r>
            <a:br>
              <a:rPr lang="en-US" altLang="en-US" sz="2400" dirty="0"/>
            </a:br>
            <a:r>
              <a:rPr lang="en-US" altLang="en-US" sz="2400" dirty="0"/>
              <a:t>= 0×2</a:t>
            </a:r>
            <a:r>
              <a:rPr lang="en-US" altLang="en-US" sz="2400" baseline="30000" dirty="0"/>
              <a:t>31</a:t>
            </a:r>
            <a:r>
              <a:rPr lang="en-US" altLang="en-US" sz="2400" dirty="0"/>
              <a:t> + 0×2</a:t>
            </a:r>
            <a:r>
              <a:rPr lang="en-US" altLang="en-US" sz="2400" baseline="30000" dirty="0"/>
              <a:t>30</a:t>
            </a:r>
            <a:r>
              <a:rPr lang="en-US" altLang="en-US" sz="2400" dirty="0"/>
              <a:t> + … + 1×2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 + 0×2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 +1×2</a:t>
            </a:r>
            <a:r>
              <a:rPr lang="en-US" altLang="en-US" sz="2400" baseline="30000" dirty="0"/>
              <a:t>1</a:t>
            </a:r>
            <a:r>
              <a:rPr lang="en-US" altLang="en-US" sz="2400" dirty="0"/>
              <a:t> +1×2</a:t>
            </a:r>
            <a:r>
              <a:rPr lang="en-US" altLang="en-US" sz="2400" baseline="30000" dirty="0"/>
              <a:t>0</a:t>
            </a:r>
            <a:br>
              <a:rPr lang="en-US" altLang="en-US" sz="2400" dirty="0"/>
            </a:br>
            <a:r>
              <a:rPr lang="en-US" altLang="en-US" sz="2400" dirty="0"/>
              <a:t>= 0       </a:t>
            </a:r>
            <a:r>
              <a:rPr lang="en-US" altLang="en-US" sz="2400" baseline="30000" dirty="0"/>
              <a:t> </a:t>
            </a:r>
            <a:r>
              <a:rPr lang="en-US" altLang="en-US" sz="2400" dirty="0"/>
              <a:t>+ 0        + … + 8     </a:t>
            </a:r>
            <a:r>
              <a:rPr lang="en-US" altLang="en-US" sz="2400" baseline="30000" dirty="0"/>
              <a:t>  </a:t>
            </a:r>
            <a:r>
              <a:rPr lang="en-US" altLang="en-US" sz="2400" dirty="0"/>
              <a:t>+ 0      </a:t>
            </a:r>
            <a:r>
              <a:rPr lang="en-US" altLang="en-US" sz="2400" baseline="30000" dirty="0"/>
              <a:t> </a:t>
            </a:r>
            <a:r>
              <a:rPr lang="en-US" altLang="en-US" sz="2400" dirty="0"/>
              <a:t>+2   </a:t>
            </a:r>
            <a:r>
              <a:rPr lang="en-US" altLang="en-US" sz="2400" baseline="30000" dirty="0"/>
              <a:t>     </a:t>
            </a:r>
            <a:r>
              <a:rPr lang="en-US" altLang="en-US" sz="2400" dirty="0"/>
              <a:t>+1 = 11</a:t>
            </a:r>
            <a:r>
              <a:rPr lang="en-US" altLang="en-US" sz="2400" baseline="-25000" dirty="0"/>
              <a:t>10</a:t>
            </a:r>
            <a:endParaRPr lang="en-US" altLang="en-US" sz="2400" dirty="0"/>
          </a:p>
          <a:p>
            <a:pPr eaLnBrk="1" hangingPunct="1"/>
            <a:r>
              <a:rPr lang="en-US" altLang="en-US" dirty="0"/>
              <a:t>Using 32 bits</a:t>
            </a:r>
          </a:p>
          <a:p>
            <a:pPr lvl="1" eaLnBrk="1" hangingPunct="1"/>
            <a:r>
              <a:rPr lang="en-US" altLang="en-US" dirty="0"/>
              <a:t>0 to +4,294,967,295</a:t>
            </a:r>
          </a:p>
          <a:p>
            <a:pPr lvl="1" eaLnBrk="1" hangingPunct="1"/>
            <a:r>
              <a:rPr lang="en-US" altLang="en-US" dirty="0"/>
              <a:t>(00…0000 to 11…1111)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>
            <a:extLst>
              <a:ext uri="{FF2B5EF4-FFF2-40B4-BE49-F238E27FC236}">
                <a16:creationId xmlns:a16="http://schemas.microsoft.com/office/drawing/2014/main" id="{9493C451-264D-4AA7-ADB2-A8832A7E9D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162C9A8-6234-493A-98E3-07326020FA1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AU" altLang="en-US" sz="1400"/>
          </a:p>
        </p:txBody>
      </p:sp>
      <p:sp>
        <p:nvSpPr>
          <p:cNvPr id="51203" name="Rectangle 6">
            <a:extLst>
              <a:ext uri="{FF2B5EF4-FFF2-40B4-BE49-F238E27FC236}">
                <a16:creationId xmlns:a16="http://schemas.microsoft.com/office/drawing/2014/main" id="{52075D92-E6E6-4A2A-BC90-9215DC892E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2s-Complement Signed Integers</a:t>
            </a:r>
            <a:endParaRPr lang="en-AU" altLang="en-US" sz="4000"/>
          </a:p>
        </p:txBody>
      </p:sp>
      <p:sp>
        <p:nvSpPr>
          <p:cNvPr id="51204" name="Rectangle 5">
            <a:extLst>
              <a:ext uri="{FF2B5EF4-FFF2-40B4-BE49-F238E27FC236}">
                <a16:creationId xmlns:a16="http://schemas.microsoft.com/office/drawing/2014/main" id="{8D0BDB4A-F86A-4C02-BCA9-463B3E11D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933825"/>
            <a:ext cx="8270875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1FC1C23D-1830-47BA-9F18-F91E79C08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477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Given an n-bit binary number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AU" altLang="en-US" dirty="0"/>
              <a:t>b</a:t>
            </a:r>
            <a:r>
              <a:rPr lang="en-AU" altLang="en-US" baseline="-25000" dirty="0"/>
              <a:t>n-1</a:t>
            </a:r>
            <a:r>
              <a:rPr lang="en-AU" altLang="en-US" dirty="0"/>
              <a:t>b</a:t>
            </a:r>
            <a:r>
              <a:rPr lang="en-AU" altLang="en-US" baseline="-25000" dirty="0"/>
              <a:t>n-2</a:t>
            </a:r>
            <a:r>
              <a:rPr lang="en-AU" altLang="en-US" dirty="0"/>
              <a:t>… b</a:t>
            </a:r>
            <a:r>
              <a:rPr lang="en-AU" altLang="en-US" baseline="-25000" dirty="0"/>
              <a:t>1</a:t>
            </a:r>
            <a:r>
              <a:rPr lang="en-AU" altLang="en-US" dirty="0"/>
              <a:t>b</a:t>
            </a:r>
            <a:r>
              <a:rPr lang="en-AU" altLang="en-US" baseline="-25000" dirty="0"/>
              <a:t>0</a:t>
            </a:r>
            <a:endParaRPr lang="en-AU" altLang="en-US" dirty="0"/>
          </a:p>
          <a:p>
            <a:pPr eaLnBrk="1" hangingPunct="1">
              <a:defRPr/>
            </a:pPr>
            <a:r>
              <a:rPr lang="en-AU" altLang="en-US" dirty="0"/>
              <a:t>Its decimal value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AU" altLang="en-US" dirty="0"/>
              <a:t>x = −b</a:t>
            </a:r>
            <a:r>
              <a:rPr lang="en-AU" altLang="en-US" baseline="-25000" dirty="0"/>
              <a:t>n-1</a:t>
            </a:r>
            <a:r>
              <a:rPr lang="en-US" altLang="en-US" dirty="0"/>
              <a:t>×2</a:t>
            </a:r>
            <a:r>
              <a:rPr lang="en-AU" altLang="en-US" baseline="30000" dirty="0"/>
              <a:t>n-1 </a:t>
            </a:r>
            <a:r>
              <a:rPr lang="en-AU" altLang="en-US" dirty="0"/>
              <a:t>+ b</a:t>
            </a:r>
            <a:r>
              <a:rPr lang="en-AU" altLang="en-US" baseline="-25000" dirty="0"/>
              <a:t>n-2</a:t>
            </a:r>
            <a:r>
              <a:rPr lang="en-US" altLang="en-US" dirty="0"/>
              <a:t>×2</a:t>
            </a:r>
            <a:r>
              <a:rPr lang="en-AU" altLang="en-US" baseline="30000" dirty="0"/>
              <a:t>n-2 </a:t>
            </a:r>
            <a:r>
              <a:rPr lang="en-AU" altLang="en-US" dirty="0"/>
              <a:t>+… + b</a:t>
            </a:r>
            <a:r>
              <a:rPr lang="en-AU" altLang="en-US" baseline="-25000" dirty="0"/>
              <a:t>1</a:t>
            </a:r>
            <a:r>
              <a:rPr lang="en-US" altLang="en-US" dirty="0"/>
              <a:t>×2</a:t>
            </a:r>
            <a:r>
              <a:rPr lang="en-AU" altLang="en-US" baseline="30000" dirty="0"/>
              <a:t>1 </a:t>
            </a:r>
            <a:r>
              <a:rPr lang="en-AU" altLang="en-US" dirty="0"/>
              <a:t>+ b</a:t>
            </a:r>
            <a:r>
              <a:rPr lang="en-AU" altLang="en-US" baseline="-25000" dirty="0"/>
              <a:t>0</a:t>
            </a:r>
            <a:r>
              <a:rPr lang="en-US" altLang="en-US" dirty="0"/>
              <a:t>×2</a:t>
            </a:r>
            <a:r>
              <a:rPr lang="en-AU" altLang="en-US" baseline="30000" dirty="0"/>
              <a:t>0</a:t>
            </a:r>
            <a:endParaRPr lang="en-AU" altLang="en-US" dirty="0"/>
          </a:p>
          <a:p>
            <a:pPr lvl="1" eaLnBrk="1" hangingPunct="1">
              <a:defRPr/>
            </a:pPr>
            <a:endParaRPr lang="en-AU" altLang="en-US" dirty="0"/>
          </a:p>
        </p:txBody>
      </p:sp>
      <p:sp>
        <p:nvSpPr>
          <p:cNvPr id="51206" name="Rectangle 5">
            <a:extLst>
              <a:ext uri="{FF2B5EF4-FFF2-40B4-BE49-F238E27FC236}">
                <a16:creationId xmlns:a16="http://schemas.microsoft.com/office/drawing/2014/main" id="{09F2FBB9-DDE6-4DA0-91EF-3FC8602DB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854450"/>
            <a:ext cx="8093075" cy="180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Range: −2</a:t>
            </a:r>
            <a:r>
              <a:rPr lang="en-US" altLang="en-US" baseline="30000"/>
              <a:t>n-1</a:t>
            </a:r>
            <a:r>
              <a:rPr lang="en-US" altLang="en-US"/>
              <a:t> to +2</a:t>
            </a:r>
            <a:r>
              <a:rPr lang="en-US" altLang="en-US" baseline="30000"/>
              <a:t>n-1</a:t>
            </a:r>
            <a:r>
              <a:rPr lang="en-US" altLang="en-US"/>
              <a:t> − 1</a:t>
            </a:r>
          </a:p>
          <a:p>
            <a:pPr eaLnBrk="1" hangingPunct="1"/>
            <a:r>
              <a:rPr lang="en-US" altLang="en-US"/>
              <a:t>Example: </a:t>
            </a:r>
          </a:p>
          <a:p>
            <a:pPr lvl="1" eaLnBrk="1" hangingPunct="1"/>
            <a:r>
              <a:rPr lang="en-US" altLang="en-US"/>
              <a:t>n = 4; Range: -8 to +7 (1000 – 0111)</a:t>
            </a:r>
          </a:p>
          <a:p>
            <a:pPr lvl="1" eaLnBrk="1" hangingPunct="1"/>
            <a:r>
              <a:rPr lang="en-US" altLang="en-US"/>
              <a:t>n = 5; Range: -16 to +15 (10000 – 01111)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26342BF3-694E-41B8-B46B-2B2801437E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B8FF4C0-DB8B-46E7-82B9-86757A9BC7B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AU" altLang="en-US" sz="1400"/>
          </a:p>
        </p:txBody>
      </p:sp>
      <p:sp>
        <p:nvSpPr>
          <p:cNvPr id="53251" name="Rectangle 6">
            <a:extLst>
              <a:ext uri="{FF2B5EF4-FFF2-40B4-BE49-F238E27FC236}">
                <a16:creationId xmlns:a16="http://schemas.microsoft.com/office/drawing/2014/main" id="{23CC3F1F-7C02-4BBD-B630-DFDF714CE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2s-Complement Signed Integers</a:t>
            </a:r>
            <a:endParaRPr lang="en-AU" altLang="en-US" sz="4000"/>
          </a:p>
        </p:txBody>
      </p:sp>
      <p:sp>
        <p:nvSpPr>
          <p:cNvPr id="53252" name="Rectangle 5">
            <a:extLst>
              <a:ext uri="{FF2B5EF4-FFF2-40B4-BE49-F238E27FC236}">
                <a16:creationId xmlns:a16="http://schemas.microsoft.com/office/drawing/2014/main" id="{8A097899-BD38-488A-B8AC-AF2F4A671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8" y="1125538"/>
            <a:ext cx="8270875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MIPS Example</a:t>
            </a:r>
          </a:p>
          <a:p>
            <a:pPr lvl="1" eaLnBrk="1" hangingPunct="1"/>
            <a:r>
              <a:rPr lang="en-US" altLang="en-US" sz="2400"/>
              <a:t>1111 1111 1111 1111 1111 1111 1111 1100</a:t>
            </a:r>
            <a:r>
              <a:rPr lang="en-US" altLang="en-US" sz="2400" baseline="-25000"/>
              <a:t>2</a:t>
            </a:r>
            <a:br>
              <a:rPr lang="en-US" altLang="en-US" sz="2400"/>
            </a:br>
            <a:r>
              <a:rPr lang="en-US" altLang="en-US" sz="2400"/>
              <a:t>= −1×2</a:t>
            </a:r>
            <a:r>
              <a:rPr lang="en-US" altLang="en-US" sz="2400" baseline="30000"/>
              <a:t>31</a:t>
            </a:r>
            <a:r>
              <a:rPr lang="en-US" altLang="en-US" sz="2400"/>
              <a:t> + 1×2</a:t>
            </a:r>
            <a:r>
              <a:rPr lang="en-US" altLang="en-US" sz="2400" baseline="30000"/>
              <a:t>30</a:t>
            </a:r>
            <a:r>
              <a:rPr lang="en-US" altLang="en-US" sz="2400"/>
              <a:t> + … + 1×2</a:t>
            </a:r>
            <a:r>
              <a:rPr lang="en-US" altLang="en-US" sz="2400" baseline="30000"/>
              <a:t>2</a:t>
            </a:r>
            <a:r>
              <a:rPr lang="en-US" altLang="en-US" sz="2400"/>
              <a:t> +0×2</a:t>
            </a:r>
            <a:r>
              <a:rPr lang="en-US" altLang="en-US" sz="2400" baseline="30000"/>
              <a:t>1</a:t>
            </a:r>
            <a:r>
              <a:rPr lang="en-US" altLang="en-US" sz="2400"/>
              <a:t> + 0×2</a:t>
            </a:r>
            <a:r>
              <a:rPr lang="en-US" altLang="en-US" sz="2400" baseline="30000"/>
              <a:t>0</a:t>
            </a:r>
            <a:br>
              <a:rPr lang="en-US" altLang="en-US" sz="2400"/>
            </a:br>
            <a:r>
              <a:rPr lang="en-US" altLang="en-US" sz="2400"/>
              <a:t>= −2,147,483,648 + 2,147,483,644 = −4</a:t>
            </a:r>
            <a:r>
              <a:rPr lang="en-US" altLang="en-US" sz="2400" baseline="-25000"/>
              <a:t>10</a:t>
            </a:r>
            <a:endParaRPr lang="en-US" altLang="en-US" sz="2400"/>
          </a:p>
          <a:p>
            <a:pPr eaLnBrk="1" hangingPunct="1"/>
            <a:r>
              <a:rPr lang="en-US" altLang="en-US"/>
              <a:t>Using 32 bits</a:t>
            </a:r>
          </a:p>
          <a:p>
            <a:pPr lvl="1" eaLnBrk="1" hangingPunct="1"/>
            <a:r>
              <a:rPr lang="en-US" altLang="en-US"/>
              <a:t>−2,147,483,648 to +2,147,483,647</a:t>
            </a:r>
          </a:p>
          <a:p>
            <a:pPr lvl="1" eaLnBrk="1" hangingPunct="1"/>
            <a:r>
              <a:rPr lang="en-US" altLang="en-US"/>
              <a:t>(100…000    to    0111…111)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>
            <a:extLst>
              <a:ext uri="{FF2B5EF4-FFF2-40B4-BE49-F238E27FC236}">
                <a16:creationId xmlns:a16="http://schemas.microsoft.com/office/drawing/2014/main" id="{C755A066-C2AD-4E85-AC48-E79EBB763C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2B8E174D-C83F-43EF-A561-1CAD9F3EC90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AU" altLang="en-US" sz="1400"/>
          </a:p>
        </p:txBody>
      </p:sp>
      <p:sp>
        <p:nvSpPr>
          <p:cNvPr id="55299" name="Rectangle 4">
            <a:extLst>
              <a:ext uri="{FF2B5EF4-FFF2-40B4-BE49-F238E27FC236}">
                <a16:creationId xmlns:a16="http://schemas.microsoft.com/office/drawing/2014/main" id="{DDC6B71C-679B-42EA-9801-6BCE947999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2s-Complement Signed Integers</a:t>
            </a:r>
            <a:endParaRPr lang="en-AU" altLang="en-US" sz="4000"/>
          </a:p>
        </p:txBody>
      </p:sp>
      <p:sp>
        <p:nvSpPr>
          <p:cNvPr id="55300" name="Rectangle 5">
            <a:extLst>
              <a:ext uri="{FF2B5EF4-FFF2-40B4-BE49-F238E27FC236}">
                <a16:creationId xmlns:a16="http://schemas.microsoft.com/office/drawing/2014/main" id="{CD317755-2E4C-4912-9D05-1BDFBE9E8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800" dirty="0"/>
              <a:t>Bit 31 is used as </a:t>
            </a:r>
            <a:r>
              <a:rPr lang="en-US" altLang="en-US" sz="2800" dirty="0">
                <a:solidFill>
                  <a:srgbClr val="C00000"/>
                </a:solidFill>
              </a:rPr>
              <a:t>sign-bit</a:t>
            </a:r>
          </a:p>
          <a:p>
            <a:pPr lvl="1" eaLnBrk="1" hangingPunct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400" dirty="0"/>
              <a:t>1: the number is negative</a:t>
            </a:r>
          </a:p>
          <a:p>
            <a:pPr lvl="1" eaLnBrk="1" hangingPunct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400" dirty="0"/>
              <a:t>0: the number is non-negative (positive or zero)</a:t>
            </a:r>
          </a:p>
          <a:p>
            <a:pPr eaLnBrk="1" hangingPunct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800" dirty="0"/>
              <a:t>+</a:t>
            </a:r>
            <a:r>
              <a:rPr lang="en-AU" altLang="en-US" sz="2800" dirty="0"/>
              <a:t>2</a:t>
            </a:r>
            <a:r>
              <a:rPr lang="en-AU" altLang="en-US" sz="2800" baseline="30000" dirty="0"/>
              <a:t>n – 1</a:t>
            </a:r>
            <a:r>
              <a:rPr lang="en-AU" altLang="en-US" sz="2800" dirty="0"/>
              <a:t> can’t be represented</a:t>
            </a:r>
          </a:p>
          <a:p>
            <a:pPr eaLnBrk="1" hangingPunct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800" dirty="0"/>
              <a:t>Non-negative numbers have the same unsigned and 2s-complement representation</a:t>
            </a:r>
            <a:endParaRPr lang="en-AU" altLang="en-US" sz="2800" dirty="0"/>
          </a:p>
          <a:p>
            <a:pPr eaLnBrk="1" hangingPunct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800" dirty="0"/>
              <a:t>Some special numbers</a:t>
            </a:r>
          </a:p>
          <a:p>
            <a:pPr lvl="1" eaLnBrk="1" hangingPunct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400" dirty="0"/>
              <a:t>  0:	0000 0000 … 0000</a:t>
            </a:r>
          </a:p>
          <a:p>
            <a:pPr lvl="1" eaLnBrk="1" hangingPunct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AU" altLang="en-US" sz="2400" dirty="0"/>
              <a:t>–1:	1111 1111 … 1111</a:t>
            </a:r>
          </a:p>
          <a:p>
            <a:pPr lvl="1" eaLnBrk="1" hangingPunct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400" dirty="0"/>
              <a:t>Most-negative:	1000 0000 … 0000  </a:t>
            </a:r>
            <a:r>
              <a:rPr lang="en-AU" altLang="en-US" sz="2400" dirty="0"/>
              <a:t>(</a:t>
            </a:r>
            <a:r>
              <a:rPr lang="en-US" altLang="en-US" sz="2400" dirty="0"/>
              <a:t>−</a:t>
            </a:r>
            <a:r>
              <a:rPr lang="en-AU" altLang="en-US" sz="2400" dirty="0"/>
              <a:t>2</a:t>
            </a:r>
            <a:r>
              <a:rPr lang="en-AU" altLang="en-US" sz="2400" baseline="30000" dirty="0"/>
              <a:t>n – 1</a:t>
            </a:r>
            <a:r>
              <a:rPr lang="en-AU" altLang="en-US" sz="2400" dirty="0"/>
              <a:t>)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400" dirty="0"/>
              <a:t>Most-positive:	0111 1111 … 1111  </a:t>
            </a:r>
            <a:r>
              <a:rPr lang="en-AU" altLang="en-US" sz="2400" dirty="0"/>
              <a:t>(+2</a:t>
            </a:r>
            <a:r>
              <a:rPr lang="en-AU" altLang="en-US" sz="2400" baseline="30000" dirty="0"/>
              <a:t>n – 1 </a:t>
            </a:r>
            <a:r>
              <a:rPr lang="en-US" altLang="en-US" sz="2400" dirty="0"/>
              <a:t>− </a:t>
            </a:r>
            <a:r>
              <a:rPr lang="en-AU" altLang="en-US" sz="2400" dirty="0"/>
              <a:t>1)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3">
            <a:extLst>
              <a:ext uri="{FF2B5EF4-FFF2-40B4-BE49-F238E27FC236}">
                <a16:creationId xmlns:a16="http://schemas.microsoft.com/office/drawing/2014/main" id="{10A3DC69-504D-457E-AED4-6D1356579F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228BD18E-F855-4E89-8A13-9A227A48BA9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AU" altLang="en-US" sz="1400"/>
          </a:p>
        </p:txBody>
      </p:sp>
      <p:sp>
        <p:nvSpPr>
          <p:cNvPr id="57347" name="Rectangle 6">
            <a:extLst>
              <a:ext uri="{FF2B5EF4-FFF2-40B4-BE49-F238E27FC236}">
                <a16:creationId xmlns:a16="http://schemas.microsoft.com/office/drawing/2014/main" id="{8F8AE3E6-8C73-4E0E-AB1C-DA44F4FEB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Signed Negation</a:t>
            </a:r>
            <a:endParaRPr lang="en-AU" altLang="en-US"/>
          </a:p>
        </p:txBody>
      </p:sp>
      <p:sp>
        <p:nvSpPr>
          <p:cNvPr id="41988" name="Rectangle 7">
            <a:extLst>
              <a:ext uri="{FF2B5EF4-FFF2-40B4-BE49-F238E27FC236}">
                <a16:creationId xmlns:a16="http://schemas.microsoft.com/office/drawing/2014/main" id="{5EF4CAD3-C483-434F-86E8-C75549605E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295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Step 1: Complement all bits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Step 2: Add 1</a:t>
            </a:r>
          </a:p>
          <a:p>
            <a:pPr lvl="1" eaLnBrk="1" hangingPunct="1">
              <a:defRPr/>
            </a:pPr>
            <a:r>
              <a:rPr lang="en-US" altLang="en-US" dirty="0"/>
              <a:t>Complement means 1 </a:t>
            </a:r>
            <a:r>
              <a:rPr lang="en-US" altLang="en-US" dirty="0">
                <a:cs typeface="Arial" panose="020B0604020202020204" pitchFamily="34" charset="0"/>
              </a:rPr>
              <a:t>→ </a:t>
            </a:r>
            <a:r>
              <a:rPr lang="en-US" altLang="en-US" dirty="0"/>
              <a:t>0, 0 </a:t>
            </a:r>
            <a:r>
              <a:rPr lang="en-US" altLang="en-US" dirty="0">
                <a:cs typeface="Arial" panose="020B0604020202020204" pitchFamily="34" charset="0"/>
              </a:rPr>
              <a:t>→</a:t>
            </a:r>
            <a:r>
              <a:rPr lang="en-US" altLang="en-US" dirty="0"/>
              <a:t> 1 (flip)</a:t>
            </a:r>
          </a:p>
        </p:txBody>
      </p:sp>
      <p:graphicFrame>
        <p:nvGraphicFramePr>
          <p:cNvPr id="57349" name="Object 4">
            <a:extLst>
              <a:ext uri="{FF2B5EF4-FFF2-40B4-BE49-F238E27FC236}">
                <a16:creationId xmlns:a16="http://schemas.microsoft.com/office/drawing/2014/main" id="{63A47B62-D981-4166-9687-8DF5D70CFE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2263" y="2830513"/>
          <a:ext cx="35147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100" imgH="508000" progId="Equation.3">
                  <p:embed/>
                </p:oleObj>
              </mc:Choice>
              <mc:Fallback>
                <p:oleObj name="Equation" r:id="rId3" imgW="1562100" imgH="508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2830513"/>
                        <a:ext cx="3514725" cy="11430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Rectangle 5">
            <a:extLst>
              <a:ext uri="{FF2B5EF4-FFF2-40B4-BE49-F238E27FC236}">
                <a16:creationId xmlns:a16="http://schemas.microsoft.com/office/drawing/2014/main" id="{04FF8948-0B60-406A-9E20-EC0B45E1C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933825"/>
            <a:ext cx="8270875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Example: negate +2</a:t>
            </a:r>
          </a:p>
          <a:p>
            <a:pPr lvl="1" eaLnBrk="1" hangingPunct="1"/>
            <a:r>
              <a:rPr lang="en-US" altLang="en-US"/>
              <a:t>+2 = 0000 0000 … 0010</a:t>
            </a:r>
            <a:r>
              <a:rPr lang="en-US" altLang="en-US" baseline="-25000"/>
              <a:t>2</a:t>
            </a:r>
            <a:endParaRPr lang="en-US" altLang="en-US"/>
          </a:p>
          <a:p>
            <a:pPr lvl="1" eaLnBrk="1" hangingPunct="1"/>
            <a:r>
              <a:rPr lang="en-US" altLang="en-US"/>
              <a:t>−2 = 1111 1111 … 1101</a:t>
            </a:r>
            <a:r>
              <a:rPr lang="en-US" altLang="en-US" baseline="-25000"/>
              <a:t>2</a:t>
            </a:r>
            <a:r>
              <a:rPr lang="en-US" altLang="en-US"/>
              <a:t> + 1</a:t>
            </a:r>
            <a:br>
              <a:rPr lang="en-US" altLang="en-US"/>
            </a:br>
            <a:r>
              <a:rPr lang="en-US" altLang="en-US"/>
              <a:t>     = 1111 1111 … 1110</a:t>
            </a:r>
            <a:r>
              <a:rPr lang="en-US" altLang="en-US" baseline="-25000"/>
              <a:t>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380ACB75-2A80-4266-8FCF-88C43D5B93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79750A5-99E4-43E7-B683-F4B7BC850FF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AU" altLang="en-US" sz="1400"/>
          </a:p>
        </p:txBody>
      </p:sp>
      <p:sp>
        <p:nvSpPr>
          <p:cNvPr id="59395" name="Rectangle 6">
            <a:extLst>
              <a:ext uri="{FF2B5EF4-FFF2-40B4-BE49-F238E27FC236}">
                <a16:creationId xmlns:a16="http://schemas.microsoft.com/office/drawing/2014/main" id="{E25C11DE-C07A-4B04-A62A-4DD414427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Sign Extension</a:t>
            </a:r>
            <a:endParaRPr lang="en-AU" altLang="en-US"/>
          </a:p>
        </p:txBody>
      </p:sp>
      <p:sp>
        <p:nvSpPr>
          <p:cNvPr id="54276" name="Rectangle 7">
            <a:extLst>
              <a:ext uri="{FF2B5EF4-FFF2-40B4-BE49-F238E27FC236}">
                <a16:creationId xmlns:a16="http://schemas.microsoft.com/office/drawing/2014/main" id="{2B1BFAE2-87F7-4703-9A21-DA8276EA33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6263" y="1144588"/>
            <a:ext cx="82708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/>
              <a:t>Representing a number using more bits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Have to </a:t>
            </a:r>
            <a:r>
              <a:rPr lang="en-US" altLang="en-US" sz="2400" dirty="0"/>
              <a:t>preserve the original numeric value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/>
              <a:t>In MIPS instruction set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 err="1">
                <a:latin typeface="Lucida Console" panose="020B0609040504020204" pitchFamily="49" charset="0"/>
              </a:rPr>
              <a:t>addi</a:t>
            </a:r>
            <a:r>
              <a:rPr lang="en-US" altLang="en-US" sz="2400" dirty="0"/>
              <a:t>: need to extend immediate value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 err="1">
                <a:latin typeface="Lucida Console" panose="020B0609040504020204" pitchFamily="49" charset="0"/>
              </a:rPr>
              <a:t>lb</a:t>
            </a:r>
            <a:r>
              <a:rPr lang="en-US" altLang="en-US" sz="2400" dirty="0"/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lh</a:t>
            </a:r>
            <a:r>
              <a:rPr lang="en-US" altLang="en-US" sz="2400" dirty="0"/>
              <a:t>: load-byte (8-bits), load-half (16-bits)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    need to extend loaded byte/halfword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 err="1">
                <a:latin typeface="Lucida Console" panose="020B0609040504020204" pitchFamily="49" charset="0"/>
              </a:rPr>
              <a:t>beq</a:t>
            </a:r>
            <a:r>
              <a:rPr lang="en-US" altLang="en-US" sz="2400" dirty="0"/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bne</a:t>
            </a:r>
            <a:r>
              <a:rPr lang="en-US" altLang="en-US" sz="2400" dirty="0"/>
              <a:t>: need to extend the </a:t>
            </a:r>
            <a:r>
              <a:rPr lang="en-US" altLang="en-US" sz="2400"/>
              <a:t>(jump) displacement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/>
              <a:t>Replicate the sign bit to the left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/>
              <a:t>c.f. unsigned values: extend with 0s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/>
              <a:t>Examples: 8-bit to 16-bit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/>
              <a:t>+2: </a:t>
            </a:r>
            <a:r>
              <a:rPr lang="en-US" altLang="en-US" sz="2400" dirty="0">
                <a:solidFill>
                  <a:schemeClr val="hlink"/>
                </a:solidFill>
              </a:rPr>
              <a:t>0</a:t>
            </a:r>
            <a:r>
              <a:rPr lang="en-US" altLang="en-US" sz="2400" dirty="0"/>
              <a:t>000 0010 =&gt; </a:t>
            </a:r>
            <a:r>
              <a:rPr lang="en-US" altLang="en-US" sz="2400" dirty="0">
                <a:solidFill>
                  <a:schemeClr val="hlink"/>
                </a:solidFill>
              </a:rPr>
              <a:t>0000 0000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hlink"/>
                </a:solidFill>
              </a:rPr>
              <a:t>0</a:t>
            </a:r>
            <a:r>
              <a:rPr lang="en-US" altLang="en-US" sz="2400" dirty="0"/>
              <a:t>000 0010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400" dirty="0"/>
              <a:t>–2: </a:t>
            </a:r>
            <a:r>
              <a:rPr lang="en-AU" altLang="en-US" sz="2400" dirty="0">
                <a:solidFill>
                  <a:schemeClr val="hlink"/>
                </a:solidFill>
              </a:rPr>
              <a:t>1</a:t>
            </a:r>
            <a:r>
              <a:rPr lang="en-AU" altLang="en-US" sz="2400" dirty="0"/>
              <a:t>111 1110 =&gt; </a:t>
            </a:r>
            <a:r>
              <a:rPr lang="en-AU" altLang="en-US" sz="2400" dirty="0">
                <a:solidFill>
                  <a:schemeClr val="hlink"/>
                </a:solidFill>
              </a:rPr>
              <a:t>1111 1111</a:t>
            </a:r>
            <a:r>
              <a:rPr lang="en-AU" altLang="en-US" sz="2400" dirty="0"/>
              <a:t> </a:t>
            </a:r>
            <a:r>
              <a:rPr lang="en-AU" altLang="en-US" sz="2400" dirty="0">
                <a:solidFill>
                  <a:schemeClr val="hlink"/>
                </a:solidFill>
              </a:rPr>
              <a:t>1</a:t>
            </a:r>
            <a:r>
              <a:rPr lang="en-AU" altLang="en-US" sz="2400" dirty="0"/>
              <a:t>111 1110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1">
            <a:extLst>
              <a:ext uri="{FF2B5EF4-FFF2-40B4-BE49-F238E27FC236}">
                <a16:creationId xmlns:a16="http://schemas.microsoft.com/office/drawing/2014/main" id="{B549A17C-9DE2-4256-AA90-1B69777B37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AB851CB5-1601-41BC-A895-76E9F1794E7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AU" altLang="en-US"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3">
            <a:extLst>
              <a:ext uri="{FF2B5EF4-FFF2-40B4-BE49-F238E27FC236}">
                <a16:creationId xmlns:a16="http://schemas.microsoft.com/office/drawing/2014/main" id="{5802B47E-9575-4045-98E5-DA6EBE2C7A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0EBF5A5-CBDF-4F66-8EA5-5A0D0AFF950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AU" altLang="en-US" sz="1400"/>
          </a:p>
        </p:txBody>
      </p:sp>
      <p:sp>
        <p:nvSpPr>
          <p:cNvPr id="62467" name="Rectangle 5">
            <a:extLst>
              <a:ext uri="{FF2B5EF4-FFF2-40B4-BE49-F238E27FC236}">
                <a16:creationId xmlns:a16="http://schemas.microsoft.com/office/drawing/2014/main" id="{87869395-D803-43A8-800B-4BEE8F245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Representing Instructions</a:t>
            </a:r>
            <a:endParaRPr lang="en-AU" altLang="en-US"/>
          </a:p>
        </p:txBody>
      </p:sp>
      <p:sp>
        <p:nvSpPr>
          <p:cNvPr id="62468" name="Rectangle 6">
            <a:extLst>
              <a:ext uri="{FF2B5EF4-FFF2-40B4-BE49-F238E27FC236}">
                <a16:creationId xmlns:a16="http://schemas.microsoft.com/office/drawing/2014/main" id="{918AD1E1-E951-4B5D-AC06-12AF389ECE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203" cy="511175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Instructions are also encoded in binary bits</a:t>
            </a:r>
          </a:p>
          <a:p>
            <a:pPr lvl="1" eaLnBrk="1" hangingPunct="1"/>
            <a:r>
              <a:rPr lang="en-US" altLang="en-US" sz="2400" dirty="0"/>
              <a:t>Called </a:t>
            </a:r>
            <a:r>
              <a:rPr lang="en-US" altLang="en-US" sz="2400" b="1" dirty="0">
                <a:solidFill>
                  <a:srgbClr val="C00000"/>
                </a:solidFill>
              </a:rPr>
              <a:t>machine code</a:t>
            </a:r>
          </a:p>
          <a:p>
            <a:pPr eaLnBrk="1" hangingPunct="1"/>
            <a:r>
              <a:rPr lang="en-US" altLang="en-US" sz="2800" dirty="0"/>
              <a:t>MIPS instructions</a:t>
            </a:r>
          </a:p>
          <a:p>
            <a:pPr lvl="1" eaLnBrk="1" hangingPunct="1"/>
            <a:r>
              <a:rPr lang="en-US" altLang="en-US" sz="2400" dirty="0"/>
              <a:t>Encoded as 32-bit instruction words</a:t>
            </a:r>
          </a:p>
          <a:p>
            <a:pPr lvl="1" eaLnBrk="1" hangingPunct="1"/>
            <a:r>
              <a:rPr lang="en-US" altLang="en-US" sz="2400" dirty="0"/>
              <a:t>Try to encode operation code (opcode), register numbers, constants… in just a few formats</a:t>
            </a:r>
          </a:p>
          <a:p>
            <a:pPr eaLnBrk="1" hangingPunct="1"/>
            <a:r>
              <a:rPr lang="en-US" altLang="en-US" sz="2800" dirty="0"/>
              <a:t>Register numbers (IDs):</a:t>
            </a:r>
          </a:p>
          <a:p>
            <a:pPr lvl="1" eaLnBrk="1" hangingPunct="1"/>
            <a:r>
              <a:rPr lang="en-US" altLang="en-US" sz="2400" dirty="0"/>
              <a:t>From register #0 to register #31</a:t>
            </a:r>
          </a:p>
          <a:p>
            <a:pPr lvl="1" eaLnBrk="1" hangingPunct="1"/>
            <a:r>
              <a:rPr lang="en-US" altLang="en-US" sz="2400" dirty="0"/>
              <a:t>$t0 – $t7 are registers 8 – 15</a:t>
            </a:r>
          </a:p>
          <a:p>
            <a:pPr lvl="1" eaLnBrk="1" hangingPunct="1"/>
            <a:r>
              <a:rPr lang="en-US" altLang="en-US" sz="2400" dirty="0"/>
              <a:t>$t8 – $t9 are registers 24 – 25</a:t>
            </a:r>
          </a:p>
          <a:p>
            <a:pPr lvl="1" eaLnBrk="1" hangingPunct="1"/>
            <a:r>
              <a:rPr lang="en-US" altLang="en-US" sz="2400" dirty="0"/>
              <a:t>$s0 – $s7 are registers 16 – 23</a:t>
            </a:r>
          </a:p>
        </p:txBody>
      </p:sp>
      <p:sp>
        <p:nvSpPr>
          <p:cNvPr id="62469" name="Text Box 4">
            <a:extLst>
              <a:ext uri="{FF2B5EF4-FFF2-40B4-BE49-F238E27FC236}">
                <a16:creationId xmlns:a16="http://schemas.microsoft.com/office/drawing/2014/main" id="{071F4F08-A4A7-4176-ACD0-7AE496778A8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474619" y="2302669"/>
            <a:ext cx="4972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§2.5 Representing Instructions in the Computer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3">
            <a:extLst>
              <a:ext uri="{FF2B5EF4-FFF2-40B4-BE49-F238E27FC236}">
                <a16:creationId xmlns:a16="http://schemas.microsoft.com/office/drawing/2014/main" id="{0E7CC926-FA09-483B-8CBD-01624C406C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473668B2-290E-470B-A5D6-64BD7645FCC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AU" altLang="en-US" sz="1400"/>
          </a:p>
        </p:txBody>
      </p:sp>
      <p:sp>
        <p:nvSpPr>
          <p:cNvPr id="64515" name="Rectangle 17">
            <a:extLst>
              <a:ext uri="{FF2B5EF4-FFF2-40B4-BE49-F238E27FC236}">
                <a16:creationId xmlns:a16="http://schemas.microsoft.com/office/drawing/2014/main" id="{3C473B59-FE6C-476E-8FF7-5ED77816B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MIPS R-format Instructions</a:t>
            </a:r>
            <a:endParaRPr lang="en-AU" altLang="en-US"/>
          </a:p>
        </p:txBody>
      </p:sp>
      <p:sp>
        <p:nvSpPr>
          <p:cNvPr id="64516" name="Rectangle 18">
            <a:extLst>
              <a:ext uri="{FF2B5EF4-FFF2-40B4-BE49-F238E27FC236}">
                <a16:creationId xmlns:a16="http://schemas.microsoft.com/office/drawing/2014/main" id="{780AA1C3-1D45-4CC3-B853-904BC83F5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276475"/>
            <a:ext cx="8270875" cy="3960813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Instruction fields</a:t>
            </a:r>
          </a:p>
          <a:p>
            <a:pPr lvl="1" eaLnBrk="1" hangingPunct="1"/>
            <a:r>
              <a:rPr lang="en-US" altLang="en-US" dirty="0"/>
              <a:t>op: operation code (opcode)</a:t>
            </a:r>
          </a:p>
          <a:p>
            <a:pPr lvl="1" eaLnBrk="1" hangingPunct="1"/>
            <a:r>
              <a:rPr lang="en-US" altLang="en-US" dirty="0" err="1"/>
              <a:t>rs</a:t>
            </a:r>
            <a:r>
              <a:rPr lang="en-US" altLang="en-US" dirty="0"/>
              <a:t>: first source register number</a:t>
            </a:r>
          </a:p>
          <a:p>
            <a:pPr lvl="1" eaLnBrk="1" hangingPunct="1"/>
            <a:r>
              <a:rPr lang="en-US" altLang="en-US" dirty="0"/>
              <a:t>rt: second source register number</a:t>
            </a:r>
          </a:p>
          <a:p>
            <a:pPr lvl="1" eaLnBrk="1" hangingPunct="1"/>
            <a:r>
              <a:rPr lang="en-US" altLang="en-US" dirty="0" err="1"/>
              <a:t>rd</a:t>
            </a:r>
            <a:r>
              <a:rPr lang="en-US" altLang="en-US" dirty="0"/>
              <a:t>: destination register number</a:t>
            </a:r>
          </a:p>
          <a:p>
            <a:pPr lvl="1" eaLnBrk="1" hangingPunct="1"/>
            <a:r>
              <a:rPr lang="en-US" altLang="en-US" dirty="0" err="1"/>
              <a:t>shamt</a:t>
            </a:r>
            <a:r>
              <a:rPr lang="en-US" altLang="en-US" dirty="0"/>
              <a:t>: shift amount (not used, 00000 for now)</a:t>
            </a:r>
          </a:p>
          <a:p>
            <a:pPr lvl="1" eaLnBrk="1" hangingPunct="1"/>
            <a:r>
              <a:rPr lang="en-US" altLang="en-US" dirty="0" err="1"/>
              <a:t>funct</a:t>
            </a:r>
            <a:r>
              <a:rPr lang="en-US" altLang="en-US" dirty="0"/>
              <a:t>: function code (extends opcode)</a:t>
            </a:r>
            <a:endParaRPr lang="en-AU" altLang="en-US" dirty="0"/>
          </a:p>
        </p:txBody>
      </p:sp>
      <p:grpSp>
        <p:nvGrpSpPr>
          <p:cNvPr id="64517" name="Group 4">
            <a:extLst>
              <a:ext uri="{FF2B5EF4-FFF2-40B4-BE49-F238E27FC236}">
                <a16:creationId xmlns:a16="http://schemas.microsoft.com/office/drawing/2014/main" id="{52A00687-01AB-4B1F-ABA4-B725FB16B74E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412875"/>
            <a:ext cx="6913562" cy="773113"/>
            <a:chOff x="703" y="981"/>
            <a:chExt cx="4355" cy="487"/>
          </a:xfrm>
        </p:grpSpPr>
        <p:sp>
          <p:nvSpPr>
            <p:cNvPr id="64518" name="Text Box 5">
              <a:extLst>
                <a:ext uri="{FF2B5EF4-FFF2-40B4-BE49-F238E27FC236}">
                  <a16:creationId xmlns:a16="http://schemas.microsoft.com/office/drawing/2014/main" id="{35B91601-6995-466A-AB64-B9ECB359A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</a:t>
              </a:r>
              <a:endParaRPr lang="en-AU" altLang="en-US" sz="2000"/>
            </a:p>
          </p:txBody>
        </p:sp>
        <p:sp>
          <p:nvSpPr>
            <p:cNvPr id="64519" name="Text Box 6">
              <a:extLst>
                <a:ext uri="{FF2B5EF4-FFF2-40B4-BE49-F238E27FC236}">
                  <a16:creationId xmlns:a16="http://schemas.microsoft.com/office/drawing/2014/main" id="{D6DBD7F5-B628-436B-9455-C9D9E76A9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64520" name="Text Box 7">
              <a:extLst>
                <a:ext uri="{FF2B5EF4-FFF2-40B4-BE49-F238E27FC236}">
                  <a16:creationId xmlns:a16="http://schemas.microsoft.com/office/drawing/2014/main" id="{BF3F0B74-4BBE-44C3-9E5D-C04F24698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64521" name="Text Box 8">
              <a:extLst>
                <a:ext uri="{FF2B5EF4-FFF2-40B4-BE49-F238E27FC236}">
                  <a16:creationId xmlns:a16="http://schemas.microsoft.com/office/drawing/2014/main" id="{DA36EAB3-B6B8-4FA2-B6CD-B6BF1F2B4B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64522" name="Text Box 9">
              <a:extLst>
                <a:ext uri="{FF2B5EF4-FFF2-40B4-BE49-F238E27FC236}">
                  <a16:creationId xmlns:a16="http://schemas.microsoft.com/office/drawing/2014/main" id="{E0D7586C-57E7-44CB-8A2E-BC19142AC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shamt</a:t>
              </a:r>
              <a:endParaRPr lang="en-AU" altLang="en-US" sz="2000"/>
            </a:p>
          </p:txBody>
        </p:sp>
        <p:sp>
          <p:nvSpPr>
            <p:cNvPr id="64523" name="Text Box 10">
              <a:extLst>
                <a:ext uri="{FF2B5EF4-FFF2-40B4-BE49-F238E27FC236}">
                  <a16:creationId xmlns:a16="http://schemas.microsoft.com/office/drawing/2014/main" id="{1C3ADD0E-7482-4546-AF7E-A49BDE3AB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</a:t>
              </a:r>
              <a:endParaRPr lang="en-AU" altLang="en-US" sz="2000"/>
            </a:p>
          </p:txBody>
        </p:sp>
        <p:sp>
          <p:nvSpPr>
            <p:cNvPr id="64524" name="Text Box 11">
              <a:extLst>
                <a:ext uri="{FF2B5EF4-FFF2-40B4-BE49-F238E27FC236}">
                  <a16:creationId xmlns:a16="http://schemas.microsoft.com/office/drawing/2014/main" id="{C7105C0E-5149-4350-A521-9B0595901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64525" name="Text Box 12">
              <a:extLst>
                <a:ext uri="{FF2B5EF4-FFF2-40B4-BE49-F238E27FC236}">
                  <a16:creationId xmlns:a16="http://schemas.microsoft.com/office/drawing/2014/main" id="{EE2B20E2-81C7-4D4D-9267-49239DAEC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64526" name="Text Box 13">
              <a:extLst>
                <a:ext uri="{FF2B5EF4-FFF2-40B4-BE49-F238E27FC236}">
                  <a16:creationId xmlns:a16="http://schemas.microsoft.com/office/drawing/2014/main" id="{3CD5F888-396E-40AE-89F2-D306AECC5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64527" name="Text Box 14">
              <a:extLst>
                <a:ext uri="{FF2B5EF4-FFF2-40B4-BE49-F238E27FC236}">
                  <a16:creationId xmlns:a16="http://schemas.microsoft.com/office/drawing/2014/main" id="{0CB3BF5C-A73A-492C-B44F-F3BFB605C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64528" name="Text Box 15">
              <a:extLst>
                <a:ext uri="{FF2B5EF4-FFF2-40B4-BE49-F238E27FC236}">
                  <a16:creationId xmlns:a16="http://schemas.microsoft.com/office/drawing/2014/main" id="{FB03611F-09E9-4BC6-AAFD-D450CDB2B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64529" name="Text Box 16">
              <a:extLst>
                <a:ext uri="{FF2B5EF4-FFF2-40B4-BE49-F238E27FC236}">
                  <a16:creationId xmlns:a16="http://schemas.microsoft.com/office/drawing/2014/main" id="{3F73B757-F85C-49BA-AFBC-8A91C92CF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74E0EC8-31CE-4F8E-B06D-2265736FBD11}"/>
              </a:ext>
            </a:extLst>
          </p:cNvPr>
          <p:cNvSpPr/>
          <p:nvPr/>
        </p:nvSpPr>
        <p:spPr bwMode="auto">
          <a:xfrm>
            <a:off x="1331913" y="1405255"/>
            <a:ext cx="1295399" cy="436563"/>
          </a:xfrm>
          <a:prstGeom prst="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436E89-CC09-445F-BDC2-A60BC81CCA95}"/>
              </a:ext>
            </a:extLst>
          </p:cNvPr>
          <p:cNvSpPr/>
          <p:nvPr/>
        </p:nvSpPr>
        <p:spPr bwMode="auto">
          <a:xfrm>
            <a:off x="6960057" y="1405255"/>
            <a:ext cx="1295399" cy="436563"/>
          </a:xfrm>
          <a:prstGeom prst="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8AD5A2-301F-4F31-B36A-2C3B1976F9F8}"/>
              </a:ext>
            </a:extLst>
          </p:cNvPr>
          <p:cNvSpPr/>
          <p:nvPr/>
        </p:nvSpPr>
        <p:spPr bwMode="auto">
          <a:xfrm>
            <a:off x="4536897" y="2929255"/>
            <a:ext cx="1482883" cy="436563"/>
          </a:xfrm>
          <a:prstGeom prst="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C00737-A5AD-445F-B9DB-2093E7C25BD4}"/>
              </a:ext>
            </a:extLst>
          </p:cNvPr>
          <p:cNvSpPr/>
          <p:nvPr/>
        </p:nvSpPr>
        <p:spPr bwMode="auto">
          <a:xfrm>
            <a:off x="4658817" y="5481955"/>
            <a:ext cx="2857891" cy="436563"/>
          </a:xfrm>
          <a:prstGeom prst="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1DBE8C07-72DB-43DA-9819-3928102223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1D8E5826-D1BB-445D-B45C-2FD8D820983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AU" altLang="en-US" sz="1400"/>
          </a:p>
        </p:txBody>
      </p:sp>
      <p:sp>
        <p:nvSpPr>
          <p:cNvPr id="66563" name="Rectangle 36">
            <a:extLst>
              <a:ext uri="{FF2B5EF4-FFF2-40B4-BE49-F238E27FC236}">
                <a16:creationId xmlns:a16="http://schemas.microsoft.com/office/drawing/2014/main" id="{4B03BA8F-17CA-44F1-A0C9-25031A887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R-format Example</a:t>
            </a:r>
            <a:endParaRPr lang="en-AU" altLang="en-US"/>
          </a:p>
        </p:txBody>
      </p:sp>
      <p:sp>
        <p:nvSpPr>
          <p:cNvPr id="66564" name="Rectangle 37">
            <a:extLst>
              <a:ext uri="{FF2B5EF4-FFF2-40B4-BE49-F238E27FC236}">
                <a16:creationId xmlns:a16="http://schemas.microsoft.com/office/drawing/2014/main" id="{D94C5E16-632F-4939-8C99-F7AF2C9F5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492375"/>
            <a:ext cx="8270875" cy="6492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Lucida Console" panose="020B0609040504020204" pitchFamily="49" charset="0"/>
              </a:rPr>
              <a:t>	add $t0, $s1, $s2</a:t>
            </a:r>
          </a:p>
        </p:txBody>
      </p:sp>
      <p:sp>
        <p:nvSpPr>
          <p:cNvPr id="66565" name="Text Box 17">
            <a:extLst>
              <a:ext uri="{FF2B5EF4-FFF2-40B4-BE49-F238E27FC236}">
                <a16:creationId xmlns:a16="http://schemas.microsoft.com/office/drawing/2014/main" id="{D42EB30C-031F-464D-9694-587944D68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429000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special</a:t>
            </a:r>
            <a:endParaRPr lang="en-AU" altLang="en-US" sz="2000"/>
          </a:p>
        </p:txBody>
      </p:sp>
      <p:sp>
        <p:nvSpPr>
          <p:cNvPr id="66566" name="Text Box 18">
            <a:extLst>
              <a:ext uri="{FF2B5EF4-FFF2-40B4-BE49-F238E27FC236}">
                <a16:creationId xmlns:a16="http://schemas.microsoft.com/office/drawing/2014/main" id="{5DF6CA94-9B1B-4623-A117-D2BADD5CB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429000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$s1</a:t>
            </a:r>
            <a:endParaRPr lang="en-AU" altLang="en-US" sz="2000"/>
          </a:p>
        </p:txBody>
      </p:sp>
      <p:sp>
        <p:nvSpPr>
          <p:cNvPr id="66567" name="Text Box 19">
            <a:extLst>
              <a:ext uri="{FF2B5EF4-FFF2-40B4-BE49-F238E27FC236}">
                <a16:creationId xmlns:a16="http://schemas.microsoft.com/office/drawing/2014/main" id="{53AFE3CE-58AE-4439-8C2E-69237924B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3429000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$s2</a:t>
            </a:r>
            <a:endParaRPr lang="en-AU" altLang="en-US" sz="2000"/>
          </a:p>
        </p:txBody>
      </p:sp>
      <p:sp>
        <p:nvSpPr>
          <p:cNvPr id="66568" name="Text Box 20">
            <a:extLst>
              <a:ext uri="{FF2B5EF4-FFF2-40B4-BE49-F238E27FC236}">
                <a16:creationId xmlns:a16="http://schemas.microsoft.com/office/drawing/2014/main" id="{477E4ABD-36C7-4953-9F61-304F8F509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3429000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$t0</a:t>
            </a:r>
            <a:endParaRPr lang="en-AU" altLang="en-US" sz="2000"/>
          </a:p>
        </p:txBody>
      </p:sp>
      <p:sp>
        <p:nvSpPr>
          <p:cNvPr id="66569" name="Text Box 21">
            <a:extLst>
              <a:ext uri="{FF2B5EF4-FFF2-40B4-BE49-F238E27FC236}">
                <a16:creationId xmlns:a16="http://schemas.microsoft.com/office/drawing/2014/main" id="{959A0704-0DA5-41E9-B8B5-9A80A1F1C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88" y="3429000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</a:t>
            </a:r>
            <a:endParaRPr lang="en-AU" altLang="en-US" sz="2000"/>
          </a:p>
        </p:txBody>
      </p:sp>
      <p:sp>
        <p:nvSpPr>
          <p:cNvPr id="66570" name="Text Box 22">
            <a:extLst>
              <a:ext uri="{FF2B5EF4-FFF2-40B4-BE49-F238E27FC236}">
                <a16:creationId xmlns:a16="http://schemas.microsoft.com/office/drawing/2014/main" id="{15412425-440F-458E-B837-E7DA67A53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3429000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add</a:t>
            </a:r>
            <a:endParaRPr lang="en-AU" altLang="en-US" sz="2000"/>
          </a:p>
        </p:txBody>
      </p:sp>
      <p:sp>
        <p:nvSpPr>
          <p:cNvPr id="66571" name="Text Box 23">
            <a:extLst>
              <a:ext uri="{FF2B5EF4-FFF2-40B4-BE49-F238E27FC236}">
                <a16:creationId xmlns:a16="http://schemas.microsoft.com/office/drawing/2014/main" id="{B0F22AF3-B6AE-4CDE-81AB-E252E7922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078288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</a:t>
            </a:r>
            <a:endParaRPr lang="en-AU" altLang="en-US" sz="2000"/>
          </a:p>
        </p:txBody>
      </p:sp>
      <p:sp>
        <p:nvSpPr>
          <p:cNvPr id="66572" name="Text Box 24">
            <a:extLst>
              <a:ext uri="{FF2B5EF4-FFF2-40B4-BE49-F238E27FC236}">
                <a16:creationId xmlns:a16="http://schemas.microsoft.com/office/drawing/2014/main" id="{B232FC51-5189-44E2-AA5B-953FBC632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40782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17</a:t>
            </a:r>
            <a:endParaRPr lang="en-AU" altLang="en-US" sz="2000"/>
          </a:p>
        </p:txBody>
      </p:sp>
      <p:sp>
        <p:nvSpPr>
          <p:cNvPr id="66573" name="Text Box 25">
            <a:extLst>
              <a:ext uri="{FF2B5EF4-FFF2-40B4-BE49-F238E27FC236}">
                <a16:creationId xmlns:a16="http://schemas.microsoft.com/office/drawing/2014/main" id="{91898E1B-492D-4400-962E-749322567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40782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18</a:t>
            </a:r>
            <a:endParaRPr lang="en-AU" altLang="en-US" sz="2000"/>
          </a:p>
        </p:txBody>
      </p:sp>
      <p:sp>
        <p:nvSpPr>
          <p:cNvPr id="66574" name="Text Box 26">
            <a:extLst>
              <a:ext uri="{FF2B5EF4-FFF2-40B4-BE49-F238E27FC236}">
                <a16:creationId xmlns:a16="http://schemas.microsoft.com/office/drawing/2014/main" id="{47BB36D1-5346-45C5-977A-E2DA8429D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0782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8</a:t>
            </a:r>
            <a:endParaRPr lang="en-AU" altLang="en-US" sz="2000"/>
          </a:p>
        </p:txBody>
      </p:sp>
      <p:sp>
        <p:nvSpPr>
          <p:cNvPr id="66575" name="Text Box 27">
            <a:extLst>
              <a:ext uri="{FF2B5EF4-FFF2-40B4-BE49-F238E27FC236}">
                <a16:creationId xmlns:a16="http://schemas.microsoft.com/office/drawing/2014/main" id="{B17E4E1D-9FE0-46EB-A12D-84061E25B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88" y="40782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</a:t>
            </a:r>
            <a:endParaRPr lang="en-AU" altLang="en-US" sz="2000"/>
          </a:p>
        </p:txBody>
      </p:sp>
      <p:sp>
        <p:nvSpPr>
          <p:cNvPr id="66576" name="Text Box 28">
            <a:extLst>
              <a:ext uri="{FF2B5EF4-FFF2-40B4-BE49-F238E27FC236}">
                <a16:creationId xmlns:a16="http://schemas.microsoft.com/office/drawing/2014/main" id="{508132D7-B23E-4180-8FB5-92D5C5498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4078288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32</a:t>
            </a:r>
            <a:endParaRPr lang="en-AU" altLang="en-US" sz="2000"/>
          </a:p>
        </p:txBody>
      </p:sp>
      <p:sp>
        <p:nvSpPr>
          <p:cNvPr id="66577" name="Text Box 29">
            <a:extLst>
              <a:ext uri="{FF2B5EF4-FFF2-40B4-BE49-F238E27FC236}">
                <a16:creationId xmlns:a16="http://schemas.microsoft.com/office/drawing/2014/main" id="{92B2B8BF-61EA-4E23-902C-3EB375E3F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725988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000000</a:t>
            </a:r>
            <a:endParaRPr lang="en-AU" altLang="en-US" sz="2000"/>
          </a:p>
        </p:txBody>
      </p:sp>
      <p:sp>
        <p:nvSpPr>
          <p:cNvPr id="66578" name="Text Box 30">
            <a:extLst>
              <a:ext uri="{FF2B5EF4-FFF2-40B4-BE49-F238E27FC236}">
                <a16:creationId xmlns:a16="http://schemas.microsoft.com/office/drawing/2014/main" id="{AB2F7EC0-EC77-468C-8DCD-3C6CCD5B4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47259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10001</a:t>
            </a:r>
            <a:endParaRPr lang="en-AU" altLang="en-US" sz="2000"/>
          </a:p>
        </p:txBody>
      </p:sp>
      <p:sp>
        <p:nvSpPr>
          <p:cNvPr id="66579" name="Text Box 31">
            <a:extLst>
              <a:ext uri="{FF2B5EF4-FFF2-40B4-BE49-F238E27FC236}">
                <a16:creationId xmlns:a16="http://schemas.microsoft.com/office/drawing/2014/main" id="{2B6D882C-4C7E-4597-8F79-BF0F20D13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47259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10010</a:t>
            </a:r>
            <a:endParaRPr lang="en-AU" altLang="en-US" sz="2000"/>
          </a:p>
        </p:txBody>
      </p:sp>
      <p:sp>
        <p:nvSpPr>
          <p:cNvPr id="66580" name="Text Box 32">
            <a:extLst>
              <a:ext uri="{FF2B5EF4-FFF2-40B4-BE49-F238E27FC236}">
                <a16:creationId xmlns:a16="http://schemas.microsoft.com/office/drawing/2014/main" id="{FFF7E9C8-3824-413E-95E0-1A7053BC7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259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01000</a:t>
            </a:r>
            <a:endParaRPr lang="en-AU" altLang="en-US" sz="2000"/>
          </a:p>
        </p:txBody>
      </p:sp>
      <p:sp>
        <p:nvSpPr>
          <p:cNvPr id="66581" name="Text Box 33">
            <a:extLst>
              <a:ext uri="{FF2B5EF4-FFF2-40B4-BE49-F238E27FC236}">
                <a16:creationId xmlns:a16="http://schemas.microsoft.com/office/drawing/2014/main" id="{F16DF2E1-4020-4B96-9BD4-D3A15910D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88" y="47259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00000</a:t>
            </a:r>
            <a:endParaRPr lang="en-AU" altLang="en-US" sz="2000"/>
          </a:p>
        </p:txBody>
      </p:sp>
      <p:sp>
        <p:nvSpPr>
          <p:cNvPr id="66582" name="Text Box 34">
            <a:extLst>
              <a:ext uri="{FF2B5EF4-FFF2-40B4-BE49-F238E27FC236}">
                <a16:creationId xmlns:a16="http://schemas.microsoft.com/office/drawing/2014/main" id="{B8BAC0D2-D9D4-4542-B44D-D09117E87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4725988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100000</a:t>
            </a:r>
            <a:endParaRPr lang="en-AU" altLang="en-US" sz="2000"/>
          </a:p>
        </p:txBody>
      </p:sp>
      <p:sp>
        <p:nvSpPr>
          <p:cNvPr id="66583" name="Rectangle 35">
            <a:extLst>
              <a:ext uri="{FF2B5EF4-FFF2-40B4-BE49-F238E27FC236}">
                <a16:creationId xmlns:a16="http://schemas.microsoft.com/office/drawing/2014/main" id="{EBD45D97-564C-4723-8A40-D461D035E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3" y="5378450"/>
            <a:ext cx="76581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C00000"/>
                </a:solidFill>
              </a:rPr>
              <a:t>0000</a:t>
            </a:r>
            <a:r>
              <a:rPr lang="en-US" altLang="en-US" sz="2400">
                <a:solidFill>
                  <a:srgbClr val="0070C0"/>
                </a:solidFill>
              </a:rPr>
              <a:t>0010</a:t>
            </a:r>
            <a:r>
              <a:rPr lang="en-US" altLang="en-US" sz="2400">
                <a:solidFill>
                  <a:srgbClr val="C00000"/>
                </a:solidFill>
              </a:rPr>
              <a:t>0011</a:t>
            </a:r>
            <a:r>
              <a:rPr lang="en-US" altLang="en-US" sz="2400">
                <a:solidFill>
                  <a:srgbClr val="0070C0"/>
                </a:solidFill>
              </a:rPr>
              <a:t>0010</a:t>
            </a:r>
            <a:r>
              <a:rPr lang="en-US" altLang="en-US" sz="2400">
                <a:solidFill>
                  <a:srgbClr val="C00000"/>
                </a:solidFill>
              </a:rPr>
              <a:t>0100</a:t>
            </a:r>
            <a:r>
              <a:rPr lang="en-US" altLang="en-US" sz="2400">
                <a:solidFill>
                  <a:srgbClr val="0070C0"/>
                </a:solidFill>
              </a:rPr>
              <a:t>0000</a:t>
            </a:r>
            <a:r>
              <a:rPr lang="en-US" altLang="en-US" sz="2400">
                <a:solidFill>
                  <a:srgbClr val="C00000"/>
                </a:solidFill>
              </a:rPr>
              <a:t>0010</a:t>
            </a:r>
            <a:r>
              <a:rPr lang="en-US" altLang="en-US" sz="2400">
                <a:solidFill>
                  <a:srgbClr val="0070C0"/>
                </a:solidFill>
              </a:rPr>
              <a:t>0000</a:t>
            </a:r>
            <a:r>
              <a:rPr lang="en-US" altLang="en-US" sz="2400" baseline="-25000"/>
              <a:t>2</a:t>
            </a:r>
            <a:r>
              <a:rPr lang="en-US" altLang="en-US" sz="2400"/>
              <a:t> = </a:t>
            </a:r>
            <a:r>
              <a:rPr lang="en-US" altLang="en-US" sz="2400">
                <a:solidFill>
                  <a:srgbClr val="C00000"/>
                </a:solidFill>
              </a:rPr>
              <a:t>0</a:t>
            </a:r>
            <a:r>
              <a:rPr lang="en-US" altLang="en-US" sz="2400">
                <a:solidFill>
                  <a:srgbClr val="0070C0"/>
                </a:solidFill>
              </a:rPr>
              <a:t>2</a:t>
            </a:r>
            <a:r>
              <a:rPr lang="en-US" altLang="en-US" sz="2400">
                <a:solidFill>
                  <a:srgbClr val="C00000"/>
                </a:solidFill>
              </a:rPr>
              <a:t>3</a:t>
            </a:r>
            <a:r>
              <a:rPr lang="en-US" altLang="en-US" sz="2400">
                <a:solidFill>
                  <a:srgbClr val="0070C0"/>
                </a:solidFill>
              </a:rPr>
              <a:t>2</a:t>
            </a:r>
            <a:r>
              <a:rPr lang="en-US" altLang="en-US" sz="2400">
                <a:solidFill>
                  <a:srgbClr val="C00000"/>
                </a:solidFill>
              </a:rPr>
              <a:t>4</a:t>
            </a:r>
            <a:r>
              <a:rPr lang="en-US" altLang="en-US" sz="2400">
                <a:solidFill>
                  <a:srgbClr val="0070C0"/>
                </a:solidFill>
              </a:rPr>
              <a:t>0</a:t>
            </a:r>
            <a:r>
              <a:rPr lang="en-US" altLang="en-US" sz="2400">
                <a:solidFill>
                  <a:srgbClr val="C00000"/>
                </a:solidFill>
              </a:rPr>
              <a:t>2</a:t>
            </a:r>
            <a:r>
              <a:rPr lang="en-US" altLang="en-US" sz="2400">
                <a:solidFill>
                  <a:srgbClr val="0070C0"/>
                </a:solidFill>
              </a:rPr>
              <a:t>0</a:t>
            </a:r>
            <a:r>
              <a:rPr lang="en-US" altLang="en-US" sz="2400" baseline="-25000"/>
              <a:t>16</a:t>
            </a:r>
            <a:endParaRPr lang="en-AU" altLang="en-US" sz="2400"/>
          </a:p>
        </p:txBody>
      </p:sp>
      <p:grpSp>
        <p:nvGrpSpPr>
          <p:cNvPr id="66584" name="Group 38">
            <a:extLst>
              <a:ext uri="{FF2B5EF4-FFF2-40B4-BE49-F238E27FC236}">
                <a16:creationId xmlns:a16="http://schemas.microsoft.com/office/drawing/2014/main" id="{40C0A7C1-D993-4EF1-AA5E-D9A15548BE4D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412875"/>
            <a:ext cx="6913562" cy="773113"/>
            <a:chOff x="703" y="981"/>
            <a:chExt cx="4355" cy="487"/>
          </a:xfrm>
        </p:grpSpPr>
        <p:sp>
          <p:nvSpPr>
            <p:cNvPr id="66586" name="Text Box 39">
              <a:extLst>
                <a:ext uri="{FF2B5EF4-FFF2-40B4-BE49-F238E27FC236}">
                  <a16:creationId xmlns:a16="http://schemas.microsoft.com/office/drawing/2014/main" id="{28CBE990-374A-47C0-9556-91CF7AEC9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</a:t>
              </a:r>
              <a:endParaRPr lang="en-AU" altLang="en-US" sz="2000"/>
            </a:p>
          </p:txBody>
        </p:sp>
        <p:sp>
          <p:nvSpPr>
            <p:cNvPr id="66587" name="Text Box 40">
              <a:extLst>
                <a:ext uri="{FF2B5EF4-FFF2-40B4-BE49-F238E27FC236}">
                  <a16:creationId xmlns:a16="http://schemas.microsoft.com/office/drawing/2014/main" id="{D050DFFF-6049-42F9-8933-C25D691BF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66588" name="Text Box 41">
              <a:extLst>
                <a:ext uri="{FF2B5EF4-FFF2-40B4-BE49-F238E27FC236}">
                  <a16:creationId xmlns:a16="http://schemas.microsoft.com/office/drawing/2014/main" id="{6BC20FB6-877D-45C0-9C8B-8213538D7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66589" name="Text Box 42">
              <a:extLst>
                <a:ext uri="{FF2B5EF4-FFF2-40B4-BE49-F238E27FC236}">
                  <a16:creationId xmlns:a16="http://schemas.microsoft.com/office/drawing/2014/main" id="{0FF328AF-EBCE-4EED-9302-094A0A2A1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66590" name="Text Box 43">
              <a:extLst>
                <a:ext uri="{FF2B5EF4-FFF2-40B4-BE49-F238E27FC236}">
                  <a16:creationId xmlns:a16="http://schemas.microsoft.com/office/drawing/2014/main" id="{636828FD-55AB-4A49-B18F-AAA324A2E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shamt</a:t>
              </a:r>
              <a:endParaRPr lang="en-AU" altLang="en-US" sz="2000"/>
            </a:p>
          </p:txBody>
        </p:sp>
        <p:sp>
          <p:nvSpPr>
            <p:cNvPr id="66591" name="Text Box 44">
              <a:extLst>
                <a:ext uri="{FF2B5EF4-FFF2-40B4-BE49-F238E27FC236}">
                  <a16:creationId xmlns:a16="http://schemas.microsoft.com/office/drawing/2014/main" id="{D86DAAF8-4CCA-48A9-80B1-10374785B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</a:t>
              </a:r>
              <a:endParaRPr lang="en-AU" altLang="en-US" sz="2000"/>
            </a:p>
          </p:txBody>
        </p:sp>
        <p:sp>
          <p:nvSpPr>
            <p:cNvPr id="66592" name="Text Box 45">
              <a:extLst>
                <a:ext uri="{FF2B5EF4-FFF2-40B4-BE49-F238E27FC236}">
                  <a16:creationId xmlns:a16="http://schemas.microsoft.com/office/drawing/2014/main" id="{DC377831-9CE1-42BC-927E-6BAAE539D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66593" name="Text Box 46">
              <a:extLst>
                <a:ext uri="{FF2B5EF4-FFF2-40B4-BE49-F238E27FC236}">
                  <a16:creationId xmlns:a16="http://schemas.microsoft.com/office/drawing/2014/main" id="{C1D96BAD-DD4A-4807-AF62-9F511141F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66594" name="Text Box 47">
              <a:extLst>
                <a:ext uri="{FF2B5EF4-FFF2-40B4-BE49-F238E27FC236}">
                  <a16:creationId xmlns:a16="http://schemas.microsoft.com/office/drawing/2014/main" id="{D142D836-AF28-4BF1-974C-6E45F7B4B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66595" name="Text Box 48">
              <a:extLst>
                <a:ext uri="{FF2B5EF4-FFF2-40B4-BE49-F238E27FC236}">
                  <a16:creationId xmlns:a16="http://schemas.microsoft.com/office/drawing/2014/main" id="{125EAC1F-122B-4605-80BC-7F49B94B4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66596" name="Text Box 49">
              <a:extLst>
                <a:ext uri="{FF2B5EF4-FFF2-40B4-BE49-F238E27FC236}">
                  <a16:creationId xmlns:a16="http://schemas.microsoft.com/office/drawing/2014/main" id="{ECBB6881-0451-4AAA-9D9C-9B4EB2314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66597" name="Text Box 50">
              <a:extLst>
                <a:ext uri="{FF2B5EF4-FFF2-40B4-BE49-F238E27FC236}">
                  <a16:creationId xmlns:a16="http://schemas.microsoft.com/office/drawing/2014/main" id="{CBE4CBC6-5322-4C61-AD35-9CB935D19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</p:grpSp>
      <p:sp>
        <p:nvSpPr>
          <p:cNvPr id="66585" name="Rectangle 35">
            <a:extLst>
              <a:ext uri="{FF2B5EF4-FFF2-40B4-BE49-F238E27FC236}">
                <a16:creationId xmlns:a16="http://schemas.microsoft.com/office/drawing/2014/main" id="{559A8F53-B2B0-4C58-94C3-30635C4F7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363" y="5797550"/>
            <a:ext cx="555466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C00000"/>
                </a:solidFill>
              </a:rPr>
              <a:t>0</a:t>
            </a:r>
            <a:r>
              <a:rPr lang="en-US" altLang="en-US" sz="2400"/>
              <a:t>      </a:t>
            </a:r>
            <a:r>
              <a:rPr lang="en-US" altLang="en-US" sz="2400">
                <a:solidFill>
                  <a:srgbClr val="0070C0"/>
                </a:solidFill>
              </a:rPr>
              <a:t>2</a:t>
            </a:r>
            <a:r>
              <a:rPr lang="en-US" altLang="en-US" sz="2400"/>
              <a:t>      </a:t>
            </a:r>
            <a:r>
              <a:rPr lang="en-US" altLang="en-US" sz="2400">
                <a:solidFill>
                  <a:srgbClr val="C00000"/>
                </a:solidFill>
              </a:rPr>
              <a:t>3</a:t>
            </a:r>
            <a:r>
              <a:rPr lang="en-US" altLang="en-US" sz="2400"/>
              <a:t>      </a:t>
            </a:r>
            <a:r>
              <a:rPr lang="en-US" altLang="en-US" sz="2400">
                <a:solidFill>
                  <a:srgbClr val="0070C0"/>
                </a:solidFill>
              </a:rPr>
              <a:t>2</a:t>
            </a:r>
            <a:r>
              <a:rPr lang="en-US" altLang="en-US" sz="2400"/>
              <a:t>      </a:t>
            </a:r>
            <a:r>
              <a:rPr lang="en-US" altLang="en-US" sz="2400">
                <a:solidFill>
                  <a:srgbClr val="C00000"/>
                </a:solidFill>
              </a:rPr>
              <a:t>4</a:t>
            </a:r>
            <a:r>
              <a:rPr lang="en-US" altLang="en-US" sz="2400"/>
              <a:t>      </a:t>
            </a:r>
            <a:r>
              <a:rPr lang="en-US" altLang="en-US" sz="2400">
                <a:solidFill>
                  <a:srgbClr val="0070C0"/>
                </a:solidFill>
              </a:rPr>
              <a:t>0</a:t>
            </a:r>
            <a:r>
              <a:rPr lang="en-US" altLang="en-US" sz="2400"/>
              <a:t>      </a:t>
            </a:r>
            <a:r>
              <a:rPr lang="en-US" altLang="en-US" sz="2400">
                <a:solidFill>
                  <a:srgbClr val="C00000"/>
                </a:solidFill>
              </a:rPr>
              <a:t>2</a:t>
            </a:r>
            <a:r>
              <a:rPr lang="en-US" altLang="en-US" sz="2400"/>
              <a:t>      </a:t>
            </a:r>
            <a:r>
              <a:rPr lang="en-US" altLang="en-US" sz="2400">
                <a:solidFill>
                  <a:srgbClr val="0070C0"/>
                </a:solidFill>
              </a:rPr>
              <a:t>0  </a:t>
            </a:r>
            <a:r>
              <a:rPr lang="en-US" altLang="en-US" sz="2400" baseline="-25000"/>
              <a:t>16</a:t>
            </a:r>
            <a:endParaRPr lang="en-AU" altLang="en-US"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3">
            <a:extLst>
              <a:ext uri="{FF2B5EF4-FFF2-40B4-BE49-F238E27FC236}">
                <a16:creationId xmlns:a16="http://schemas.microsoft.com/office/drawing/2014/main" id="{D5183FF4-A953-4014-922D-AE90369439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433A0B6-58A4-4A63-8C31-633CCA66240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AU" altLang="en-US" sz="14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07CA30AB-C8F8-4011-8E16-5862AE910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Hexadecimal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ED4F39B1-61A2-455D-A0E4-FEA15F6A4A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5827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Base 16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Compact representation of bit strings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4 bits per hex digit</a:t>
            </a:r>
          </a:p>
        </p:txBody>
      </p:sp>
      <p:graphicFrame>
        <p:nvGraphicFramePr>
          <p:cNvPr id="441420" name="Group 76">
            <a:extLst>
              <a:ext uri="{FF2B5EF4-FFF2-40B4-BE49-F238E27FC236}">
                <a16:creationId xmlns:a16="http://schemas.microsoft.com/office/drawing/2014/main" id="{356E7093-3B71-40B3-A5AA-CD632184AD48}"/>
              </a:ext>
            </a:extLst>
          </p:cNvPr>
          <p:cNvGraphicFramePr>
            <a:graphicFrameLocks noGrp="1"/>
          </p:cNvGraphicFramePr>
          <p:nvPr/>
        </p:nvGraphicFramePr>
        <p:xfrm>
          <a:off x="1116013" y="2852738"/>
          <a:ext cx="7127875" cy="18288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8660" name="Rectangle 77">
            <a:extLst>
              <a:ext uri="{FF2B5EF4-FFF2-40B4-BE49-F238E27FC236}">
                <a16:creationId xmlns:a16="http://schemas.microsoft.com/office/drawing/2014/main" id="{AF008728-14AD-448F-B51B-980EF9E8D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940300"/>
            <a:ext cx="82708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AU" altLang="en-US"/>
              <a:t>Example: ECA8 6420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1110 1100 1010 1000 0110 0100 0010 0000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9426A6FA-2B98-4BDA-872C-8D7A471799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B9BDB019-D93F-4B17-8EEB-27E5FD729A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AU" altLang="en-US" sz="1400"/>
          </a:p>
        </p:txBody>
      </p:sp>
      <p:sp>
        <p:nvSpPr>
          <p:cNvPr id="73731" name="Rectangle 26">
            <a:extLst>
              <a:ext uri="{FF2B5EF4-FFF2-40B4-BE49-F238E27FC236}">
                <a16:creationId xmlns:a16="http://schemas.microsoft.com/office/drawing/2014/main" id="{9BA626A6-5720-4848-B307-C3056A383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MIPS I-format Instructions</a:t>
            </a:r>
            <a:endParaRPr lang="en-AU" altLang="en-US"/>
          </a:p>
        </p:txBody>
      </p:sp>
      <p:sp>
        <p:nvSpPr>
          <p:cNvPr id="70660" name="Rectangle 27">
            <a:extLst>
              <a:ext uri="{FF2B5EF4-FFF2-40B4-BE49-F238E27FC236}">
                <a16:creationId xmlns:a16="http://schemas.microsoft.com/office/drawing/2014/main" id="{BB34E5D8-EE1B-4ECB-A83C-65A819C30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4838" y="2254250"/>
            <a:ext cx="8270875" cy="38877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/>
              <a:t>Immediate arithmetic – </a:t>
            </a:r>
            <a:r>
              <a:rPr lang="en-US" altLang="en-US" sz="2800" dirty="0" err="1"/>
              <a:t>addi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/>
              <a:t>load/store – </a:t>
            </a:r>
            <a:r>
              <a:rPr lang="en-US" altLang="en-US" sz="2800" dirty="0" err="1"/>
              <a:t>lw</a:t>
            </a:r>
            <a:r>
              <a:rPr lang="en-US" altLang="en-US" sz="2800" dirty="0"/>
              <a:t>/</a:t>
            </a:r>
            <a:r>
              <a:rPr lang="en-US" altLang="en-US" sz="2800" dirty="0" err="1"/>
              <a:t>sw</a:t>
            </a:r>
            <a:endParaRPr lang="en-US" altLang="en-US" sz="28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 err="1"/>
              <a:t>rt</a:t>
            </a:r>
            <a:r>
              <a:rPr lang="en-US" altLang="en-US" dirty="0"/>
              <a:t>: destination or source register number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Constant: –2</a:t>
            </a:r>
            <a:r>
              <a:rPr lang="en-US" altLang="en-US" baseline="30000" dirty="0"/>
              <a:t>15</a:t>
            </a:r>
            <a:r>
              <a:rPr lang="en-US" altLang="en-US" dirty="0"/>
              <a:t> to +2</a:t>
            </a:r>
            <a:r>
              <a:rPr lang="en-US" altLang="en-US" baseline="30000" dirty="0"/>
              <a:t>15</a:t>
            </a:r>
            <a:r>
              <a:rPr lang="en-US" altLang="en-US" dirty="0"/>
              <a:t> – 1 (-32,768 to +32767)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Address: offset added to base address in </a:t>
            </a:r>
            <a:r>
              <a:rPr lang="en-US" altLang="en-US" dirty="0" err="1"/>
              <a:t>rs</a:t>
            </a:r>
            <a:endParaRPr lang="en-US" altLang="en-US" dirty="0"/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>
                <a:latin typeface="Lucida Console" panose="020B0609040504020204" pitchFamily="49" charset="0"/>
              </a:rPr>
              <a:t>Example: </a:t>
            </a:r>
            <a:r>
              <a:rPr lang="en-US" altLang="en-US" dirty="0" err="1">
                <a:latin typeface="Lucida Console" panose="020B0609040504020204" pitchFamily="49" charset="0"/>
              </a:rPr>
              <a:t>addi</a:t>
            </a:r>
            <a:r>
              <a:rPr lang="en-US" altLang="en-US" dirty="0">
                <a:latin typeface="Lucida Console" panose="020B0609040504020204" pitchFamily="49" charset="0"/>
              </a:rPr>
              <a:t> $t0, $s1, 4</a:t>
            </a:r>
            <a:endParaRPr lang="en-US" alt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>
                <a:latin typeface="Lucida Console" panose="020B0609040504020204" pitchFamily="49" charset="0"/>
              </a:rPr>
              <a:t>Example: </a:t>
            </a:r>
            <a:r>
              <a:rPr lang="en-US" altLang="en-US" dirty="0" err="1">
                <a:latin typeface="Lucida Console" panose="020B0609040504020204" pitchFamily="49" charset="0"/>
              </a:rPr>
              <a:t>lw</a:t>
            </a:r>
            <a:r>
              <a:rPr lang="en-US" altLang="en-US" dirty="0">
                <a:latin typeface="Lucida Console" panose="020B0609040504020204" pitchFamily="49" charset="0"/>
              </a:rPr>
              <a:t> $t1, 100($s1)</a:t>
            </a:r>
            <a:endParaRPr lang="en-US" altLang="en-US" dirty="0"/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dirty="0"/>
          </a:p>
        </p:txBody>
      </p:sp>
      <p:grpSp>
        <p:nvGrpSpPr>
          <p:cNvPr id="73733" name="Group 4">
            <a:extLst>
              <a:ext uri="{FF2B5EF4-FFF2-40B4-BE49-F238E27FC236}">
                <a16:creationId xmlns:a16="http://schemas.microsoft.com/office/drawing/2014/main" id="{F2BCC10B-E793-4C80-85D5-EFC8F1072884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412875"/>
            <a:ext cx="6913562" cy="773113"/>
            <a:chOff x="884" y="981"/>
            <a:chExt cx="4355" cy="487"/>
          </a:xfrm>
        </p:grpSpPr>
        <p:sp>
          <p:nvSpPr>
            <p:cNvPr id="73734" name="Text Box 5">
              <a:extLst>
                <a:ext uri="{FF2B5EF4-FFF2-40B4-BE49-F238E27FC236}">
                  <a16:creationId xmlns:a16="http://schemas.microsoft.com/office/drawing/2014/main" id="{D2259DEE-010D-4C5C-B9B8-DE4A148CF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</a:t>
              </a:r>
              <a:endParaRPr lang="en-AU" altLang="en-US" sz="2000"/>
            </a:p>
          </p:txBody>
        </p:sp>
        <p:sp>
          <p:nvSpPr>
            <p:cNvPr id="73735" name="Text Box 6">
              <a:extLst>
                <a:ext uri="{FF2B5EF4-FFF2-40B4-BE49-F238E27FC236}">
                  <a16:creationId xmlns:a16="http://schemas.microsoft.com/office/drawing/2014/main" id="{8804838F-2F08-4673-87AA-EC954D512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73736" name="Text Box 7">
              <a:extLst>
                <a:ext uri="{FF2B5EF4-FFF2-40B4-BE49-F238E27FC236}">
                  <a16:creationId xmlns:a16="http://schemas.microsoft.com/office/drawing/2014/main" id="{D4D075C4-6FF7-4C29-8F46-974DD2325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73737" name="Text Box 8">
              <a:extLst>
                <a:ext uri="{FF2B5EF4-FFF2-40B4-BE49-F238E27FC236}">
                  <a16:creationId xmlns:a16="http://schemas.microsoft.com/office/drawing/2014/main" id="{20F84E5E-D468-438A-8583-F639FADD9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constant or address</a:t>
              </a:r>
              <a:endParaRPr lang="en-AU" altLang="en-US" sz="2000"/>
            </a:p>
          </p:txBody>
        </p:sp>
        <p:sp>
          <p:nvSpPr>
            <p:cNvPr id="73738" name="Text Box 9">
              <a:extLst>
                <a:ext uri="{FF2B5EF4-FFF2-40B4-BE49-F238E27FC236}">
                  <a16:creationId xmlns:a16="http://schemas.microsoft.com/office/drawing/2014/main" id="{B5B9F775-AD99-4FE4-92E7-B2A10ABF7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73739" name="Text Box 10">
              <a:extLst>
                <a:ext uri="{FF2B5EF4-FFF2-40B4-BE49-F238E27FC236}">
                  <a16:creationId xmlns:a16="http://schemas.microsoft.com/office/drawing/2014/main" id="{A1305C5F-75E5-4D9F-B982-0E3CFA86F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73740" name="Text Box 11">
              <a:extLst>
                <a:ext uri="{FF2B5EF4-FFF2-40B4-BE49-F238E27FC236}">
                  <a16:creationId xmlns:a16="http://schemas.microsoft.com/office/drawing/2014/main" id="{8699944A-AE38-4AA7-AE4D-CC6871317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73741" name="Text Box 12">
              <a:extLst>
                <a:ext uri="{FF2B5EF4-FFF2-40B4-BE49-F238E27FC236}">
                  <a16:creationId xmlns:a16="http://schemas.microsoft.com/office/drawing/2014/main" id="{3FD6C636-F2C8-46D8-92A6-EE426084D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16 bits</a:t>
              </a:r>
              <a:endParaRPr lang="en-AU" altLang="en-US" sz="1600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83CE76A-198B-4703-81B1-D7B9AE3E6C56}"/>
              </a:ext>
            </a:extLst>
          </p:cNvPr>
          <p:cNvSpPr/>
          <p:nvPr/>
        </p:nvSpPr>
        <p:spPr bwMode="auto">
          <a:xfrm>
            <a:off x="6763608" y="5013176"/>
            <a:ext cx="576064" cy="57606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2C86139-7942-4A18-83CF-018622F5BE20}"/>
              </a:ext>
            </a:extLst>
          </p:cNvPr>
          <p:cNvSpPr/>
          <p:nvPr/>
        </p:nvSpPr>
        <p:spPr bwMode="auto">
          <a:xfrm>
            <a:off x="5117688" y="5561816"/>
            <a:ext cx="853832" cy="57606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B33C77F-938B-4F19-98BA-E7A2D1A6782B}"/>
              </a:ext>
            </a:extLst>
          </p:cNvPr>
          <p:cNvCxnSpPr>
            <a:stCxn id="2" idx="0"/>
          </p:cNvCxnSpPr>
          <p:nvPr/>
        </p:nvCxnSpPr>
        <p:spPr bwMode="auto">
          <a:xfrm flipH="1" flipV="1">
            <a:off x="6444208" y="2185988"/>
            <a:ext cx="607432" cy="2827188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7F7B5C-FB39-40FB-A1C0-D23A2C2C0163}"/>
              </a:ext>
            </a:extLst>
          </p:cNvPr>
          <p:cNvCxnSpPr>
            <a:cxnSpLocks/>
          </p:cNvCxnSpPr>
          <p:nvPr/>
        </p:nvCxnSpPr>
        <p:spPr bwMode="auto">
          <a:xfrm flipV="1">
            <a:off x="5536488" y="2185988"/>
            <a:ext cx="785221" cy="3375828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FFCFCB1C-982A-47BD-ABFD-735AB19BE6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D98894FA-2331-447C-B0A9-7461D25106F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AU" altLang="en-US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0580890-06C6-4C6B-885D-B0761006A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Stored Program Computers</a:t>
            </a:r>
            <a:endParaRPr lang="en-AU" altLang="en-US"/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4DEFAF-D1AE-49E6-9D6C-CB648FD80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08400" y="1223963"/>
            <a:ext cx="5246688" cy="4535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Instructions are represented in binary bits, just like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Instructions and data both stored in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Programs can operate on programs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e.g., compilers, linkers,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Binary compatibility allows compiled programs to work on different (but compatible) computers</a:t>
            </a:r>
          </a:p>
        </p:txBody>
      </p:sp>
      <p:sp>
        <p:nvSpPr>
          <p:cNvPr id="75781" name="Text Box 5">
            <a:extLst>
              <a:ext uri="{FF2B5EF4-FFF2-40B4-BE49-F238E27FC236}">
                <a16:creationId xmlns:a16="http://schemas.microsoft.com/office/drawing/2014/main" id="{C12187CF-E5E6-4725-B6AB-162D34981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</a:p>
        </p:txBody>
      </p:sp>
      <p:pic>
        <p:nvPicPr>
          <p:cNvPr id="75782" name="Picture 7" descr="f02-07-P374493">
            <a:extLst>
              <a:ext uri="{FF2B5EF4-FFF2-40B4-BE49-F238E27FC236}">
                <a16:creationId xmlns:a16="http://schemas.microsoft.com/office/drawing/2014/main" id="{46928323-B2EE-440D-BB35-13BC6923D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060575"/>
            <a:ext cx="2908300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>
            <a:extLst>
              <a:ext uri="{FF2B5EF4-FFF2-40B4-BE49-F238E27FC236}">
                <a16:creationId xmlns:a16="http://schemas.microsoft.com/office/drawing/2014/main" id="{AEE999A9-E3BC-4C34-9364-90E6BE2BBB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29CAC800-C745-4AF0-B967-B3C64449B30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AU" altLang="en-US" sz="14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921065B3-A721-4BC7-B82D-1431152F7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Shift Operations</a:t>
            </a:r>
            <a:endParaRPr lang="en-AU" altLang="en-US"/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FB6AD332-127B-4A05-B801-C71B38113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773363"/>
            <a:ext cx="8270875" cy="2808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Examples: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Lucida Console" panose="020B0609040504020204" pitchFamily="49" charset="0"/>
              </a:rPr>
              <a:t>Sll t2, s0, 8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Lucida Console" panose="020B0609040504020204" pitchFamily="49" charset="0"/>
              </a:rPr>
              <a:t>srl</a:t>
            </a:r>
            <a:r>
              <a:rPr lang="en-US" altLang="en-US"/>
              <a:t>  </a:t>
            </a:r>
            <a:r>
              <a:rPr lang="en-US" altLang="en-US">
                <a:latin typeface="Lucida Console" panose="020B0609040504020204" pitchFamily="49" charset="0"/>
              </a:rPr>
              <a:t>t3, s1, 4</a:t>
            </a:r>
            <a:endParaRPr lang="en-AU" altLang="en-US"/>
          </a:p>
        </p:txBody>
      </p:sp>
      <p:grpSp>
        <p:nvGrpSpPr>
          <p:cNvPr id="79877" name="Group 4">
            <a:extLst>
              <a:ext uri="{FF2B5EF4-FFF2-40B4-BE49-F238E27FC236}">
                <a16:creationId xmlns:a16="http://schemas.microsoft.com/office/drawing/2014/main" id="{4136CC67-A2A3-498F-9D6A-330E3D321813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1557338"/>
            <a:ext cx="6913563" cy="773112"/>
            <a:chOff x="703" y="981"/>
            <a:chExt cx="4355" cy="487"/>
          </a:xfrm>
        </p:grpSpPr>
        <p:sp>
          <p:nvSpPr>
            <p:cNvPr id="79878" name="Text Box 5">
              <a:extLst>
                <a:ext uri="{FF2B5EF4-FFF2-40B4-BE49-F238E27FC236}">
                  <a16:creationId xmlns:a16="http://schemas.microsoft.com/office/drawing/2014/main" id="{FDB6C095-C186-4DA2-BAA2-4BE240CA6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</a:t>
              </a:r>
              <a:endParaRPr lang="en-AU" altLang="en-US" sz="2000"/>
            </a:p>
          </p:txBody>
        </p:sp>
        <p:sp>
          <p:nvSpPr>
            <p:cNvPr id="79879" name="Text Box 6">
              <a:extLst>
                <a:ext uri="{FF2B5EF4-FFF2-40B4-BE49-F238E27FC236}">
                  <a16:creationId xmlns:a16="http://schemas.microsoft.com/office/drawing/2014/main" id="{23F567D3-02AD-4D21-A297-079898E83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79880" name="Text Box 7">
              <a:extLst>
                <a:ext uri="{FF2B5EF4-FFF2-40B4-BE49-F238E27FC236}">
                  <a16:creationId xmlns:a16="http://schemas.microsoft.com/office/drawing/2014/main" id="{EA6BDF56-B73F-46BA-AEB5-B35552E0B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79881" name="Text Box 8">
              <a:extLst>
                <a:ext uri="{FF2B5EF4-FFF2-40B4-BE49-F238E27FC236}">
                  <a16:creationId xmlns:a16="http://schemas.microsoft.com/office/drawing/2014/main" id="{9404260C-E4AB-4BF6-8032-F523BA8D5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79882" name="Text Box 9">
              <a:extLst>
                <a:ext uri="{FF2B5EF4-FFF2-40B4-BE49-F238E27FC236}">
                  <a16:creationId xmlns:a16="http://schemas.microsoft.com/office/drawing/2014/main" id="{1EA72912-9731-440A-80A9-E7D3F32BD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shamt</a:t>
              </a:r>
              <a:endParaRPr lang="en-AU" altLang="en-US" sz="2000"/>
            </a:p>
          </p:txBody>
        </p:sp>
        <p:sp>
          <p:nvSpPr>
            <p:cNvPr id="79883" name="Text Box 10">
              <a:extLst>
                <a:ext uri="{FF2B5EF4-FFF2-40B4-BE49-F238E27FC236}">
                  <a16:creationId xmlns:a16="http://schemas.microsoft.com/office/drawing/2014/main" id="{6A6832BB-0F34-4746-A269-6A12F718B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</a:t>
              </a:r>
              <a:endParaRPr lang="en-AU" altLang="en-US" sz="2000"/>
            </a:p>
          </p:txBody>
        </p:sp>
        <p:sp>
          <p:nvSpPr>
            <p:cNvPr id="79884" name="Text Box 11">
              <a:extLst>
                <a:ext uri="{FF2B5EF4-FFF2-40B4-BE49-F238E27FC236}">
                  <a16:creationId xmlns:a16="http://schemas.microsoft.com/office/drawing/2014/main" id="{DAD80A83-B23F-4080-AB12-699E9D6D7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79885" name="Text Box 12">
              <a:extLst>
                <a:ext uri="{FF2B5EF4-FFF2-40B4-BE49-F238E27FC236}">
                  <a16:creationId xmlns:a16="http://schemas.microsoft.com/office/drawing/2014/main" id="{E87AD40F-A0AE-4909-89AD-72B58BA4B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79886" name="Text Box 13">
              <a:extLst>
                <a:ext uri="{FF2B5EF4-FFF2-40B4-BE49-F238E27FC236}">
                  <a16:creationId xmlns:a16="http://schemas.microsoft.com/office/drawing/2014/main" id="{77D06414-FCC9-4E9E-AD57-28FF2416B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79887" name="Text Box 14">
              <a:extLst>
                <a:ext uri="{FF2B5EF4-FFF2-40B4-BE49-F238E27FC236}">
                  <a16:creationId xmlns:a16="http://schemas.microsoft.com/office/drawing/2014/main" id="{CA25130A-2D64-41CC-B2F1-E315451AB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79888" name="Text Box 15">
              <a:extLst>
                <a:ext uri="{FF2B5EF4-FFF2-40B4-BE49-F238E27FC236}">
                  <a16:creationId xmlns:a16="http://schemas.microsoft.com/office/drawing/2014/main" id="{B650EE8D-AAD6-499B-8702-4EE1EE374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79889" name="Text Box 16">
              <a:extLst>
                <a:ext uri="{FF2B5EF4-FFF2-40B4-BE49-F238E27FC236}">
                  <a16:creationId xmlns:a16="http://schemas.microsoft.com/office/drawing/2014/main" id="{61C6793D-C524-478D-8E71-6081595E0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37B975F6-F52C-4300-A832-B414F0C47155}"/>
              </a:ext>
            </a:extLst>
          </p:cNvPr>
          <p:cNvSpPr/>
          <p:nvPr/>
        </p:nvSpPr>
        <p:spPr bwMode="auto">
          <a:xfrm>
            <a:off x="3904106" y="3212976"/>
            <a:ext cx="576064" cy="57606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643D9A-D6D6-4056-B3E1-BAE6CF7E4F1B}"/>
              </a:ext>
            </a:extLst>
          </p:cNvPr>
          <p:cNvCxnSpPr>
            <a:cxnSpLocks/>
            <a:stCxn id="18" idx="7"/>
          </p:cNvCxnSpPr>
          <p:nvPr/>
        </p:nvCxnSpPr>
        <p:spPr bwMode="auto">
          <a:xfrm flipV="1">
            <a:off x="4395807" y="1993901"/>
            <a:ext cx="1762106" cy="1303438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>
            <a:extLst>
              <a:ext uri="{FF2B5EF4-FFF2-40B4-BE49-F238E27FC236}">
                <a16:creationId xmlns:a16="http://schemas.microsoft.com/office/drawing/2014/main" id="{5F16C10D-6FE7-4BBB-AC5C-3B9BB7C007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25D048DB-1BEC-4E04-A548-1F6EFA2E417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AU" altLang="en-US" sz="14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BBC7B9DF-98B2-476B-AA6E-E1EB690C9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Shift Operations</a:t>
            </a:r>
            <a:endParaRPr lang="en-AU" altLang="en-US"/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E150C0C-C966-4708-8AB0-79D4113C0D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349500"/>
            <a:ext cx="8270875" cy="38877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shamt: how many positions to shift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Shift left logical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Shift left, and fill with 0 bits (on right)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Lucida Console" panose="020B0609040504020204" pitchFamily="49" charset="0"/>
              </a:rPr>
              <a:t>sll</a:t>
            </a:r>
            <a:r>
              <a:rPr lang="en-US" altLang="en-US"/>
              <a:t> by </a:t>
            </a:r>
            <a:r>
              <a:rPr lang="en-US" altLang="en-US" i="1"/>
              <a:t>i</a:t>
            </a:r>
            <a:r>
              <a:rPr lang="en-US" altLang="en-US"/>
              <a:t> bits = multiplies by 2</a:t>
            </a:r>
            <a:r>
              <a:rPr lang="en-US" altLang="en-US" i="1" baseline="30000"/>
              <a:t>i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Shift right logical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Shift right, and fill with 0 bits (on left)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Lucida Console" panose="020B0609040504020204" pitchFamily="49" charset="0"/>
              </a:rPr>
              <a:t>srl</a:t>
            </a:r>
            <a:r>
              <a:rPr lang="en-US" altLang="en-US"/>
              <a:t> by </a:t>
            </a:r>
            <a:r>
              <a:rPr lang="en-US" altLang="en-US" i="1"/>
              <a:t>i</a:t>
            </a:r>
            <a:r>
              <a:rPr lang="en-US" altLang="en-US"/>
              <a:t> bits = divides by 2</a:t>
            </a:r>
            <a:r>
              <a:rPr lang="en-US" altLang="en-US" i="1" baseline="30000"/>
              <a:t>i</a:t>
            </a:r>
            <a:r>
              <a:rPr lang="en-US" altLang="en-US"/>
              <a:t> (unsigned only)</a:t>
            </a:r>
            <a:endParaRPr lang="en-AU" altLang="en-US"/>
          </a:p>
        </p:txBody>
      </p:sp>
      <p:grpSp>
        <p:nvGrpSpPr>
          <p:cNvPr id="81925" name="Group 4">
            <a:extLst>
              <a:ext uri="{FF2B5EF4-FFF2-40B4-BE49-F238E27FC236}">
                <a16:creationId xmlns:a16="http://schemas.microsoft.com/office/drawing/2014/main" id="{2E321812-3C24-4629-A55D-7A7A56C42D4F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1557338"/>
            <a:ext cx="6913563" cy="773112"/>
            <a:chOff x="703" y="981"/>
            <a:chExt cx="4355" cy="487"/>
          </a:xfrm>
        </p:grpSpPr>
        <p:sp>
          <p:nvSpPr>
            <p:cNvPr id="81926" name="Text Box 5">
              <a:extLst>
                <a:ext uri="{FF2B5EF4-FFF2-40B4-BE49-F238E27FC236}">
                  <a16:creationId xmlns:a16="http://schemas.microsoft.com/office/drawing/2014/main" id="{8598221B-C7BB-4694-8274-BFD1EDB42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</a:t>
              </a:r>
              <a:endParaRPr lang="en-AU" altLang="en-US" sz="2000"/>
            </a:p>
          </p:txBody>
        </p:sp>
        <p:sp>
          <p:nvSpPr>
            <p:cNvPr id="81927" name="Text Box 6">
              <a:extLst>
                <a:ext uri="{FF2B5EF4-FFF2-40B4-BE49-F238E27FC236}">
                  <a16:creationId xmlns:a16="http://schemas.microsoft.com/office/drawing/2014/main" id="{600767C6-932C-4F7E-B67D-E245F4538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81928" name="Text Box 7">
              <a:extLst>
                <a:ext uri="{FF2B5EF4-FFF2-40B4-BE49-F238E27FC236}">
                  <a16:creationId xmlns:a16="http://schemas.microsoft.com/office/drawing/2014/main" id="{260A4BDD-F854-45CB-B1F8-3C87B7E1B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81929" name="Text Box 8">
              <a:extLst>
                <a:ext uri="{FF2B5EF4-FFF2-40B4-BE49-F238E27FC236}">
                  <a16:creationId xmlns:a16="http://schemas.microsoft.com/office/drawing/2014/main" id="{6F30338E-C8E3-4DEB-B52D-70FB1BF8A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81930" name="Text Box 9">
              <a:extLst>
                <a:ext uri="{FF2B5EF4-FFF2-40B4-BE49-F238E27FC236}">
                  <a16:creationId xmlns:a16="http://schemas.microsoft.com/office/drawing/2014/main" id="{4EA64977-6063-4EF4-A32B-7D8753836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shamt</a:t>
              </a:r>
              <a:endParaRPr lang="en-AU" altLang="en-US" sz="2000"/>
            </a:p>
          </p:txBody>
        </p:sp>
        <p:sp>
          <p:nvSpPr>
            <p:cNvPr id="81931" name="Text Box 10">
              <a:extLst>
                <a:ext uri="{FF2B5EF4-FFF2-40B4-BE49-F238E27FC236}">
                  <a16:creationId xmlns:a16="http://schemas.microsoft.com/office/drawing/2014/main" id="{554D0491-50F4-4769-9D86-44004A5A9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</a:t>
              </a:r>
              <a:endParaRPr lang="en-AU" altLang="en-US" sz="2000"/>
            </a:p>
          </p:txBody>
        </p:sp>
        <p:sp>
          <p:nvSpPr>
            <p:cNvPr id="81932" name="Text Box 11">
              <a:extLst>
                <a:ext uri="{FF2B5EF4-FFF2-40B4-BE49-F238E27FC236}">
                  <a16:creationId xmlns:a16="http://schemas.microsoft.com/office/drawing/2014/main" id="{61FF34DE-3217-4D17-9AD1-03C1126D3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81933" name="Text Box 12">
              <a:extLst>
                <a:ext uri="{FF2B5EF4-FFF2-40B4-BE49-F238E27FC236}">
                  <a16:creationId xmlns:a16="http://schemas.microsoft.com/office/drawing/2014/main" id="{388995EC-5CDA-461D-AAF5-937D20C60A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81934" name="Text Box 13">
              <a:extLst>
                <a:ext uri="{FF2B5EF4-FFF2-40B4-BE49-F238E27FC236}">
                  <a16:creationId xmlns:a16="http://schemas.microsoft.com/office/drawing/2014/main" id="{813FAFA7-CF71-4285-8E4C-BEE24ED1E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81935" name="Text Box 14">
              <a:extLst>
                <a:ext uri="{FF2B5EF4-FFF2-40B4-BE49-F238E27FC236}">
                  <a16:creationId xmlns:a16="http://schemas.microsoft.com/office/drawing/2014/main" id="{A2256273-810D-4423-AEF4-DA9AD9142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81936" name="Text Box 15">
              <a:extLst>
                <a:ext uri="{FF2B5EF4-FFF2-40B4-BE49-F238E27FC236}">
                  <a16:creationId xmlns:a16="http://schemas.microsoft.com/office/drawing/2014/main" id="{16B521FA-66B6-42BF-A615-E339B15CD3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81937" name="Text Box 16">
              <a:extLst>
                <a:ext uri="{FF2B5EF4-FFF2-40B4-BE49-F238E27FC236}">
                  <a16:creationId xmlns:a16="http://schemas.microsoft.com/office/drawing/2014/main" id="{A03E2355-2F60-4A88-BAD0-CF2F6FB5E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3">
            <a:extLst>
              <a:ext uri="{FF2B5EF4-FFF2-40B4-BE49-F238E27FC236}">
                <a16:creationId xmlns:a16="http://schemas.microsoft.com/office/drawing/2014/main" id="{E0B4F794-FFF5-4492-B7E4-FC08438F5B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92275" y="6076950"/>
            <a:ext cx="7272338" cy="358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47D8EE4D-EF7F-44F1-8F78-C15925C97A9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AU" altLang="en-US" sz="14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403C7C80-64BC-4EC5-89CB-89177781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0888" y="4095750"/>
            <a:ext cx="647700" cy="1604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85178C9-D70E-4E7D-A396-8805AB1B9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AND Operations</a:t>
            </a:r>
            <a:endParaRPr lang="en-AU" altLang="en-US"/>
          </a:p>
        </p:txBody>
      </p:sp>
      <p:sp>
        <p:nvSpPr>
          <p:cNvPr id="83973" name="Rectangle 4">
            <a:extLst>
              <a:ext uri="{FF2B5EF4-FFF2-40B4-BE49-F238E27FC236}">
                <a16:creationId xmlns:a16="http://schemas.microsoft.com/office/drawing/2014/main" id="{95FB623E-3992-434A-B081-6CF0F55CB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52513"/>
            <a:ext cx="6911975" cy="1727200"/>
          </a:xfrm>
        </p:spPr>
        <p:txBody>
          <a:bodyPr/>
          <a:lstStyle/>
          <a:p>
            <a:pPr eaLnBrk="1" hangingPunct="1"/>
            <a:r>
              <a:rPr lang="en-US" altLang="en-US"/>
              <a:t>Useful to mask bits in a word</a:t>
            </a:r>
          </a:p>
          <a:p>
            <a:pPr lvl="1" eaLnBrk="1" hangingPunct="1"/>
            <a:r>
              <a:rPr lang="en-US" altLang="en-US"/>
              <a:t>0 &amp; x = 0; 1 &amp; x = x</a:t>
            </a:r>
          </a:p>
          <a:p>
            <a:pPr lvl="1" eaLnBrk="1" hangingPunct="1"/>
            <a:r>
              <a:rPr lang="en-US" altLang="en-US"/>
              <a:t>Select some bits, clear others to 0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sz="2800">
                <a:latin typeface="Lucida Console" panose="020B0609040504020204" pitchFamily="49" charset="0"/>
              </a:rPr>
              <a:t>	and $t0, $t1, $t2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sz="2800">
                <a:latin typeface="Lucida Console" panose="020B0609040504020204" pitchFamily="49" charset="0"/>
              </a:rPr>
              <a:t>	</a:t>
            </a:r>
            <a:endParaRPr lang="en-AU" altLang="en-US" sz="2800">
              <a:latin typeface="Lucida Console" panose="020B0609040504020204" pitchFamily="49" charset="0"/>
            </a:endParaRPr>
          </a:p>
        </p:txBody>
      </p:sp>
      <p:sp>
        <p:nvSpPr>
          <p:cNvPr id="83974" name="Text Box 5">
            <a:extLst>
              <a:ext uri="{FF2B5EF4-FFF2-40B4-BE49-F238E27FC236}">
                <a16:creationId xmlns:a16="http://schemas.microsoft.com/office/drawing/2014/main" id="{12D38362-61DA-42B2-A121-CE7621D99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050" y="4090988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0000 0000 0000 0000 0000 1101 1100 0000</a:t>
            </a:r>
            <a:endParaRPr lang="en-AU" altLang="en-US" sz="2000"/>
          </a:p>
        </p:txBody>
      </p:sp>
      <p:sp>
        <p:nvSpPr>
          <p:cNvPr id="83975" name="Text Box 6">
            <a:extLst>
              <a:ext uri="{FF2B5EF4-FFF2-40B4-BE49-F238E27FC236}">
                <a16:creationId xmlns:a16="http://schemas.microsoft.com/office/drawing/2014/main" id="{74641A1E-8AF8-41CD-A823-25E232133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050" y="4651375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0000 0000 0000 0000 0011 1100 0000 0000</a:t>
            </a:r>
            <a:endParaRPr lang="en-AU" altLang="en-US" sz="2000"/>
          </a:p>
        </p:txBody>
      </p:sp>
      <p:sp>
        <p:nvSpPr>
          <p:cNvPr id="83976" name="Text Box 7">
            <a:extLst>
              <a:ext uri="{FF2B5EF4-FFF2-40B4-BE49-F238E27FC236}">
                <a16:creationId xmlns:a16="http://schemas.microsoft.com/office/drawing/2014/main" id="{57834EE7-5919-414D-B5CB-568B49393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463" y="4090988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$t2</a:t>
            </a:r>
            <a:endParaRPr lang="en-AU" altLang="en-US" sz="2000"/>
          </a:p>
        </p:txBody>
      </p:sp>
      <p:sp>
        <p:nvSpPr>
          <p:cNvPr id="83977" name="Text Box 8">
            <a:extLst>
              <a:ext uri="{FF2B5EF4-FFF2-40B4-BE49-F238E27FC236}">
                <a16:creationId xmlns:a16="http://schemas.microsoft.com/office/drawing/2014/main" id="{607C535B-7B75-4E35-A96B-59AA7C1B0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463" y="4651375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$t1</a:t>
            </a:r>
            <a:endParaRPr lang="en-AU" altLang="en-US" sz="2000"/>
          </a:p>
        </p:txBody>
      </p:sp>
      <p:sp>
        <p:nvSpPr>
          <p:cNvPr id="83978" name="Text Box 9">
            <a:extLst>
              <a:ext uri="{FF2B5EF4-FFF2-40B4-BE49-F238E27FC236}">
                <a16:creationId xmlns:a16="http://schemas.microsoft.com/office/drawing/2014/main" id="{712872D3-12F3-47B5-9976-290F8861F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050" y="5299075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0000 0000 0000 0000 0000 1100 0000 0000</a:t>
            </a:r>
            <a:endParaRPr lang="en-AU" altLang="en-US" sz="2000"/>
          </a:p>
        </p:txBody>
      </p:sp>
      <p:sp>
        <p:nvSpPr>
          <p:cNvPr id="83979" name="Text Box 10">
            <a:extLst>
              <a:ext uri="{FF2B5EF4-FFF2-40B4-BE49-F238E27FC236}">
                <a16:creationId xmlns:a16="http://schemas.microsoft.com/office/drawing/2014/main" id="{939BE457-C8D3-454A-948A-A45831863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463" y="5299075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$t0</a:t>
            </a:r>
            <a:endParaRPr lang="en-AU" altLang="en-US" sz="2000"/>
          </a:p>
        </p:txBody>
      </p:sp>
      <p:sp>
        <p:nvSpPr>
          <p:cNvPr id="83980" name="TextBox 1">
            <a:extLst>
              <a:ext uri="{FF2B5EF4-FFF2-40B4-BE49-F238E27FC236}">
                <a16:creationId xmlns:a16="http://schemas.microsoft.com/office/drawing/2014/main" id="{E23856ED-ADDA-45CC-9ECB-34099E246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713" y="3249613"/>
            <a:ext cx="5181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(select the 4 shaded bits in $t2)</a:t>
            </a:r>
          </a:p>
        </p:txBody>
      </p:sp>
      <p:sp>
        <p:nvSpPr>
          <p:cNvPr id="83981" name="Text Box 8">
            <a:extLst>
              <a:ext uri="{FF2B5EF4-FFF2-40B4-BE49-F238E27FC236}">
                <a16:creationId xmlns:a16="http://schemas.microsoft.com/office/drawing/2014/main" id="{6F70F816-B211-458E-9D82-593EDA17A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75" y="4657725"/>
            <a:ext cx="21771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(selector register)</a:t>
            </a:r>
            <a:endParaRPr lang="en-AU" alt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>
            <a:extLst>
              <a:ext uri="{FF2B5EF4-FFF2-40B4-BE49-F238E27FC236}">
                <a16:creationId xmlns:a16="http://schemas.microsoft.com/office/drawing/2014/main" id="{B9A3F354-DE7F-48DE-B0CB-7D8DEB3C9D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BCEA6368-6872-4AE5-B90D-74D5B8889D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AU" altLang="en-US" sz="14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D8D95405-667B-491C-A950-3F455548E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638" y="3536950"/>
            <a:ext cx="612775" cy="1604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E39492C1-C40A-48CB-A104-1697BA819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OR Operations</a:t>
            </a:r>
            <a:endParaRPr lang="en-AU" altLang="en-US"/>
          </a:p>
        </p:txBody>
      </p:sp>
      <p:sp>
        <p:nvSpPr>
          <p:cNvPr id="86021" name="Rectangle 4">
            <a:extLst>
              <a:ext uri="{FF2B5EF4-FFF2-40B4-BE49-F238E27FC236}">
                <a16:creationId xmlns:a16="http://schemas.microsoft.com/office/drawing/2014/main" id="{8532994B-55C0-41C7-8DB1-42BC3C27F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073275"/>
          </a:xfrm>
        </p:spPr>
        <p:txBody>
          <a:bodyPr/>
          <a:lstStyle/>
          <a:p>
            <a:pPr eaLnBrk="1" hangingPunct="1"/>
            <a:r>
              <a:rPr lang="en-US" altLang="en-US"/>
              <a:t>Useful to include bits in a word</a:t>
            </a:r>
          </a:p>
          <a:p>
            <a:pPr lvl="1" eaLnBrk="1" hangingPunct="1"/>
            <a:r>
              <a:rPr lang="en-US" altLang="en-US"/>
              <a:t>0 | x = x; 1 | x = 1</a:t>
            </a:r>
          </a:p>
          <a:p>
            <a:pPr lvl="1" eaLnBrk="1" hangingPunct="1"/>
            <a:r>
              <a:rPr lang="en-US" altLang="en-US"/>
              <a:t>Set some bits to 1, leave others unchanged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sz="2800">
                <a:latin typeface="Lucida Console" panose="020B0609040504020204" pitchFamily="49" charset="0"/>
              </a:rPr>
              <a:t>	or $t0, $t1, $t2</a:t>
            </a:r>
            <a:endParaRPr lang="en-AU" altLang="en-US" sz="2800">
              <a:latin typeface="Lucida Console" panose="020B0609040504020204" pitchFamily="49" charset="0"/>
            </a:endParaRPr>
          </a:p>
        </p:txBody>
      </p:sp>
      <p:sp>
        <p:nvSpPr>
          <p:cNvPr id="86022" name="Text Box 5">
            <a:extLst>
              <a:ext uri="{FF2B5EF4-FFF2-40B4-BE49-F238E27FC236}">
                <a16:creationId xmlns:a16="http://schemas.microsoft.com/office/drawing/2014/main" id="{666190A1-4064-48BE-AEDF-2CB86BAD4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513" y="3532188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0000 0000 0000 0000 0000 1101 1100 0000</a:t>
            </a:r>
            <a:endParaRPr lang="en-AU" altLang="en-US" sz="2000"/>
          </a:p>
        </p:txBody>
      </p:sp>
      <p:sp>
        <p:nvSpPr>
          <p:cNvPr id="86023" name="Text Box 6">
            <a:extLst>
              <a:ext uri="{FF2B5EF4-FFF2-40B4-BE49-F238E27FC236}">
                <a16:creationId xmlns:a16="http://schemas.microsoft.com/office/drawing/2014/main" id="{E1765B4F-145B-4A97-BF31-89B394CDE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513" y="4092575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0000 0000 0000 0000 0011 1100 0000 0000</a:t>
            </a:r>
            <a:endParaRPr lang="en-AU" altLang="en-US" sz="2000"/>
          </a:p>
        </p:txBody>
      </p:sp>
      <p:sp>
        <p:nvSpPr>
          <p:cNvPr id="86024" name="Text Box 7">
            <a:extLst>
              <a:ext uri="{FF2B5EF4-FFF2-40B4-BE49-F238E27FC236}">
                <a16:creationId xmlns:a16="http://schemas.microsoft.com/office/drawing/2014/main" id="{1F5823FC-9D97-4807-B382-E95D661AB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3532188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$t2</a:t>
            </a:r>
            <a:endParaRPr lang="en-AU" altLang="en-US" sz="2000"/>
          </a:p>
        </p:txBody>
      </p:sp>
      <p:sp>
        <p:nvSpPr>
          <p:cNvPr id="86025" name="Text Box 8">
            <a:extLst>
              <a:ext uri="{FF2B5EF4-FFF2-40B4-BE49-F238E27FC236}">
                <a16:creationId xmlns:a16="http://schemas.microsoft.com/office/drawing/2014/main" id="{8D13AF00-1E57-42B6-89E7-B58195228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4092575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$t1</a:t>
            </a:r>
            <a:endParaRPr lang="en-AU" altLang="en-US" sz="2000"/>
          </a:p>
        </p:txBody>
      </p:sp>
      <p:sp>
        <p:nvSpPr>
          <p:cNvPr id="86026" name="Text Box 9">
            <a:extLst>
              <a:ext uri="{FF2B5EF4-FFF2-40B4-BE49-F238E27FC236}">
                <a16:creationId xmlns:a16="http://schemas.microsoft.com/office/drawing/2014/main" id="{D130390F-282C-4D47-BEE7-086F9CCFE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513" y="4740275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0000 0000 0000 0000 0011 1101 1100 0000</a:t>
            </a:r>
            <a:endParaRPr lang="en-AU" altLang="en-US" sz="2000"/>
          </a:p>
        </p:txBody>
      </p:sp>
      <p:sp>
        <p:nvSpPr>
          <p:cNvPr id="86027" name="Text Box 10">
            <a:extLst>
              <a:ext uri="{FF2B5EF4-FFF2-40B4-BE49-F238E27FC236}">
                <a16:creationId xmlns:a16="http://schemas.microsoft.com/office/drawing/2014/main" id="{5F529302-0333-46D6-A214-CA264309A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4740275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$t0</a:t>
            </a:r>
            <a:endParaRPr lang="en-AU" altLang="en-US" sz="2000"/>
          </a:p>
        </p:txBody>
      </p:sp>
      <p:sp>
        <p:nvSpPr>
          <p:cNvPr id="86028" name="Text Box 8">
            <a:extLst>
              <a:ext uri="{FF2B5EF4-FFF2-40B4-BE49-F238E27FC236}">
                <a16:creationId xmlns:a16="http://schemas.microsoft.com/office/drawing/2014/main" id="{F5643E60-6737-4768-AA04-90EE53C95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4076700"/>
            <a:ext cx="19191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(setter register)</a:t>
            </a:r>
            <a:endParaRPr lang="en-AU" alt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3">
            <a:extLst>
              <a:ext uri="{FF2B5EF4-FFF2-40B4-BE49-F238E27FC236}">
                <a16:creationId xmlns:a16="http://schemas.microsoft.com/office/drawing/2014/main" id="{DC70D262-A701-48AE-BD2C-5DCCA280C9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77A9E1F8-99F2-4F67-9691-501D5A5190F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AU" altLang="en-US" sz="140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859D4FE5-BE94-4AD5-8D7D-2C1F8448C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 Operations</a:t>
            </a:r>
            <a:endParaRPr lang="en-AU" altLang="en-US"/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837EF689-28E0-4136-A5E6-1B321F8E5C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3603625"/>
          </a:xfrm>
        </p:spPr>
        <p:txBody>
          <a:bodyPr/>
          <a:lstStyle/>
          <a:p>
            <a:pPr eaLnBrk="1" hangingPunct="1"/>
            <a:r>
              <a:rPr lang="en-US" altLang="en-US" dirty="0"/>
              <a:t>Useful to invert (flip) bits in a word</a:t>
            </a:r>
          </a:p>
          <a:p>
            <a:pPr lvl="1" eaLnBrk="1" hangingPunct="1"/>
            <a:r>
              <a:rPr lang="en-US" altLang="en-US" dirty="0"/>
              <a:t>Change 0 </a:t>
            </a:r>
            <a:r>
              <a:rPr lang="en-AU" altLang="en-US" dirty="0">
                <a:latin typeface="Lucida Console" panose="020B0609040504020204" pitchFamily="49" charset="0"/>
              </a:rPr>
              <a:t>→</a:t>
            </a:r>
            <a:r>
              <a:rPr lang="en-US" altLang="en-US" dirty="0"/>
              <a:t> 1, and 1 </a:t>
            </a:r>
            <a:r>
              <a:rPr lang="en-AU" altLang="en-US" dirty="0">
                <a:latin typeface="Lucida Console" panose="020B0609040504020204" pitchFamily="49" charset="0"/>
              </a:rPr>
              <a:t>→</a:t>
            </a:r>
            <a:r>
              <a:rPr lang="en-US" altLang="en-US" dirty="0"/>
              <a:t> 0</a:t>
            </a:r>
          </a:p>
          <a:p>
            <a:pPr eaLnBrk="1" hangingPunct="1"/>
            <a:r>
              <a:rPr lang="en-US" altLang="en-US" dirty="0"/>
              <a:t>MIPS has 3-operand NOR instruction</a:t>
            </a:r>
          </a:p>
          <a:p>
            <a:pPr lvl="1" eaLnBrk="1" hangingPunct="1"/>
            <a:r>
              <a:rPr lang="en-US" altLang="en-US" dirty="0"/>
              <a:t>a NOR b == NOT ( a OR b )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nor $t0, $t1, $zero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AU" altLang="en-US" sz="2800" dirty="0">
                <a:latin typeface="Lucida Console" panose="020B0609040504020204" pitchFamily="49" charset="0"/>
              </a:rPr>
              <a:t>		 (</a:t>
            </a:r>
            <a:r>
              <a:rPr lang="en-US" altLang="en-US" sz="2800" dirty="0">
                <a:latin typeface="Lucida Console" panose="020B0609040504020204" pitchFamily="49" charset="0"/>
              </a:rPr>
              <a:t>$t0</a:t>
            </a:r>
            <a:r>
              <a:rPr lang="en-AU" altLang="en-US" sz="2800" dirty="0">
                <a:latin typeface="Lucida Console" panose="020B0609040504020204" pitchFamily="49" charset="0"/>
              </a:rPr>
              <a:t> ← NOT(</a:t>
            </a:r>
            <a:r>
              <a:rPr lang="en-US" altLang="en-US" sz="2800" dirty="0">
                <a:latin typeface="Lucida Console" panose="020B0609040504020204" pitchFamily="49" charset="0"/>
              </a:rPr>
              <a:t>$t1))</a:t>
            </a:r>
            <a:endParaRPr lang="en-AU" altLang="en-US" sz="2800" dirty="0">
              <a:latin typeface="Lucida Console" panose="020B0609040504020204" pitchFamily="49" charset="0"/>
            </a:endParaRPr>
          </a:p>
        </p:txBody>
      </p:sp>
      <p:sp>
        <p:nvSpPr>
          <p:cNvPr id="88069" name="Text Box 4">
            <a:extLst>
              <a:ext uri="{FF2B5EF4-FFF2-40B4-BE49-F238E27FC236}">
                <a16:creationId xmlns:a16="http://schemas.microsoft.com/office/drawing/2014/main" id="{33CEBD84-84CE-4F09-8093-B3E5194DC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4050" y="4979988"/>
            <a:ext cx="52768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0000 0000 0000 0000 0011 1100  0000 0000</a:t>
            </a:r>
            <a:endParaRPr lang="en-AU" altLang="en-US" sz="2000"/>
          </a:p>
        </p:txBody>
      </p:sp>
      <p:sp>
        <p:nvSpPr>
          <p:cNvPr id="88070" name="Text Box 5">
            <a:extLst>
              <a:ext uri="{FF2B5EF4-FFF2-40B4-BE49-F238E27FC236}">
                <a16:creationId xmlns:a16="http://schemas.microsoft.com/office/drawing/2014/main" id="{D054C666-CBF1-449F-8A6E-B3022FDCE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4979988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$t1</a:t>
            </a:r>
            <a:endParaRPr lang="en-AU" altLang="en-US" sz="2000"/>
          </a:p>
        </p:txBody>
      </p:sp>
      <p:sp>
        <p:nvSpPr>
          <p:cNvPr id="90119" name="Text Box 6">
            <a:extLst>
              <a:ext uri="{FF2B5EF4-FFF2-40B4-BE49-F238E27FC236}">
                <a16:creationId xmlns:a16="http://schemas.microsoft.com/office/drawing/2014/main" id="{A26B27E0-061B-4D34-A5E1-4C71B528D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5559425"/>
            <a:ext cx="5238750" cy="422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150"/>
              <a:t>1111 1111 1111 1111 1100 0011 1111 1111</a:t>
            </a:r>
            <a:endParaRPr lang="en-AU" altLang="en-US" sz="2150"/>
          </a:p>
        </p:txBody>
      </p:sp>
      <p:sp>
        <p:nvSpPr>
          <p:cNvPr id="88072" name="Text Box 7">
            <a:extLst>
              <a:ext uri="{FF2B5EF4-FFF2-40B4-BE49-F238E27FC236}">
                <a16:creationId xmlns:a16="http://schemas.microsoft.com/office/drawing/2014/main" id="{ED49DBAD-E738-4F25-9A3C-79F584EBB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5559425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$t0</a:t>
            </a:r>
            <a:endParaRPr lang="en-AU" altLang="en-US" sz="2000"/>
          </a:p>
        </p:txBody>
      </p:sp>
      <p:sp>
        <p:nvSpPr>
          <p:cNvPr id="88073" name="AutoShape 8">
            <a:extLst>
              <a:ext uri="{FF2B5EF4-FFF2-40B4-BE49-F238E27FC236}">
                <a16:creationId xmlns:a16="http://schemas.microsoft.com/office/drawing/2014/main" id="{FA49C044-CB9A-43D9-B07A-152678E51E56}"/>
              </a:ext>
            </a:extLst>
          </p:cNvPr>
          <p:cNvSpPr>
            <a:spLocks/>
          </p:cNvSpPr>
          <p:nvPr/>
        </p:nvSpPr>
        <p:spPr bwMode="auto">
          <a:xfrm>
            <a:off x="6659563" y="3543300"/>
            <a:ext cx="2084387" cy="609600"/>
          </a:xfrm>
          <a:prstGeom prst="borderCallout1">
            <a:avLst>
              <a:gd name="adj1" fmla="val 54120"/>
              <a:gd name="adj2" fmla="val 681"/>
              <a:gd name="adj3" fmla="val 31139"/>
              <a:gd name="adj4" fmla="val -6934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Register 0: always read as zero</a:t>
            </a:r>
            <a:endParaRPr lang="en-AU" altLang="en-US"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A4890-C09D-4572-9D90-CCE85D75FE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C4F54A24-E686-45E7-A922-03287376FB3B}" type="slidenum">
              <a:rPr lang="en-AU" altLang="en-US" smtClean="0"/>
              <a:pPr>
                <a:defRPr/>
              </a:pPr>
              <a:t>43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8274098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FFCFCB1C-982A-47BD-ABFD-735AB19BE6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D98894FA-2331-447C-B0A9-7461D25106F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AU" altLang="en-US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0580890-06C6-4C6B-885D-B0761006A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Stored Program Computers</a:t>
            </a:r>
            <a:endParaRPr lang="en-AU" altLang="en-US"/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4DEFAF-D1AE-49E6-9D6C-CB648FD80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08400" y="1223963"/>
            <a:ext cx="5246688" cy="4535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Instructions are represented in binary bits, just like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Instructions and data both stored in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Programs can operate on programs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e.g., compilers, linkers,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Binary compatibility allows compiled programs to work on different (but compatible) computers</a:t>
            </a:r>
          </a:p>
        </p:txBody>
      </p:sp>
      <p:sp>
        <p:nvSpPr>
          <p:cNvPr id="75781" name="Text Box 5">
            <a:extLst>
              <a:ext uri="{FF2B5EF4-FFF2-40B4-BE49-F238E27FC236}">
                <a16:creationId xmlns:a16="http://schemas.microsoft.com/office/drawing/2014/main" id="{C12187CF-E5E6-4725-B6AB-162D34981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</a:p>
        </p:txBody>
      </p:sp>
      <p:pic>
        <p:nvPicPr>
          <p:cNvPr id="75782" name="Picture 7" descr="f02-07-P374493">
            <a:extLst>
              <a:ext uri="{FF2B5EF4-FFF2-40B4-BE49-F238E27FC236}">
                <a16:creationId xmlns:a16="http://schemas.microsoft.com/office/drawing/2014/main" id="{46928323-B2EE-440D-BB35-13BC6923D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060575"/>
            <a:ext cx="2908300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80330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>
            <a:extLst>
              <a:ext uri="{FF2B5EF4-FFF2-40B4-BE49-F238E27FC236}">
                <a16:creationId xmlns:a16="http://schemas.microsoft.com/office/drawing/2014/main" id="{AEE999A9-E3BC-4C34-9364-90E6BE2BBB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29CAC800-C745-4AF0-B967-B3C64449B30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AU" altLang="en-US" sz="14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921065B3-A721-4BC7-B82D-1431152F7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Instruction Formats</a:t>
            </a:r>
            <a:endParaRPr lang="en-AU" altLang="en-US" dirty="0"/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FB6AD332-127B-4A05-B801-C71B38113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560" y="1268761"/>
            <a:ext cx="8270875" cy="288031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R-format: Arithmetic, logical, shift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I-format: immediate, load/store</a:t>
            </a:r>
          </a:p>
        </p:txBody>
      </p:sp>
      <p:grpSp>
        <p:nvGrpSpPr>
          <p:cNvPr id="79877" name="Group 4">
            <a:extLst>
              <a:ext uri="{FF2B5EF4-FFF2-40B4-BE49-F238E27FC236}">
                <a16:creationId xmlns:a16="http://schemas.microsoft.com/office/drawing/2014/main" id="{4136CC67-A2A3-498F-9D6A-330E3D321813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2007816"/>
            <a:ext cx="6913563" cy="773112"/>
            <a:chOff x="703" y="981"/>
            <a:chExt cx="4355" cy="487"/>
          </a:xfrm>
        </p:grpSpPr>
        <p:sp>
          <p:nvSpPr>
            <p:cNvPr id="79878" name="Text Box 5">
              <a:extLst>
                <a:ext uri="{FF2B5EF4-FFF2-40B4-BE49-F238E27FC236}">
                  <a16:creationId xmlns:a16="http://schemas.microsoft.com/office/drawing/2014/main" id="{FDB6C095-C186-4DA2-BAA2-4BE240CA6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</a:t>
              </a:r>
              <a:endParaRPr lang="en-AU" altLang="en-US" sz="2000"/>
            </a:p>
          </p:txBody>
        </p:sp>
        <p:sp>
          <p:nvSpPr>
            <p:cNvPr id="79879" name="Text Box 6">
              <a:extLst>
                <a:ext uri="{FF2B5EF4-FFF2-40B4-BE49-F238E27FC236}">
                  <a16:creationId xmlns:a16="http://schemas.microsoft.com/office/drawing/2014/main" id="{23F567D3-02AD-4D21-A297-079898E83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 err="1"/>
                <a:t>rs</a:t>
              </a:r>
              <a:endParaRPr lang="en-AU" altLang="en-US" sz="2000" dirty="0"/>
            </a:p>
          </p:txBody>
        </p:sp>
        <p:sp>
          <p:nvSpPr>
            <p:cNvPr id="79880" name="Text Box 7">
              <a:extLst>
                <a:ext uri="{FF2B5EF4-FFF2-40B4-BE49-F238E27FC236}">
                  <a16:creationId xmlns:a16="http://schemas.microsoft.com/office/drawing/2014/main" id="{EA6BDF56-B73F-46BA-AEB5-B35552E0B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79881" name="Text Box 8">
              <a:extLst>
                <a:ext uri="{FF2B5EF4-FFF2-40B4-BE49-F238E27FC236}">
                  <a16:creationId xmlns:a16="http://schemas.microsoft.com/office/drawing/2014/main" id="{9404260C-E4AB-4BF6-8032-F523BA8D5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79882" name="Text Box 9">
              <a:extLst>
                <a:ext uri="{FF2B5EF4-FFF2-40B4-BE49-F238E27FC236}">
                  <a16:creationId xmlns:a16="http://schemas.microsoft.com/office/drawing/2014/main" id="{1EA72912-9731-440A-80A9-E7D3F32BD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shamt</a:t>
              </a:r>
              <a:endParaRPr lang="en-AU" altLang="en-US" sz="2000"/>
            </a:p>
          </p:txBody>
        </p:sp>
        <p:sp>
          <p:nvSpPr>
            <p:cNvPr id="79883" name="Text Box 10">
              <a:extLst>
                <a:ext uri="{FF2B5EF4-FFF2-40B4-BE49-F238E27FC236}">
                  <a16:creationId xmlns:a16="http://schemas.microsoft.com/office/drawing/2014/main" id="{6A6832BB-0F34-4746-A269-6A12F718B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</a:t>
              </a:r>
              <a:endParaRPr lang="en-AU" altLang="en-US" sz="2000"/>
            </a:p>
          </p:txBody>
        </p:sp>
        <p:sp>
          <p:nvSpPr>
            <p:cNvPr id="79884" name="Text Box 11">
              <a:extLst>
                <a:ext uri="{FF2B5EF4-FFF2-40B4-BE49-F238E27FC236}">
                  <a16:creationId xmlns:a16="http://schemas.microsoft.com/office/drawing/2014/main" id="{DAD80A83-B23F-4080-AB12-699E9D6D7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79885" name="Text Box 12">
              <a:extLst>
                <a:ext uri="{FF2B5EF4-FFF2-40B4-BE49-F238E27FC236}">
                  <a16:creationId xmlns:a16="http://schemas.microsoft.com/office/drawing/2014/main" id="{E87AD40F-A0AE-4909-89AD-72B58BA4B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79886" name="Text Box 13">
              <a:extLst>
                <a:ext uri="{FF2B5EF4-FFF2-40B4-BE49-F238E27FC236}">
                  <a16:creationId xmlns:a16="http://schemas.microsoft.com/office/drawing/2014/main" id="{77D06414-FCC9-4E9E-AD57-28FF2416B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79887" name="Text Box 14">
              <a:extLst>
                <a:ext uri="{FF2B5EF4-FFF2-40B4-BE49-F238E27FC236}">
                  <a16:creationId xmlns:a16="http://schemas.microsoft.com/office/drawing/2014/main" id="{CA25130A-2D64-41CC-B2F1-E315451AB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79888" name="Text Box 15">
              <a:extLst>
                <a:ext uri="{FF2B5EF4-FFF2-40B4-BE49-F238E27FC236}">
                  <a16:creationId xmlns:a16="http://schemas.microsoft.com/office/drawing/2014/main" id="{B650EE8D-AAD6-499B-8702-4EE1EE374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79889" name="Text Box 16">
              <a:extLst>
                <a:ext uri="{FF2B5EF4-FFF2-40B4-BE49-F238E27FC236}">
                  <a16:creationId xmlns:a16="http://schemas.microsoft.com/office/drawing/2014/main" id="{61C6793D-C524-478D-8E71-6081595E0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724A924F-7F73-4495-8F32-409E22EE4DF3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4149080"/>
            <a:ext cx="6913562" cy="773113"/>
            <a:chOff x="884" y="981"/>
            <a:chExt cx="4355" cy="487"/>
          </a:xfrm>
        </p:grpSpPr>
        <p:sp>
          <p:nvSpPr>
            <p:cNvPr id="21" name="Text Box 5">
              <a:extLst>
                <a:ext uri="{FF2B5EF4-FFF2-40B4-BE49-F238E27FC236}">
                  <a16:creationId xmlns:a16="http://schemas.microsoft.com/office/drawing/2014/main" id="{577008C9-7870-47BF-911A-CE3010F3C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</a:t>
              </a:r>
              <a:endParaRPr lang="en-AU" altLang="en-US" sz="2000"/>
            </a:p>
          </p:txBody>
        </p:sp>
        <p:sp>
          <p:nvSpPr>
            <p:cNvPr id="22" name="Text Box 6">
              <a:extLst>
                <a:ext uri="{FF2B5EF4-FFF2-40B4-BE49-F238E27FC236}">
                  <a16:creationId xmlns:a16="http://schemas.microsoft.com/office/drawing/2014/main" id="{F67EF89F-1A2A-422C-A6DB-3FE9060C0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23" name="Text Box 7">
              <a:extLst>
                <a:ext uri="{FF2B5EF4-FFF2-40B4-BE49-F238E27FC236}">
                  <a16:creationId xmlns:a16="http://schemas.microsoft.com/office/drawing/2014/main" id="{B386DFF9-88F9-4E4C-B25F-5978C8CA32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24" name="Text Box 8">
              <a:extLst>
                <a:ext uri="{FF2B5EF4-FFF2-40B4-BE49-F238E27FC236}">
                  <a16:creationId xmlns:a16="http://schemas.microsoft.com/office/drawing/2014/main" id="{5B3ABA88-854E-4EBE-A151-D115E96DA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constant or address</a:t>
              </a:r>
              <a:endParaRPr lang="en-AU" altLang="en-US" sz="2000"/>
            </a:p>
          </p:txBody>
        </p:sp>
        <p:sp>
          <p:nvSpPr>
            <p:cNvPr id="25" name="Text Box 9">
              <a:extLst>
                <a:ext uri="{FF2B5EF4-FFF2-40B4-BE49-F238E27FC236}">
                  <a16:creationId xmlns:a16="http://schemas.microsoft.com/office/drawing/2014/main" id="{C2277708-08DC-4972-94A4-F25241D77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32C24FFD-07AE-4E86-9CF4-0703C8E1A0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27" name="Text Box 11">
              <a:extLst>
                <a:ext uri="{FF2B5EF4-FFF2-40B4-BE49-F238E27FC236}">
                  <a16:creationId xmlns:a16="http://schemas.microsoft.com/office/drawing/2014/main" id="{D6E96B20-EA8A-4353-92D9-CE5CCFFF5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28" name="Text Box 12">
              <a:extLst>
                <a:ext uri="{FF2B5EF4-FFF2-40B4-BE49-F238E27FC236}">
                  <a16:creationId xmlns:a16="http://schemas.microsoft.com/office/drawing/2014/main" id="{4410A66F-9689-4F55-91A7-9634803D0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16 bits</a:t>
              </a:r>
              <a:endParaRPr lang="en-AU" alt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23730788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>
            <a:extLst>
              <a:ext uri="{FF2B5EF4-FFF2-40B4-BE49-F238E27FC236}">
                <a16:creationId xmlns:a16="http://schemas.microsoft.com/office/drawing/2014/main" id="{872966DB-38CE-41ED-AA1D-FDAA552AED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B522C522-2B73-437F-92EB-3713269FD8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AU" altLang="en-US" sz="1400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7A49DB1E-DB6F-4D70-9EB6-DA0D1E469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Conditional Operations</a:t>
            </a:r>
            <a:endParaRPr lang="en-AU" altLang="en-US"/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CF04350-C242-49F3-8DF1-8F98E4849B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0930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Branch to a labeled instruction if some condition is true; otherwise, continue sequentially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 err="1">
                <a:latin typeface="Lucida Console" panose="020B0609040504020204" pitchFamily="49" charset="0"/>
              </a:rPr>
              <a:t>beq</a:t>
            </a: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latin typeface="Lucida Console" panose="020B0609040504020204" pitchFamily="49" charset="0"/>
              </a:rPr>
              <a:t>rs</a:t>
            </a:r>
            <a:r>
              <a:rPr lang="en-US" altLang="en-US" dirty="0">
                <a:latin typeface="Lucida Console" panose="020B0609040504020204" pitchFamily="49" charset="0"/>
              </a:rPr>
              <a:t>, rt, L1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if (</a:t>
            </a:r>
            <a:r>
              <a:rPr lang="en-US" altLang="en-US" dirty="0" err="1"/>
              <a:t>rs</a:t>
            </a:r>
            <a:r>
              <a:rPr lang="en-US" altLang="en-US" dirty="0"/>
              <a:t> == rt) branch to instruction labeled L1;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err="1">
                <a:latin typeface="Lucida Console" panose="020B0609040504020204" pitchFamily="49" charset="0"/>
              </a:rPr>
              <a:t>bne</a:t>
            </a: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latin typeface="Lucida Console" panose="020B0609040504020204" pitchFamily="49" charset="0"/>
              </a:rPr>
              <a:t>rs</a:t>
            </a:r>
            <a:r>
              <a:rPr lang="en-US" altLang="en-US" dirty="0">
                <a:latin typeface="Lucida Console" panose="020B0609040504020204" pitchFamily="49" charset="0"/>
              </a:rPr>
              <a:t>, rt, L1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if (</a:t>
            </a:r>
            <a:r>
              <a:rPr lang="en-US" altLang="en-US" dirty="0" err="1"/>
              <a:t>rs</a:t>
            </a:r>
            <a:r>
              <a:rPr lang="en-US" altLang="en-US" dirty="0"/>
              <a:t> != rt) branch to instruction labeled L1;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Lucida Console" panose="020B0609040504020204" pitchFamily="49" charset="0"/>
              </a:rPr>
              <a:t>j L1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unconditional jump to instruction labeled L1</a:t>
            </a:r>
            <a:endParaRPr lang="en-AU" altLang="en-US" dirty="0"/>
          </a:p>
        </p:txBody>
      </p:sp>
      <p:sp>
        <p:nvSpPr>
          <p:cNvPr id="90117" name="Text Box 4">
            <a:extLst>
              <a:ext uri="{FF2B5EF4-FFF2-40B4-BE49-F238E27FC236}">
                <a16:creationId xmlns:a16="http://schemas.microsoft.com/office/drawing/2014/main" id="{ABDE1C97-8127-4046-B879-85B98A913B2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938169" y="1839119"/>
            <a:ext cx="4044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§2.7 Instructions for Making Decisions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3">
            <a:extLst>
              <a:ext uri="{FF2B5EF4-FFF2-40B4-BE49-F238E27FC236}">
                <a16:creationId xmlns:a16="http://schemas.microsoft.com/office/drawing/2014/main" id="{430CD1E5-29C5-44DD-A9AC-BFDFD8E5B8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C580D5A8-2772-4845-B105-BDFF9BAD7A6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AU" altLang="en-US" sz="1400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B9157BAA-0F6F-4CD4-B74C-79E681B64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Compiling If Statements</a:t>
            </a:r>
            <a:endParaRPr lang="en-AU" altLang="en-US"/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4D9058D7-BAFA-4C72-8B95-86768392A2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 code: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==j) f =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g+h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  <a:b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else f = g-h;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f, g, … in $s0, $s1,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Compiled MIPS code: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bne</a:t>
            </a:r>
            <a:r>
              <a:rPr lang="en-US" altLang="en-US" sz="2800" dirty="0">
                <a:latin typeface="Lucida Console" panose="020B0609040504020204" pitchFamily="49" charset="0"/>
              </a:rPr>
              <a:t> $s3, $s4, Else # </a:t>
            </a:r>
            <a:r>
              <a:rPr lang="en-US" altLang="en-US" sz="2800" dirty="0" err="1"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latin typeface="Lucida Console" panose="020B0609040504020204" pitchFamily="49" charset="0"/>
              </a:rPr>
              <a:t>=s3, j=s4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add $s0, $s1, $s2  # f = </a:t>
            </a:r>
            <a:r>
              <a:rPr lang="en-US" altLang="en-US" sz="2800" dirty="0" err="1">
                <a:latin typeface="Lucida Console" panose="020B0609040504020204" pitchFamily="49" charset="0"/>
              </a:rPr>
              <a:t>g+h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j   Exit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Else: sub $s0, $s1, $s2  # f = g-h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Exit: …</a:t>
            </a:r>
            <a:endParaRPr lang="en-AU" altLang="en-US" sz="2800" dirty="0">
              <a:latin typeface="Lucida Console" panose="020B0609040504020204" pitchFamily="49" charset="0"/>
            </a:endParaRPr>
          </a:p>
        </p:txBody>
      </p:sp>
      <p:sp>
        <p:nvSpPr>
          <p:cNvPr id="37893" name="AutoShape 5">
            <a:extLst>
              <a:ext uri="{FF2B5EF4-FFF2-40B4-BE49-F238E27FC236}">
                <a16:creationId xmlns:a16="http://schemas.microsoft.com/office/drawing/2014/main" id="{7A8FB09C-B6CB-46C8-B6CB-5A07971446AF}"/>
              </a:ext>
            </a:extLst>
          </p:cNvPr>
          <p:cNvSpPr>
            <a:spLocks/>
          </p:cNvSpPr>
          <p:nvPr/>
        </p:nvSpPr>
        <p:spPr bwMode="auto">
          <a:xfrm>
            <a:off x="3851275" y="5732463"/>
            <a:ext cx="3529013" cy="403225"/>
          </a:xfrm>
          <a:prstGeom prst="borderCallout1">
            <a:avLst>
              <a:gd name="adj1" fmla="val 28347"/>
              <a:gd name="adj2" fmla="val -2157"/>
              <a:gd name="adj3" fmla="val -89574"/>
              <a:gd name="adj4" fmla="val -6709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Assembler calculates addresses</a:t>
            </a:r>
          </a:p>
        </p:txBody>
      </p:sp>
      <p:pic>
        <p:nvPicPr>
          <p:cNvPr id="92166" name="Picture 6" descr="f02-09-P374493">
            <a:extLst>
              <a:ext uri="{FF2B5EF4-FFF2-40B4-BE49-F238E27FC236}">
                <a16:creationId xmlns:a16="http://schemas.microsoft.com/office/drawing/2014/main" id="{FF080D2B-CD67-47C1-A164-2D0C7488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484313"/>
            <a:ext cx="3468687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8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3">
            <a:extLst>
              <a:ext uri="{FF2B5EF4-FFF2-40B4-BE49-F238E27FC236}">
                <a16:creationId xmlns:a16="http://schemas.microsoft.com/office/drawing/2014/main" id="{3219F40D-C09D-4EAA-A085-621FC2609A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8610FBBB-5849-4BF2-B46A-189169DB89A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AU" altLang="en-US" sz="14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D5168924-65B2-4F08-843B-F1BAF3314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Compiling Loop Statements</a:t>
            </a:r>
            <a:endParaRPr lang="en-AU" altLang="en-US"/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CF347060-CF98-4A15-BF6D-E344CB8050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C code: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while (save[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] == k)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++;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Counting the number of “k” in array save[]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err="1"/>
              <a:t>i</a:t>
            </a:r>
            <a:r>
              <a:rPr lang="en-US" altLang="en-US" dirty="0"/>
              <a:t> = $s3, k = $s5, address of save = $s6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Compiled MIPS code: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Loop: </a:t>
            </a:r>
            <a:r>
              <a:rPr lang="en-US" altLang="en-US" sz="2800" dirty="0" err="1">
                <a:latin typeface="Lucida Console" panose="020B0609040504020204" pitchFamily="49" charset="0"/>
              </a:rPr>
              <a:t>sll</a:t>
            </a:r>
            <a:r>
              <a:rPr lang="en-US" altLang="en-US" sz="2800" dirty="0">
                <a:latin typeface="Lucida Console" panose="020B0609040504020204" pitchFamily="49" charset="0"/>
              </a:rPr>
              <a:t>  $t1, $s3, 2	# t1 </a:t>
            </a:r>
            <a:r>
              <a:rPr lang="en-AU" altLang="en-US" sz="2800" dirty="0">
                <a:latin typeface="Lucida Console" panose="020B0609040504020204" pitchFamily="49" charset="0"/>
              </a:rPr>
              <a:t>← </a:t>
            </a:r>
            <a:r>
              <a:rPr lang="en-US" altLang="en-US" sz="2800" dirty="0" err="1"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latin typeface="Lucida Console" panose="020B0609040504020204" pitchFamily="49" charset="0"/>
              </a:rPr>
              <a:t>*4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    add  $t1, $t1, $s6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lw</a:t>
            </a:r>
            <a:r>
              <a:rPr lang="en-US" altLang="en-US" sz="2800" dirty="0">
                <a:latin typeface="Lucida Console" panose="020B0609040504020204" pitchFamily="49" charset="0"/>
              </a:rPr>
              <a:t>   $t0, 0($t1)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bne</a:t>
            </a:r>
            <a:r>
              <a:rPr lang="en-US" altLang="en-US" sz="2800" dirty="0">
                <a:latin typeface="Lucida Console" panose="020B0609040504020204" pitchFamily="49" charset="0"/>
              </a:rPr>
              <a:t>  $t0, $s5, Exit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addi</a:t>
            </a:r>
            <a:r>
              <a:rPr lang="en-US" altLang="en-US" sz="2800" dirty="0">
                <a:latin typeface="Lucida Console" panose="020B0609040504020204" pitchFamily="49" charset="0"/>
              </a:rPr>
              <a:t> $s3, $s3, 1  # </a:t>
            </a:r>
            <a:r>
              <a:rPr lang="en-US" altLang="en-US" sz="2800" dirty="0" err="1"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latin typeface="Lucida Console" panose="020B0609040504020204" pitchFamily="49" charset="0"/>
              </a:rPr>
              <a:t> += 1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    j    Loop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Exit: …</a:t>
            </a:r>
            <a:endParaRPr lang="en-AU" altLang="en-US" sz="2800" dirty="0">
              <a:latin typeface="Lucida Console" panose="020B060904050402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3">
            <a:extLst>
              <a:ext uri="{FF2B5EF4-FFF2-40B4-BE49-F238E27FC236}">
                <a16:creationId xmlns:a16="http://schemas.microsoft.com/office/drawing/2014/main" id="{65828B7C-F9CF-410A-A3DF-1263E359A1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531DE28F-3730-43EB-B65A-FEE090AB7CE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AU" altLang="en-US" sz="14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4FA72084-3D58-4A31-93E5-B63741265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Blocks</a:t>
            </a:r>
            <a:endParaRPr lang="en-AU" altLang="en-US"/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ADB2FF7-8F9E-4F5F-B58A-DA10A9605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303462"/>
          </a:xfrm>
        </p:spPr>
        <p:txBody>
          <a:bodyPr/>
          <a:lstStyle/>
          <a:p>
            <a:pPr eaLnBrk="1" hangingPunct="1"/>
            <a:r>
              <a:rPr lang="en-US" altLang="en-US"/>
              <a:t>A </a:t>
            </a:r>
            <a:r>
              <a:rPr lang="en-US" altLang="en-US" i="1"/>
              <a:t>basic block</a:t>
            </a:r>
            <a:r>
              <a:rPr lang="en-US" altLang="en-US"/>
              <a:t> is a sequence of instructions with</a:t>
            </a:r>
          </a:p>
          <a:p>
            <a:pPr lvl="1" eaLnBrk="1" hangingPunct="1"/>
            <a:r>
              <a:rPr lang="en-US" altLang="en-US"/>
              <a:t>No embedded branches (except at end)</a:t>
            </a:r>
          </a:p>
          <a:p>
            <a:pPr lvl="1" eaLnBrk="1" hangingPunct="1"/>
            <a:r>
              <a:rPr lang="en-US" altLang="en-US"/>
              <a:t>No branch targets (except at beginning)</a:t>
            </a:r>
            <a:endParaRPr lang="en-AU" altLang="en-US"/>
          </a:p>
        </p:txBody>
      </p:sp>
      <p:grpSp>
        <p:nvGrpSpPr>
          <p:cNvPr id="96261" name="Group 4">
            <a:extLst>
              <a:ext uri="{FF2B5EF4-FFF2-40B4-BE49-F238E27FC236}">
                <a16:creationId xmlns:a16="http://schemas.microsoft.com/office/drawing/2014/main" id="{38D7E5B0-8A2B-4A78-BD53-8B36774890E4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573463"/>
            <a:ext cx="3311525" cy="2592387"/>
            <a:chOff x="1429" y="2296"/>
            <a:chExt cx="2086" cy="1633"/>
          </a:xfrm>
        </p:grpSpPr>
        <p:sp>
          <p:nvSpPr>
            <p:cNvPr id="96263" name="Rectangle 5">
              <a:extLst>
                <a:ext uri="{FF2B5EF4-FFF2-40B4-BE49-F238E27FC236}">
                  <a16:creationId xmlns:a16="http://schemas.microsoft.com/office/drawing/2014/main" id="{B37DC46D-B6CD-44C4-B532-C343E14AC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614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6264" name="Rectangle 6">
              <a:extLst>
                <a:ext uri="{FF2B5EF4-FFF2-40B4-BE49-F238E27FC236}">
                  <a16:creationId xmlns:a16="http://schemas.microsoft.com/office/drawing/2014/main" id="{E760BF7E-1EE1-4DF5-958C-E41E62DE5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750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6265" name="Rectangle 7">
              <a:extLst>
                <a:ext uri="{FF2B5EF4-FFF2-40B4-BE49-F238E27FC236}">
                  <a16:creationId xmlns:a16="http://schemas.microsoft.com/office/drawing/2014/main" id="{9A76354B-E9FF-44A6-851E-027853F66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886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6266" name="Rectangle 8">
              <a:extLst>
                <a:ext uri="{FF2B5EF4-FFF2-40B4-BE49-F238E27FC236}">
                  <a16:creationId xmlns:a16="http://schemas.microsoft.com/office/drawing/2014/main" id="{848BA91C-93D0-45CF-8FA4-DDD6128CD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022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6267" name="Rectangle 9">
              <a:extLst>
                <a:ext uri="{FF2B5EF4-FFF2-40B4-BE49-F238E27FC236}">
                  <a16:creationId xmlns:a16="http://schemas.microsoft.com/office/drawing/2014/main" id="{5B3026AC-4863-40F6-9A65-67AFF7AE9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158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6268" name="Rectangle 10">
              <a:extLst>
                <a:ext uri="{FF2B5EF4-FFF2-40B4-BE49-F238E27FC236}">
                  <a16:creationId xmlns:a16="http://schemas.microsoft.com/office/drawing/2014/main" id="{6121B287-7FD2-4DF5-95BA-186773101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294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6269" name="Rectangle 11">
              <a:extLst>
                <a:ext uri="{FF2B5EF4-FFF2-40B4-BE49-F238E27FC236}">
                  <a16:creationId xmlns:a16="http://schemas.microsoft.com/office/drawing/2014/main" id="{8C789363-DB25-4564-88DD-F4E23F241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430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6270" name="Line 12">
              <a:extLst>
                <a:ext uri="{FF2B5EF4-FFF2-40B4-BE49-F238E27FC236}">
                  <a16:creationId xmlns:a16="http://schemas.microsoft.com/office/drawing/2014/main" id="{C1C57A79-8962-4600-980B-7EDA758A4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296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1" name="Line 13">
              <a:extLst>
                <a:ext uri="{FF2B5EF4-FFF2-40B4-BE49-F238E27FC236}">
                  <a16:creationId xmlns:a16="http://schemas.microsoft.com/office/drawing/2014/main" id="{566DB069-322E-418E-947C-58372AAB4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614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2" name="Line 14">
              <a:extLst>
                <a:ext uri="{FF2B5EF4-FFF2-40B4-BE49-F238E27FC236}">
                  <a16:creationId xmlns:a16="http://schemas.microsoft.com/office/drawing/2014/main" id="{85A6B96D-AB69-4E33-973D-CFD8F736C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3521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3" name="Line 15">
              <a:extLst>
                <a:ext uri="{FF2B5EF4-FFF2-40B4-BE49-F238E27FC236}">
                  <a16:creationId xmlns:a16="http://schemas.microsoft.com/office/drawing/2014/main" id="{233447C5-C3C8-4C66-9DE5-85980E581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3521"/>
              <a:ext cx="10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4" name="Line 16">
              <a:extLst>
                <a:ext uri="{FF2B5EF4-FFF2-40B4-BE49-F238E27FC236}">
                  <a16:creationId xmlns:a16="http://schemas.microsoft.com/office/drawing/2014/main" id="{1287AD5B-8770-4DFC-8431-55B043235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2659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5" name="Rectangle 17">
              <a:extLst>
                <a:ext uri="{FF2B5EF4-FFF2-40B4-BE49-F238E27FC236}">
                  <a16:creationId xmlns:a16="http://schemas.microsoft.com/office/drawing/2014/main" id="{29DF139B-2A5C-486E-B9C3-1DC4DFB8A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478"/>
              <a:ext cx="127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6276" name="Rectangle 18">
              <a:extLst>
                <a:ext uri="{FF2B5EF4-FFF2-40B4-BE49-F238E27FC236}">
                  <a16:creationId xmlns:a16="http://schemas.microsoft.com/office/drawing/2014/main" id="{C1BE18F6-7B07-45AA-9181-35A9AB36D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341"/>
              <a:ext cx="127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6277" name="Rectangle 19">
              <a:extLst>
                <a:ext uri="{FF2B5EF4-FFF2-40B4-BE49-F238E27FC236}">
                  <a16:creationId xmlns:a16="http://schemas.microsoft.com/office/drawing/2014/main" id="{40122D7A-C9EC-4A27-B320-5E39A4072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566"/>
              <a:ext cx="127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6278" name="Rectangle 20">
              <a:extLst>
                <a:ext uri="{FF2B5EF4-FFF2-40B4-BE49-F238E27FC236}">
                  <a16:creationId xmlns:a16="http://schemas.microsoft.com/office/drawing/2014/main" id="{E220ECCD-3776-4211-86CC-DF77C9E95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702"/>
              <a:ext cx="127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96262" name="Rectangle 21">
            <a:extLst>
              <a:ext uri="{FF2B5EF4-FFF2-40B4-BE49-F238E27FC236}">
                <a16:creationId xmlns:a16="http://schemas.microsoft.com/office/drawing/2014/main" id="{C7223D66-AA66-4F89-8379-D825D8C76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3716338"/>
            <a:ext cx="4670425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/>
              <a:t>A compiler identifies basic blocks for optimization</a:t>
            </a:r>
          </a:p>
          <a:p>
            <a:pPr eaLnBrk="1" hangingPunct="1"/>
            <a:r>
              <a:rPr lang="en-US" altLang="en-US" sz="2800"/>
              <a:t>An advanced processor can accelerate execution of basic blocks</a:t>
            </a: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>
            <a:extLst>
              <a:ext uri="{FF2B5EF4-FFF2-40B4-BE49-F238E27FC236}">
                <a16:creationId xmlns:a16="http://schemas.microsoft.com/office/drawing/2014/main" id="{9297C038-2780-4B82-90B8-DF6C3EA53B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B30ED0B9-0E69-4B6A-AA50-AB068670A43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AU" altLang="en-US" sz="140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F9DC729B-25CD-4154-B609-F16FFCC25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More Conditional Operations</a:t>
            </a:r>
            <a:endParaRPr lang="en-AU" altLang="en-US"/>
          </a:p>
        </p:txBody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226B8F88-B00A-49F6-9BC7-C4B609154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Set a register to 1 if a condition is true; otherwise, set to 0</a:t>
            </a:r>
          </a:p>
          <a:p>
            <a:pPr eaLnBrk="1" hangingPunct="1"/>
            <a:r>
              <a:rPr lang="en-US" altLang="en-US" dirty="0" err="1">
                <a:latin typeface="Lucida Console" panose="020B0609040504020204" pitchFamily="49" charset="0"/>
              </a:rPr>
              <a:t>slt</a:t>
            </a: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latin typeface="Lucida Console" panose="020B0609040504020204" pitchFamily="49" charset="0"/>
              </a:rPr>
              <a:t>rd</a:t>
            </a:r>
            <a:r>
              <a:rPr lang="en-US" altLang="en-US" dirty="0">
                <a:latin typeface="Lucida Console" panose="020B0609040504020204" pitchFamily="49" charset="0"/>
              </a:rPr>
              <a:t>, </a:t>
            </a:r>
            <a:r>
              <a:rPr lang="en-US" altLang="en-US" dirty="0" err="1">
                <a:latin typeface="Lucida Console" panose="020B0609040504020204" pitchFamily="49" charset="0"/>
              </a:rPr>
              <a:t>rs</a:t>
            </a:r>
            <a:r>
              <a:rPr lang="en-US" altLang="en-US" dirty="0">
                <a:latin typeface="Lucida Console" panose="020B0609040504020204" pitchFamily="49" charset="0"/>
              </a:rPr>
              <a:t>, rt</a:t>
            </a:r>
          </a:p>
          <a:p>
            <a:pPr lvl="1" eaLnBrk="1" hangingPunct="1"/>
            <a:r>
              <a:rPr lang="en-US" altLang="en-US" dirty="0"/>
              <a:t>if (</a:t>
            </a:r>
            <a:r>
              <a:rPr lang="en-US" altLang="en-US" dirty="0" err="1"/>
              <a:t>rs</a:t>
            </a:r>
            <a:r>
              <a:rPr lang="en-US" altLang="en-US" dirty="0"/>
              <a:t> &lt; rt)  </a:t>
            </a:r>
            <a:r>
              <a:rPr lang="en-US" altLang="en-US" dirty="0" err="1"/>
              <a:t>rd</a:t>
            </a:r>
            <a:r>
              <a:rPr lang="en-US" altLang="en-US" dirty="0"/>
              <a:t> = 1; else </a:t>
            </a:r>
            <a:r>
              <a:rPr lang="en-US" altLang="en-US" dirty="0" err="1"/>
              <a:t>rd</a:t>
            </a:r>
            <a:r>
              <a:rPr lang="en-US" altLang="en-US" dirty="0"/>
              <a:t> = 0;</a:t>
            </a:r>
          </a:p>
          <a:p>
            <a:pPr eaLnBrk="1" hangingPunct="1"/>
            <a:r>
              <a:rPr lang="en-US" altLang="en-US" dirty="0" err="1">
                <a:latin typeface="Lucida Console" panose="020B0609040504020204" pitchFamily="49" charset="0"/>
              </a:rPr>
              <a:t>slti</a:t>
            </a:r>
            <a:r>
              <a:rPr lang="en-US" altLang="en-US" dirty="0">
                <a:latin typeface="Lucida Console" panose="020B0609040504020204" pitchFamily="49" charset="0"/>
              </a:rPr>
              <a:t> rt, </a:t>
            </a:r>
            <a:r>
              <a:rPr lang="en-US" altLang="en-US" dirty="0" err="1">
                <a:latin typeface="Lucida Console" panose="020B0609040504020204" pitchFamily="49" charset="0"/>
              </a:rPr>
              <a:t>rs</a:t>
            </a:r>
            <a:r>
              <a:rPr lang="en-US" altLang="en-US" dirty="0">
                <a:latin typeface="Lucida Console" panose="020B0609040504020204" pitchFamily="49" charset="0"/>
              </a:rPr>
              <a:t>, const</a:t>
            </a:r>
          </a:p>
          <a:p>
            <a:pPr lvl="1" eaLnBrk="1" hangingPunct="1"/>
            <a:r>
              <a:rPr lang="en-US" altLang="en-US" dirty="0"/>
              <a:t>if (</a:t>
            </a:r>
            <a:r>
              <a:rPr lang="en-US" altLang="en-US" dirty="0" err="1"/>
              <a:t>rs</a:t>
            </a:r>
            <a:r>
              <a:rPr lang="en-US" altLang="en-US" dirty="0"/>
              <a:t> &lt; const)  rt = 1; else rt = 0;</a:t>
            </a:r>
          </a:p>
          <a:p>
            <a:pPr eaLnBrk="1" hangingPunct="1"/>
            <a:r>
              <a:rPr lang="en-US" altLang="en-US" dirty="0"/>
              <a:t>Use in combination with </a:t>
            </a:r>
            <a:r>
              <a:rPr lang="en-US" altLang="en-US" dirty="0" err="1">
                <a:latin typeface="Lucida Console" panose="020B0609040504020204" pitchFamily="49" charset="0"/>
              </a:rPr>
              <a:t>beq</a:t>
            </a:r>
            <a:r>
              <a:rPr lang="en-US" altLang="en-US" dirty="0"/>
              <a:t>, </a:t>
            </a:r>
            <a:r>
              <a:rPr lang="en-US" altLang="en-US" dirty="0" err="1">
                <a:latin typeface="Lucida Console" panose="020B0609040504020204" pitchFamily="49" charset="0"/>
              </a:rPr>
              <a:t>bne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</a:t>
            </a:r>
            <a:r>
              <a:rPr lang="en-US" altLang="en-US" sz="2400" dirty="0" err="1">
                <a:latin typeface="Lucida Console" panose="020B0609040504020204" pitchFamily="49" charset="0"/>
              </a:rPr>
              <a:t>slt</a:t>
            </a:r>
            <a:r>
              <a:rPr lang="en-US" altLang="en-US" sz="2400" dirty="0">
                <a:latin typeface="Lucida Console" panose="020B0609040504020204" pitchFamily="49" charset="0"/>
              </a:rPr>
              <a:t> $t0, $s1, $s2  # </a:t>
            </a:r>
            <a:r>
              <a:rPr lang="en-US" altLang="en-US" sz="2400" dirty="0">
                <a:solidFill>
                  <a:srgbClr val="C00000"/>
                </a:solidFill>
                <a:latin typeface="Lucida Console" panose="020B0609040504020204" pitchFamily="49" charset="0"/>
              </a:rPr>
              <a:t>if ($s1 &lt; $s2)</a:t>
            </a:r>
            <a:br>
              <a:rPr lang="en-US" altLang="en-US" sz="2400" dirty="0">
                <a:solidFill>
                  <a:srgbClr val="C00000"/>
                </a:solidFill>
                <a:latin typeface="Lucida Console" panose="020B0609040504020204" pitchFamily="49" charset="0"/>
              </a:rPr>
            </a:br>
            <a:r>
              <a:rPr lang="en-US" altLang="en-US" sz="2400" dirty="0" err="1">
                <a:latin typeface="Lucida Console" panose="020B0609040504020204" pitchFamily="49" charset="0"/>
              </a:rPr>
              <a:t>bne</a:t>
            </a:r>
            <a:r>
              <a:rPr lang="en-US" altLang="en-US" sz="2400" dirty="0">
                <a:latin typeface="Lucida Console" panose="020B0609040504020204" pitchFamily="49" charset="0"/>
              </a:rPr>
              <a:t> $t0, $zero, L  #   </a:t>
            </a:r>
            <a:r>
              <a:rPr lang="en-US" altLang="en-US" sz="2400" dirty="0">
                <a:solidFill>
                  <a:srgbClr val="C00000"/>
                </a:solidFill>
                <a:latin typeface="Lucida Console" panose="020B0609040504020204" pitchFamily="49" charset="0"/>
              </a:rPr>
              <a:t>branch to 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3">
            <a:extLst>
              <a:ext uri="{FF2B5EF4-FFF2-40B4-BE49-F238E27FC236}">
                <a16:creationId xmlns:a16="http://schemas.microsoft.com/office/drawing/2014/main" id="{15DA48E9-B45B-4A51-86A2-5831F5A1BE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87F5B11B-4388-4C87-9282-CB2C1B7AD94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AU" altLang="en-US" sz="1400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EE7DBD07-CD9A-4581-9B05-F66EEF084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Branch Instruction Design</a:t>
            </a:r>
            <a:endParaRPr lang="en-AU" altLang="en-US"/>
          </a:p>
        </p:txBody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4253805F-6332-4D4E-BDCF-3472E28815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135937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Why not </a:t>
            </a:r>
            <a:r>
              <a:rPr lang="en-US" altLang="en-US" dirty="0" err="1">
                <a:latin typeface="Lucida Console" panose="020B0609040504020204" pitchFamily="49" charset="0"/>
              </a:rPr>
              <a:t>blt</a:t>
            </a:r>
            <a:r>
              <a:rPr lang="en-US" altLang="en-US" dirty="0"/>
              <a:t>, </a:t>
            </a:r>
            <a:r>
              <a:rPr lang="en-US" altLang="en-US" dirty="0" err="1">
                <a:latin typeface="Lucida Console" panose="020B0609040504020204" pitchFamily="49" charset="0"/>
              </a:rPr>
              <a:t>bge</a:t>
            </a:r>
            <a:r>
              <a:rPr lang="en-US" altLang="en-US" dirty="0"/>
              <a:t>, </a:t>
            </a:r>
            <a:r>
              <a:rPr lang="en-US" altLang="en-US" dirty="0" err="1"/>
              <a:t>etc</a:t>
            </a:r>
            <a:r>
              <a:rPr lang="en-US" altLang="en-US" dirty="0"/>
              <a:t>?</a:t>
            </a:r>
          </a:p>
          <a:p>
            <a:pPr eaLnBrk="1" hangingPunct="1"/>
            <a:r>
              <a:rPr lang="en-US" altLang="en-US" dirty="0">
                <a:highlight>
                  <a:srgbClr val="FFFF00"/>
                </a:highlight>
              </a:rPr>
              <a:t>Hardware for &lt;, ≥, … slower than =, ≠</a:t>
            </a:r>
          </a:p>
          <a:p>
            <a:pPr lvl="1" eaLnBrk="1" hangingPunct="1"/>
            <a:r>
              <a:rPr lang="en-US" altLang="en-US" dirty="0"/>
              <a:t>&lt;, ≥ combining with branch involves more work per instruction, requiring a slower clock</a:t>
            </a:r>
          </a:p>
          <a:p>
            <a:pPr lvl="1" eaLnBrk="1" hangingPunct="1"/>
            <a:r>
              <a:rPr lang="en-US" altLang="en-US" dirty="0"/>
              <a:t>All instructions penalized (since clock is used by all instructions)</a:t>
            </a:r>
          </a:p>
          <a:p>
            <a:pPr eaLnBrk="1" hangingPunct="1"/>
            <a:r>
              <a:rPr lang="en-US" altLang="en-US" dirty="0" err="1">
                <a:highlight>
                  <a:srgbClr val="FFFF00"/>
                </a:highlight>
                <a:latin typeface="Lucida Console" panose="020B0609040504020204" pitchFamily="49" charset="0"/>
              </a:rPr>
              <a:t>beq</a:t>
            </a:r>
            <a:r>
              <a:rPr lang="en-US" altLang="en-US" dirty="0">
                <a:highlight>
                  <a:srgbClr val="FFFF00"/>
                </a:highlight>
              </a:rPr>
              <a:t> and </a:t>
            </a:r>
            <a:r>
              <a:rPr lang="en-US" altLang="en-US" dirty="0" err="1">
                <a:highlight>
                  <a:srgbClr val="FFFF00"/>
                </a:highlight>
                <a:latin typeface="Lucida Console" panose="020B0609040504020204" pitchFamily="49" charset="0"/>
              </a:rPr>
              <a:t>bne</a:t>
            </a:r>
            <a:r>
              <a:rPr lang="en-US" altLang="en-US" dirty="0">
                <a:highlight>
                  <a:srgbClr val="FFFF00"/>
                </a:highlight>
              </a:rPr>
              <a:t> are the common case</a:t>
            </a:r>
          </a:p>
          <a:p>
            <a:pPr lvl="1" eaLnBrk="1" hangingPunct="1"/>
            <a:r>
              <a:rPr lang="en-US" altLang="en-US" dirty="0"/>
              <a:t>=, ≠ combining with branch happen to result in a quicker hardware</a:t>
            </a:r>
          </a:p>
          <a:p>
            <a:pPr eaLnBrk="1" hangingPunct="1"/>
            <a:r>
              <a:rPr lang="en-US" altLang="en-US" dirty="0"/>
              <a:t>A good example of design compromise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>
            <a:extLst>
              <a:ext uri="{FF2B5EF4-FFF2-40B4-BE49-F238E27FC236}">
                <a16:creationId xmlns:a16="http://schemas.microsoft.com/office/drawing/2014/main" id="{2DAC951F-0BC4-4882-8B82-3C411E72E3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57DEE0FE-93E3-42F7-BE9D-9498FFBE6E2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AU" altLang="en-US" sz="1400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E7241DBA-AB3F-45EF-8809-C88288B61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Signed vs. Unsigned</a:t>
            </a:r>
          </a:p>
        </p:txBody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9ACC3753-0AC8-4406-97EA-BB63F98CA3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135937" cy="5111750"/>
          </a:xfrm>
        </p:spPr>
        <p:txBody>
          <a:bodyPr/>
          <a:lstStyle/>
          <a:p>
            <a:pPr eaLnBrk="1" hangingPunct="1"/>
            <a:r>
              <a:rPr lang="en-AU" altLang="en-US" dirty="0" err="1">
                <a:latin typeface="Lucida Console" panose="020B0609040504020204" pitchFamily="49" charset="0"/>
              </a:rPr>
              <a:t>slt</a:t>
            </a:r>
            <a:r>
              <a:rPr lang="en-AU" altLang="en-US" dirty="0"/>
              <a:t>, </a:t>
            </a:r>
            <a:r>
              <a:rPr lang="en-AU" altLang="en-US" dirty="0" err="1">
                <a:latin typeface="Lucida Console" panose="020B0609040504020204" pitchFamily="49" charset="0"/>
              </a:rPr>
              <a:t>slti</a:t>
            </a:r>
            <a:r>
              <a:rPr lang="en-AU" altLang="en-US" dirty="0"/>
              <a:t> are </a:t>
            </a:r>
            <a:r>
              <a:rPr lang="en-AU" altLang="en-US" i="1" dirty="0">
                <a:solidFill>
                  <a:srgbClr val="C00000"/>
                </a:solidFill>
              </a:rPr>
              <a:t>signed</a:t>
            </a:r>
            <a:r>
              <a:rPr lang="en-AU" altLang="en-US" dirty="0"/>
              <a:t> comparison </a:t>
            </a:r>
            <a:endParaRPr lang="en-AU" altLang="en-US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AU" altLang="en-US" dirty="0"/>
              <a:t>Unsigned comparison: </a:t>
            </a:r>
            <a:r>
              <a:rPr lang="en-AU" altLang="en-US" dirty="0" err="1">
                <a:latin typeface="Lucida Console" panose="020B0609040504020204" pitchFamily="49" charset="0"/>
              </a:rPr>
              <a:t>sltu</a:t>
            </a:r>
            <a:r>
              <a:rPr lang="en-AU" altLang="en-US" dirty="0"/>
              <a:t>, </a:t>
            </a:r>
            <a:r>
              <a:rPr lang="en-AU" altLang="en-US" dirty="0" err="1">
                <a:latin typeface="Lucida Console" panose="020B0609040504020204" pitchFamily="49" charset="0"/>
              </a:rPr>
              <a:t>sltui</a:t>
            </a:r>
            <a:endParaRPr lang="en-AU" altLang="en-US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AU" altLang="en-US" dirty="0"/>
              <a:t>Example</a:t>
            </a:r>
          </a:p>
          <a:p>
            <a:pPr lvl="1" eaLnBrk="1" hangingPunct="1"/>
            <a:r>
              <a:rPr lang="en-AU" altLang="en-US" dirty="0"/>
              <a:t>$s0 = </a:t>
            </a:r>
            <a:r>
              <a:rPr lang="en-AU" altLang="en-US" sz="2400" dirty="0"/>
              <a:t>1111 1111 1111 1111 1111 1111 1111 1111</a:t>
            </a:r>
          </a:p>
          <a:p>
            <a:pPr lvl="1" eaLnBrk="1" hangingPunct="1"/>
            <a:r>
              <a:rPr lang="en-AU" altLang="en-US" dirty="0"/>
              <a:t>$s1 = </a:t>
            </a:r>
            <a:r>
              <a:rPr lang="en-AU" altLang="en-US" sz="2400" dirty="0"/>
              <a:t>0000 0000 0000 0000 0000 0000 0000 0001</a:t>
            </a:r>
          </a:p>
          <a:p>
            <a:pPr lvl="1" eaLnBrk="1" hangingPunct="1"/>
            <a:r>
              <a:rPr lang="en-AU" altLang="en-US" dirty="0" err="1">
                <a:latin typeface="Lucida Console" panose="020B0609040504020204" pitchFamily="49" charset="0"/>
              </a:rPr>
              <a:t>slt</a:t>
            </a:r>
            <a:r>
              <a:rPr lang="en-AU" altLang="en-US" dirty="0">
                <a:latin typeface="Lucida Console" panose="020B0609040504020204" pitchFamily="49" charset="0"/>
              </a:rPr>
              <a:t>  $t0, $s0, $s1  # signed</a:t>
            </a:r>
          </a:p>
          <a:p>
            <a:pPr lvl="2" eaLnBrk="1" hangingPunct="1"/>
            <a:r>
              <a:rPr lang="en-AU" altLang="en-US" dirty="0">
                <a:cs typeface="Arial" panose="020B0604020202020204" pitchFamily="34" charset="0"/>
              </a:rPr>
              <a:t>–1 &lt; +1                      </a:t>
            </a:r>
            <a:r>
              <a:rPr lang="en-AU" altLang="en-US" dirty="0">
                <a:cs typeface="Arial" panose="020B0604020202020204" pitchFamily="34" charset="0"/>
                <a:sym typeface="Symbol" panose="05050102010706020507" pitchFamily="18" charset="2"/>
              </a:rPr>
              <a:t>     $t0 = 1</a:t>
            </a:r>
          </a:p>
          <a:p>
            <a:pPr lvl="1" eaLnBrk="1" hangingPunct="1"/>
            <a:r>
              <a:rPr lang="en-AU" altLang="en-US" dirty="0" err="1">
                <a:latin typeface="Lucida Console" panose="020B0609040504020204" pitchFamily="49" charset="0"/>
                <a:cs typeface="Arial" panose="020B0604020202020204" pitchFamily="34" charset="0"/>
                <a:sym typeface="Symbol" panose="05050102010706020507" pitchFamily="18" charset="2"/>
              </a:rPr>
              <a:t>sltu</a:t>
            </a:r>
            <a:r>
              <a:rPr lang="en-AU" altLang="en-US" dirty="0">
                <a:latin typeface="Lucida Console" panose="020B0609040504020204" pitchFamily="49" charset="0"/>
                <a:cs typeface="Arial" panose="020B0604020202020204" pitchFamily="34" charset="0"/>
                <a:sym typeface="Symbol" panose="05050102010706020507" pitchFamily="18" charset="2"/>
              </a:rPr>
              <a:t> $t0, $s0, $s1  # unsigned</a:t>
            </a:r>
          </a:p>
          <a:p>
            <a:pPr lvl="2" eaLnBrk="1" hangingPunct="1"/>
            <a:r>
              <a:rPr lang="en-US" altLang="en-US" dirty="0"/>
              <a:t>+4,294,967,295 &gt; +1 </a:t>
            </a:r>
            <a:r>
              <a:rPr lang="en-AU" altLang="en-US" dirty="0">
                <a:cs typeface="Arial" panose="020B0604020202020204" pitchFamily="34" charset="0"/>
                <a:sym typeface="Symbol" panose="05050102010706020507" pitchFamily="18" charset="2"/>
              </a:rPr>
              <a:t>     $t0 = 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DD5ED6-9263-400E-B0D0-1647B4E752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4C612C60-80E3-4F2F-AC52-3B3DEC4F26C6}" type="slidenum">
              <a:rPr lang="en-AU" altLang="en-US" smtClean="0"/>
              <a:pPr>
                <a:defRPr/>
              </a:pPr>
              <a:t>53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5400572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3">
            <a:extLst>
              <a:ext uri="{FF2B5EF4-FFF2-40B4-BE49-F238E27FC236}">
                <a16:creationId xmlns:a16="http://schemas.microsoft.com/office/drawing/2014/main" id="{D9FC21AD-27E6-4AD0-95A8-210178AFE0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 dirty="0"/>
              <a:t>Chapter 2 — Instructions: Language of the Computer — </a:t>
            </a:r>
            <a:fld id="{60B6A71B-04CF-498E-8FAB-76DBCA05860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AU" altLang="en-US" sz="1400" dirty="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6E7C8D6B-868C-4D8E-8F2E-9E71CAEFC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Procedure (Method) Calling</a:t>
            </a:r>
            <a:endParaRPr lang="en-AU" altLang="en-US"/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5FA0044A-5804-4B3D-8C4C-DF33A02D8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defRPr/>
            </a:pPr>
            <a:r>
              <a:rPr lang="en-US" altLang="en-US" dirty="0" err="1"/>
              <a:t>proc</a:t>
            </a:r>
            <a:r>
              <a:rPr lang="en-US" altLang="en-US" dirty="0"/>
              <a:t>(x, y, z);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   ……</a:t>
            </a:r>
          </a:p>
          <a:p>
            <a:pPr marL="609600" indent="-609600" eaLnBrk="1" hangingPunct="1">
              <a:defRPr/>
            </a:pPr>
            <a:r>
              <a:rPr lang="en-US" altLang="en-US" dirty="0"/>
              <a:t>Steps happening:</a:t>
            </a: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altLang="en-US" dirty="0"/>
              <a:t>Place parameters (x, y, z) in registers</a:t>
            </a: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altLang="en-US" dirty="0"/>
              <a:t>Transfer control to procedure (or method)</a:t>
            </a: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altLang="en-US" dirty="0"/>
              <a:t>Acquire storage for procedure</a:t>
            </a: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altLang="en-US" dirty="0"/>
              <a:t>Perform procedure’s operations</a:t>
            </a: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altLang="en-US" dirty="0"/>
              <a:t>Place result in register for caller</a:t>
            </a: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altLang="en-US" dirty="0"/>
              <a:t>Return to place of call</a:t>
            </a:r>
          </a:p>
        </p:txBody>
      </p:sp>
      <p:sp>
        <p:nvSpPr>
          <p:cNvPr id="104453" name="Text Box 4">
            <a:extLst>
              <a:ext uri="{FF2B5EF4-FFF2-40B4-BE49-F238E27FC236}">
                <a16:creationId xmlns:a16="http://schemas.microsoft.com/office/drawing/2014/main" id="{79F2E804-8ACB-48DB-9C31-6A3D76FF3A0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265069" y="2512219"/>
            <a:ext cx="5391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§2.8 Supporting Procedures in Computer Hardware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ooter Placeholder 3">
            <a:extLst>
              <a:ext uri="{FF2B5EF4-FFF2-40B4-BE49-F238E27FC236}">
                <a16:creationId xmlns:a16="http://schemas.microsoft.com/office/drawing/2014/main" id="{2C46BCD1-85AF-4A97-8A41-32C31C7E34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E3FFDFE8-E890-4D08-ADAE-4941B091B02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AU" altLang="en-US" sz="1400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0998C6AF-CA54-4710-A433-28621C4EBD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Register Usage</a:t>
            </a:r>
            <a:endParaRPr lang="en-AU" altLang="en-US"/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EA1D313-099E-43DE-B953-0DCC5ECED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$a0 – $a3: arguments (reg’s 4 – 7)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$v0, $v1: result values (reg’s 2 and 3)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$t0 – $t9: temporaries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Can be overwritten by callee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$s0 – $s7: saved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Must be saved/restored by callee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$gp: global pointer for static data (reg 28)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$sp: stack pointer (reg 29) – top of stack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$fp: frame pointer (reg 30) – bottom of stack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$ra: return address (reg 31)</a:t>
            </a: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>
            <a:extLst>
              <a:ext uri="{FF2B5EF4-FFF2-40B4-BE49-F238E27FC236}">
                <a16:creationId xmlns:a16="http://schemas.microsoft.com/office/drawing/2014/main" id="{2D61FA1F-8621-47F2-A4B3-AF2FEFCC81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E748E885-CB4A-4725-9E7B-19B3B59F8EC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AU" altLang="en-US" sz="140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0B2AC3D0-30DC-4016-94C5-EFB552120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Procedure Call Instructions</a:t>
            </a:r>
            <a:endParaRPr lang="en-AU" altLang="en-US"/>
          </a:p>
        </p:txBody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EDDD00F-DF34-4823-B18C-05044B7B3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5163" y="1125538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 call: </a:t>
            </a:r>
            <a:r>
              <a:rPr lang="en-US" altLang="en-US" dirty="0" err="1"/>
              <a:t>jal</a:t>
            </a:r>
            <a:r>
              <a:rPr lang="en-US" altLang="en-US" dirty="0"/>
              <a:t> (“jump and link”)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</a:t>
            </a:r>
            <a:r>
              <a:rPr lang="en-US" altLang="en-US" sz="2800" dirty="0" err="1">
                <a:latin typeface="Lucida Console" panose="020B0609040504020204" pitchFamily="49" charset="0"/>
              </a:rPr>
              <a:t>jal</a:t>
            </a:r>
            <a:r>
              <a:rPr lang="en-US" altLang="en-US" sz="2800" dirty="0">
                <a:latin typeface="Lucida Console" panose="020B0609040504020204" pitchFamily="49" charset="0"/>
              </a:rPr>
              <a:t> L    # L </a:t>
            </a:r>
            <a:r>
              <a:rPr lang="en-US" altLang="en-US" sz="2800" dirty="0"/>
              <a:t>– </a:t>
            </a:r>
            <a:r>
              <a:rPr lang="en-US" altLang="en-US" sz="2800" dirty="0">
                <a:latin typeface="Lucida Console" panose="020B0609040504020204" pitchFamily="49" charset="0"/>
              </a:rPr>
              <a:t>Procedure Label</a:t>
            </a:r>
          </a:p>
          <a:p>
            <a:pPr lvl="1" eaLnBrk="1" hangingPunct="1"/>
            <a:r>
              <a:rPr lang="en-US" altLang="en-US" dirty="0"/>
              <a:t>Address of the next instruction put in $ra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(automatic, by hardware)</a:t>
            </a:r>
          </a:p>
          <a:p>
            <a:pPr lvl="1" eaLnBrk="1" hangingPunct="1"/>
            <a:r>
              <a:rPr lang="en-US" altLang="en-US" dirty="0"/>
              <a:t>Jumps to target address</a:t>
            </a:r>
          </a:p>
          <a:p>
            <a:pPr eaLnBrk="1" hangingPunct="1"/>
            <a:r>
              <a:rPr lang="en-US" altLang="en-US" dirty="0"/>
              <a:t>Procedure return: </a:t>
            </a:r>
            <a:r>
              <a:rPr lang="en-US" altLang="en-US" dirty="0" err="1"/>
              <a:t>jr</a:t>
            </a:r>
            <a:r>
              <a:rPr lang="en-US" altLang="en-US" dirty="0"/>
              <a:t> (“jump register”)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</a:t>
            </a:r>
            <a:r>
              <a:rPr lang="en-US" altLang="en-US" sz="2800" dirty="0" err="1">
                <a:latin typeface="Lucida Console" panose="020B0609040504020204" pitchFamily="49" charset="0"/>
              </a:rPr>
              <a:t>jr</a:t>
            </a:r>
            <a:r>
              <a:rPr lang="en-US" altLang="en-US" sz="2800" dirty="0">
                <a:latin typeface="Lucida Console" panose="020B0609040504020204" pitchFamily="49" charset="0"/>
              </a:rPr>
              <a:t> $ra   # register 31</a:t>
            </a:r>
          </a:p>
          <a:p>
            <a:pPr lvl="1" eaLnBrk="1" hangingPunct="1"/>
            <a:r>
              <a:rPr lang="en-US" altLang="en-US" dirty="0"/>
              <a:t>Copies $ra to program counter PC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>
            <a:extLst>
              <a:ext uri="{FF2B5EF4-FFF2-40B4-BE49-F238E27FC236}">
                <a16:creationId xmlns:a16="http://schemas.microsoft.com/office/drawing/2014/main" id="{196E3424-C8BD-4A87-985D-0133598B53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D4E37FAD-231F-47E0-8015-90F79C29B40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AU" altLang="en-US" sz="140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BC17302C-0DC4-4520-83A1-62C445CA4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Special Registers</a:t>
            </a:r>
            <a:endParaRPr lang="en-AU" altLang="en-US"/>
          </a:p>
        </p:txBody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2713C75C-03EE-48B7-8142-EB536CC62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628775"/>
            <a:ext cx="7848600" cy="46085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Every time a method is called (executed), a “stack” is built for this call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stack is eliminated after the call ends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$</a:t>
            </a:r>
            <a:r>
              <a:rPr lang="en-US" altLang="en-US" sz="2800" dirty="0" err="1"/>
              <a:t>sp</a:t>
            </a:r>
            <a:r>
              <a:rPr lang="en-US" altLang="en-US" sz="2800" dirty="0"/>
              <a:t>: stack pointer (reg 29) – top of stack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$</a:t>
            </a:r>
            <a:r>
              <a:rPr lang="en-US" altLang="en-US" sz="2800" dirty="0" err="1"/>
              <a:t>fp</a:t>
            </a:r>
            <a:r>
              <a:rPr lang="en-US" altLang="en-US" sz="2800" dirty="0"/>
              <a:t>: frame pointer (reg 30) – bottom of stack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$ra: return address (reg 31)</a:t>
            </a: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3">
            <a:extLst>
              <a:ext uri="{FF2B5EF4-FFF2-40B4-BE49-F238E27FC236}">
                <a16:creationId xmlns:a16="http://schemas.microsoft.com/office/drawing/2014/main" id="{6FD3DE24-5CAC-4A59-A615-51C29B266D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8ADF6EE1-43C6-4CF4-9E4F-F7A059BA1C8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AU" altLang="en-US" sz="1400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91AC6160-31CF-44EA-A509-0BA6494CD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Leaf Procedure Example</a:t>
            </a:r>
            <a:endParaRPr lang="en-AU" altLang="en-US"/>
          </a:p>
        </p:txBody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89D3865D-4260-4C0D-8F94-922374808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5163" y="1066800"/>
            <a:ext cx="7867650" cy="5256213"/>
          </a:xfrm>
        </p:spPr>
        <p:txBody>
          <a:bodyPr/>
          <a:lstStyle/>
          <a:p>
            <a:pPr eaLnBrk="1" hangingPunct="1"/>
            <a:r>
              <a:rPr lang="en-US" altLang="en-US" dirty="0"/>
              <a:t>C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int </a:t>
            </a:r>
            <a:r>
              <a:rPr lang="en-US" altLang="en-US" sz="2800" dirty="0" err="1">
                <a:latin typeface="Lucida Console" panose="020B0609040504020204" pitchFamily="49" charset="0"/>
              </a:rPr>
              <a:t>leaf_example</a:t>
            </a:r>
            <a:r>
              <a:rPr lang="en-US" altLang="en-US" sz="2800" dirty="0">
                <a:latin typeface="Lucida Console" panose="020B0609040504020204" pitchFamily="49" charset="0"/>
              </a:rPr>
              <a:t> (int g, h, </a:t>
            </a:r>
            <a:r>
              <a:rPr lang="en-US" altLang="en-US" sz="2800" dirty="0" err="1"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latin typeface="Lucida Console" panose="020B0609040504020204" pitchFamily="49" charset="0"/>
              </a:rPr>
              <a:t>, j)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{ int f;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f = (g + h) - (</a:t>
            </a:r>
            <a:r>
              <a:rPr lang="en-US" altLang="en-US" sz="2800" dirty="0" err="1"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latin typeface="Lucida Console" panose="020B0609040504020204" pitchFamily="49" charset="0"/>
              </a:rPr>
              <a:t> + j);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return f;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}</a:t>
            </a:r>
          </a:p>
          <a:p>
            <a:pPr lvl="1" eaLnBrk="1" hangingPunct="1"/>
            <a:r>
              <a:rPr lang="en-US" altLang="en-US" dirty="0"/>
              <a:t>Arguments g, h, </a:t>
            </a:r>
            <a:r>
              <a:rPr lang="en-US" altLang="en-US" dirty="0" err="1"/>
              <a:t>i</a:t>
            </a:r>
            <a:r>
              <a:rPr lang="en-US" altLang="en-US" dirty="0"/>
              <a:t>, j in $a0, $a1, $a2, $a3 (reg’s 4 – 7)</a:t>
            </a:r>
          </a:p>
          <a:p>
            <a:pPr lvl="1" eaLnBrk="1" hangingPunct="1"/>
            <a:r>
              <a:rPr lang="en-US" altLang="en-US" dirty="0"/>
              <a:t>Use $s0 for f (hence, need to save current content of $s0 on stack, and then restore)</a:t>
            </a:r>
          </a:p>
          <a:p>
            <a:pPr lvl="1" eaLnBrk="1" hangingPunct="1"/>
            <a:r>
              <a:rPr lang="en-US" altLang="en-US" dirty="0"/>
              <a:t>Result in $v0 (register 2) </a:t>
            </a:r>
            <a:endParaRPr lang="en-AU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3">
            <a:extLst>
              <a:ext uri="{FF2B5EF4-FFF2-40B4-BE49-F238E27FC236}">
                <a16:creationId xmlns:a16="http://schemas.microsoft.com/office/drawing/2014/main" id="{EFF61286-F204-4A59-94B4-95C07298A8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4016095-DAB8-415B-B26D-9D5E3885317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AU" altLang="en-US" sz="1400"/>
          </a:p>
        </p:txBody>
      </p:sp>
      <p:sp>
        <p:nvSpPr>
          <p:cNvPr id="114691" name="Rectangle 12">
            <a:extLst>
              <a:ext uri="{FF2B5EF4-FFF2-40B4-BE49-F238E27FC236}">
                <a16:creationId xmlns:a16="http://schemas.microsoft.com/office/drawing/2014/main" id="{AA7739B0-C968-486B-9694-11DA60529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082800"/>
            <a:ext cx="5021263" cy="7747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4692" name="Rectangle 15">
            <a:extLst>
              <a:ext uri="{FF2B5EF4-FFF2-40B4-BE49-F238E27FC236}">
                <a16:creationId xmlns:a16="http://schemas.microsoft.com/office/drawing/2014/main" id="{E6FA1878-677F-4F7A-B6DF-A84B9ACE4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857500"/>
            <a:ext cx="5021263" cy="11477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4693" name="Rectangle 16">
            <a:extLst>
              <a:ext uri="{FF2B5EF4-FFF2-40B4-BE49-F238E27FC236}">
                <a16:creationId xmlns:a16="http://schemas.microsoft.com/office/drawing/2014/main" id="{F2416BA5-5D07-40E4-975E-455F97C43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005263"/>
            <a:ext cx="5021263" cy="366712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4694" name="Rectangle 19">
            <a:extLst>
              <a:ext uri="{FF2B5EF4-FFF2-40B4-BE49-F238E27FC236}">
                <a16:creationId xmlns:a16="http://schemas.microsoft.com/office/drawing/2014/main" id="{024B1845-716B-4DBC-9AB7-E8EC5AF24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676400"/>
            <a:ext cx="5021263" cy="406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4695" name="Rectangle 20">
            <a:extLst>
              <a:ext uri="{FF2B5EF4-FFF2-40B4-BE49-F238E27FC236}">
                <a16:creationId xmlns:a16="http://schemas.microsoft.com/office/drawing/2014/main" id="{6EFB5142-6CBA-45A8-B998-8E7EE53E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371975"/>
            <a:ext cx="5021263" cy="78581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4696" name="Rectangle 21">
            <a:extLst>
              <a:ext uri="{FF2B5EF4-FFF2-40B4-BE49-F238E27FC236}">
                <a16:creationId xmlns:a16="http://schemas.microsoft.com/office/drawing/2014/main" id="{E4EDC7B5-4883-4668-AD4B-77F4F3F32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157788"/>
            <a:ext cx="5021263" cy="3952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4697" name="Rectangle 2">
            <a:extLst>
              <a:ext uri="{FF2B5EF4-FFF2-40B4-BE49-F238E27FC236}">
                <a16:creationId xmlns:a16="http://schemas.microsoft.com/office/drawing/2014/main" id="{E56F046C-4E80-41CE-9BB8-784941AD7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Leaf Procedure Example</a:t>
            </a:r>
            <a:endParaRPr lang="en-AU" altLang="en-US"/>
          </a:p>
        </p:txBody>
      </p:sp>
      <p:sp>
        <p:nvSpPr>
          <p:cNvPr id="114698" name="Rectangle 3">
            <a:extLst>
              <a:ext uri="{FF2B5EF4-FFF2-40B4-BE49-F238E27FC236}">
                <a16:creationId xmlns:a16="http://schemas.microsoft.com/office/drawing/2014/main" id="{71BE3F44-98CB-4958-9BDA-CB9290C63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MIPS code: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</a:t>
            </a:r>
            <a:r>
              <a:rPr lang="en-US" altLang="en-US" sz="2800" dirty="0" err="1">
                <a:latin typeface="Lucida Console" panose="020B0609040504020204" pitchFamily="49" charset="0"/>
              </a:rPr>
              <a:t>leaf_example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</a:t>
            </a:r>
            <a:r>
              <a:rPr lang="en-US" altLang="en-US" sz="2800" dirty="0" err="1">
                <a:latin typeface="Lucida Console" panose="020B0609040504020204" pitchFamily="49" charset="0"/>
              </a:rPr>
              <a:t>addi</a:t>
            </a:r>
            <a:r>
              <a:rPr lang="en-US" altLang="en-US" sz="2800" dirty="0">
                <a:latin typeface="Lucida Console" panose="020B0609040504020204" pitchFamily="49" charset="0"/>
              </a:rPr>
              <a:t> $</a:t>
            </a:r>
            <a:r>
              <a:rPr lang="en-US" altLang="en-US" sz="2800" dirty="0" err="1">
                <a:latin typeface="Lucida Console" panose="020B0609040504020204" pitchFamily="49" charset="0"/>
              </a:rPr>
              <a:t>sp</a:t>
            </a:r>
            <a:r>
              <a:rPr lang="en-US" altLang="en-US" sz="2800" dirty="0">
                <a:latin typeface="Lucida Console" panose="020B0609040504020204" pitchFamily="49" charset="0"/>
              </a:rPr>
              <a:t>, $</a:t>
            </a:r>
            <a:r>
              <a:rPr lang="en-US" altLang="en-US" sz="2800" dirty="0" err="1">
                <a:latin typeface="Lucida Console" panose="020B0609040504020204" pitchFamily="49" charset="0"/>
              </a:rPr>
              <a:t>sp</a:t>
            </a:r>
            <a:r>
              <a:rPr lang="en-US" altLang="en-US" sz="2800" dirty="0">
                <a:latin typeface="Lucida Console" panose="020B0609040504020204" pitchFamily="49" charset="0"/>
              </a:rPr>
              <a:t>, -4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</a:t>
            </a:r>
            <a:r>
              <a:rPr lang="en-US" altLang="en-US" sz="2800" dirty="0" err="1">
                <a:latin typeface="Lucida Console" panose="020B0609040504020204" pitchFamily="49" charset="0"/>
              </a:rPr>
              <a:t>sw</a:t>
            </a:r>
            <a:r>
              <a:rPr lang="en-US" altLang="en-US" sz="2800" dirty="0">
                <a:latin typeface="Lucida Console" panose="020B0609040504020204" pitchFamily="49" charset="0"/>
              </a:rPr>
              <a:t>   $s0, 0($</a:t>
            </a:r>
            <a:r>
              <a:rPr lang="en-US" altLang="en-US" sz="2800" dirty="0" err="1">
                <a:latin typeface="Lucida Console" panose="020B0609040504020204" pitchFamily="49" charset="0"/>
              </a:rPr>
              <a:t>sp</a:t>
            </a:r>
            <a:r>
              <a:rPr lang="en-US" altLang="en-US" sz="2800" dirty="0">
                <a:latin typeface="Lucida Console" panose="020B0609040504020204" pitchFamily="49" charset="0"/>
              </a:rPr>
              <a:t>)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add  $t0, $a0, $a1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add  $t1, $a2, $a3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sub  $s0, $t0, $t1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add  $v0, $s0, $zero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</a:t>
            </a:r>
            <a:r>
              <a:rPr lang="en-US" altLang="en-US" sz="2800" dirty="0" err="1">
                <a:latin typeface="Lucida Console" panose="020B0609040504020204" pitchFamily="49" charset="0"/>
              </a:rPr>
              <a:t>lw</a:t>
            </a:r>
            <a:r>
              <a:rPr lang="en-US" altLang="en-US" sz="2800" dirty="0">
                <a:latin typeface="Lucida Console" panose="020B0609040504020204" pitchFamily="49" charset="0"/>
              </a:rPr>
              <a:t>   $s0, 0($</a:t>
            </a:r>
            <a:r>
              <a:rPr lang="en-US" altLang="en-US" sz="2800" dirty="0" err="1">
                <a:latin typeface="Lucida Console" panose="020B0609040504020204" pitchFamily="49" charset="0"/>
              </a:rPr>
              <a:t>sp</a:t>
            </a:r>
            <a:r>
              <a:rPr lang="en-US" altLang="en-US" sz="2800" dirty="0">
                <a:latin typeface="Lucida Console" panose="020B0609040504020204" pitchFamily="49" charset="0"/>
              </a:rPr>
              <a:t>)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</a:t>
            </a:r>
            <a:r>
              <a:rPr lang="en-US" altLang="en-US" sz="2800" dirty="0" err="1">
                <a:latin typeface="Lucida Console" panose="020B0609040504020204" pitchFamily="49" charset="0"/>
              </a:rPr>
              <a:t>addi</a:t>
            </a:r>
            <a:r>
              <a:rPr lang="en-US" altLang="en-US" sz="2800" dirty="0">
                <a:latin typeface="Lucida Console" panose="020B0609040504020204" pitchFamily="49" charset="0"/>
              </a:rPr>
              <a:t> $</a:t>
            </a:r>
            <a:r>
              <a:rPr lang="en-US" altLang="en-US" sz="2800" dirty="0" err="1">
                <a:latin typeface="Lucida Console" panose="020B0609040504020204" pitchFamily="49" charset="0"/>
              </a:rPr>
              <a:t>sp</a:t>
            </a:r>
            <a:r>
              <a:rPr lang="en-US" altLang="en-US" sz="2800" dirty="0">
                <a:latin typeface="Lucida Console" panose="020B0609040504020204" pitchFamily="49" charset="0"/>
              </a:rPr>
              <a:t>, $</a:t>
            </a:r>
            <a:r>
              <a:rPr lang="en-US" altLang="en-US" sz="2800" dirty="0" err="1">
                <a:latin typeface="Lucida Console" panose="020B0609040504020204" pitchFamily="49" charset="0"/>
              </a:rPr>
              <a:t>sp</a:t>
            </a:r>
            <a:r>
              <a:rPr lang="en-US" altLang="en-US" sz="2800" dirty="0">
                <a:latin typeface="Lucida Console" panose="020B0609040504020204" pitchFamily="49" charset="0"/>
              </a:rPr>
              <a:t>, 4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</a:t>
            </a:r>
            <a:r>
              <a:rPr lang="en-US" altLang="en-US" sz="2800" dirty="0" err="1">
                <a:latin typeface="Lucida Console" panose="020B0609040504020204" pitchFamily="49" charset="0"/>
              </a:rPr>
              <a:t>jr</a:t>
            </a:r>
            <a:r>
              <a:rPr lang="en-US" altLang="en-US" sz="2800" dirty="0">
                <a:latin typeface="Lucida Console" panose="020B0609040504020204" pitchFamily="49" charset="0"/>
              </a:rPr>
              <a:t>   $</a:t>
            </a:r>
            <a:r>
              <a:rPr lang="en-US" altLang="en-US" sz="2800" dirty="0" err="1">
                <a:latin typeface="Lucida Console" panose="020B0609040504020204" pitchFamily="49" charset="0"/>
              </a:rPr>
              <a:t>ra</a:t>
            </a:r>
            <a:endParaRPr lang="en-US" altLang="en-US" sz="2800" dirty="0">
              <a:latin typeface="Lucida Console" panose="020B0609040504020204" pitchFamily="49" charset="0"/>
            </a:endParaRPr>
          </a:p>
        </p:txBody>
      </p:sp>
      <p:sp>
        <p:nvSpPr>
          <p:cNvPr id="114699" name="Text Box 4">
            <a:extLst>
              <a:ext uri="{FF2B5EF4-FFF2-40B4-BE49-F238E27FC236}">
                <a16:creationId xmlns:a16="http://schemas.microsoft.com/office/drawing/2014/main" id="{C5A1C44F-51AA-41F5-ABAF-3019CB25B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75" y="2278063"/>
            <a:ext cx="2317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Save $s0 on stack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$s0 will be used for f</a:t>
            </a:r>
            <a:endParaRPr lang="en-AU" altLang="en-US" sz="1800">
              <a:latin typeface="Tahoma" panose="020B0604030504040204" pitchFamily="34" charset="0"/>
            </a:endParaRPr>
          </a:p>
        </p:txBody>
      </p:sp>
      <p:sp>
        <p:nvSpPr>
          <p:cNvPr id="114700" name="Text Box 5">
            <a:extLst>
              <a:ext uri="{FF2B5EF4-FFF2-40B4-BE49-F238E27FC236}">
                <a16:creationId xmlns:a16="http://schemas.microsoft.com/office/drawing/2014/main" id="{B77A54FD-29C5-415C-9577-6E79FA0D0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4588" y="3213100"/>
            <a:ext cx="1762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Procedure body</a:t>
            </a:r>
            <a:endParaRPr lang="en-AU" altLang="en-US" sz="1800">
              <a:latin typeface="Tahoma" panose="020B0604030504040204" pitchFamily="34" charset="0"/>
            </a:endParaRPr>
          </a:p>
        </p:txBody>
      </p:sp>
      <p:sp>
        <p:nvSpPr>
          <p:cNvPr id="114701" name="Text Box 6">
            <a:extLst>
              <a:ext uri="{FF2B5EF4-FFF2-40B4-BE49-F238E27FC236}">
                <a16:creationId xmlns:a16="http://schemas.microsoft.com/office/drawing/2014/main" id="{81B20D12-3DC2-4E29-8908-0A899712F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4588" y="4581525"/>
            <a:ext cx="1374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Restore $s0</a:t>
            </a:r>
            <a:endParaRPr lang="en-AU" altLang="en-US" sz="1800">
              <a:latin typeface="Tahoma" panose="020B0604030504040204" pitchFamily="34" charset="0"/>
            </a:endParaRPr>
          </a:p>
        </p:txBody>
      </p:sp>
      <p:sp>
        <p:nvSpPr>
          <p:cNvPr id="114702" name="Text Box 10">
            <a:extLst>
              <a:ext uri="{FF2B5EF4-FFF2-40B4-BE49-F238E27FC236}">
                <a16:creationId xmlns:a16="http://schemas.microsoft.com/office/drawing/2014/main" id="{3DF7FFCC-1AE4-4213-AEFC-DBE1EAD03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4588" y="4005263"/>
            <a:ext cx="803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Result</a:t>
            </a:r>
            <a:endParaRPr lang="en-AU" altLang="en-US" sz="1800">
              <a:latin typeface="Tahoma" panose="020B0604030504040204" pitchFamily="34" charset="0"/>
            </a:endParaRPr>
          </a:p>
        </p:txBody>
      </p:sp>
      <p:sp>
        <p:nvSpPr>
          <p:cNvPr id="114703" name="Text Box 11">
            <a:extLst>
              <a:ext uri="{FF2B5EF4-FFF2-40B4-BE49-F238E27FC236}">
                <a16:creationId xmlns:a16="http://schemas.microsoft.com/office/drawing/2014/main" id="{5C98AE36-375E-4146-BECD-88BB90F19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3" y="5157788"/>
            <a:ext cx="858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Return</a:t>
            </a:r>
            <a:endParaRPr lang="en-AU" altLang="en-U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Footer Placeholder 3">
            <a:extLst>
              <a:ext uri="{FF2B5EF4-FFF2-40B4-BE49-F238E27FC236}">
                <a16:creationId xmlns:a16="http://schemas.microsoft.com/office/drawing/2014/main" id="{84F36923-EFC0-457E-9F63-775A0A14AD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D8859064-B52B-4DA7-B437-D6F2C1F8431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AU" altLang="en-US" sz="1400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FDC853FB-FEC8-4841-B282-DF474CF9AE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Non-Leaf Procedures</a:t>
            </a:r>
            <a:endParaRPr lang="en-AU" altLang="en-US"/>
          </a:p>
        </p:txBody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6A6703C2-174E-4C7D-9625-33C6C739BD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Procedures that call other procedures</a:t>
            </a:r>
          </a:p>
          <a:p>
            <a:pPr eaLnBrk="1" hangingPunct="1"/>
            <a:r>
              <a:rPr lang="en-US" altLang="en-US" dirty="0"/>
              <a:t>For the nested call, caller needs to save the following into stack:</a:t>
            </a:r>
          </a:p>
          <a:p>
            <a:pPr lvl="1" eaLnBrk="1" hangingPunct="1"/>
            <a:r>
              <a:rPr lang="en-US" altLang="en-US" dirty="0"/>
              <a:t>Its return address (stack </a:t>
            </a:r>
            <a:r>
              <a:rPr lang="en-US" altLang="en-US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←</a:t>
            </a:r>
            <a:r>
              <a:rPr lang="en-US" alt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r>
              <a:rPr lang="en-US" altLang="en-US" dirty="0"/>
              <a:t>$ra)</a:t>
            </a:r>
          </a:p>
          <a:p>
            <a:pPr lvl="1" eaLnBrk="1" hangingPunct="1"/>
            <a:r>
              <a:rPr lang="en-US" altLang="en-US" dirty="0"/>
              <a:t>Any arguments and temporaries needed after the call</a:t>
            </a:r>
          </a:p>
          <a:p>
            <a:pPr eaLnBrk="1" hangingPunct="1"/>
            <a:r>
              <a:rPr lang="en-US" altLang="en-US" dirty="0"/>
              <a:t>Restore from the stack after the nested call</a:t>
            </a:r>
            <a:endParaRPr lang="en-AU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C9F07-942C-4DFE-9D0A-13E47438C2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4C612C60-80E3-4F2F-AC52-3B3DEC4F26C6}" type="slidenum">
              <a:rPr lang="en-AU" altLang="en-US" smtClean="0"/>
              <a:pPr>
                <a:defRPr/>
              </a:pPr>
              <a:t>61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0260057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9604127A-B719-4D43-8D55-A80073EDB2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15CF4035-0DBC-47B4-B8AC-3F2A946847F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AU" altLang="en-US" sz="1400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A973796F-C6D0-4A2E-A945-0C8FB26FF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Non-Leaf Procedure Example</a:t>
            </a:r>
            <a:endParaRPr lang="en-AU" altLang="en-US"/>
          </a:p>
        </p:txBody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6C87C5B8-5F80-4FA0-90DB-6B754CDCE3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6113" y="1106488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/>
              <a:t>C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latin typeface="Lucida Console" panose="020B0609040504020204" pitchFamily="49" charset="0"/>
              </a:rPr>
              <a:t>	int fact (int n)</a:t>
            </a:r>
            <a:br>
              <a:rPr lang="en-US" altLang="en-US" sz="2800">
                <a:latin typeface="Lucida Console" panose="020B0609040504020204" pitchFamily="49" charset="0"/>
              </a:rPr>
            </a:br>
            <a:r>
              <a:rPr lang="en-US" altLang="en-US" sz="2800">
                <a:latin typeface="Lucida Console" panose="020B0609040504020204" pitchFamily="49" charset="0"/>
              </a:rPr>
              <a:t>{ </a:t>
            </a:r>
            <a:br>
              <a:rPr lang="en-US" altLang="en-US" sz="2800">
                <a:latin typeface="Lucida Console" panose="020B0609040504020204" pitchFamily="49" charset="0"/>
              </a:rPr>
            </a:br>
            <a:r>
              <a:rPr lang="en-US" altLang="en-US" sz="2800">
                <a:latin typeface="Lucida Console" panose="020B0609040504020204" pitchFamily="49" charset="0"/>
              </a:rPr>
              <a:t>  if (n &lt; 1) return 1;</a:t>
            </a:r>
            <a:br>
              <a:rPr lang="en-US" altLang="en-US" sz="2800">
                <a:latin typeface="Lucida Console" panose="020B0609040504020204" pitchFamily="49" charset="0"/>
              </a:rPr>
            </a:br>
            <a:r>
              <a:rPr lang="en-US" altLang="en-US" sz="2800">
                <a:latin typeface="Lucida Console" panose="020B0609040504020204" pitchFamily="49" charset="0"/>
              </a:rPr>
              <a:t>  else return n * fact(n - 1);</a:t>
            </a:r>
            <a:br>
              <a:rPr lang="en-US" altLang="en-US" sz="2800">
                <a:latin typeface="Lucida Console" panose="020B0609040504020204" pitchFamily="49" charset="0"/>
              </a:rPr>
            </a:br>
            <a:r>
              <a:rPr lang="en-US" altLang="en-US" sz="2800">
                <a:latin typeface="Lucida Console" panose="020B0609040504020204" pitchFamily="49" charset="0"/>
              </a:rPr>
              <a:t>}</a:t>
            </a:r>
          </a:p>
          <a:p>
            <a:pPr lvl="1" eaLnBrk="1" hangingPunct="1"/>
            <a:r>
              <a:rPr lang="en-US" altLang="en-US"/>
              <a:t>Argument n in $a0</a:t>
            </a:r>
          </a:p>
          <a:p>
            <a:pPr lvl="1" eaLnBrk="1" hangingPunct="1"/>
            <a:r>
              <a:rPr lang="en-US" altLang="en-US"/>
              <a:t>Result in $v0</a:t>
            </a:r>
            <a:endParaRPr lang="en-AU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Footer Placeholder 3">
            <a:extLst>
              <a:ext uri="{FF2B5EF4-FFF2-40B4-BE49-F238E27FC236}">
                <a16:creationId xmlns:a16="http://schemas.microsoft.com/office/drawing/2014/main" id="{5418F109-CBEA-41C9-A077-6C2882D4E6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3944A9C0-D4F0-4673-B161-C39A91DF6C9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AU" altLang="en-US" sz="1400"/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E241E518-A9E5-470F-B144-0C33D3CDF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Non-Leaf Procedure Example</a:t>
            </a:r>
            <a:endParaRPr lang="en-AU" altLang="en-US"/>
          </a:p>
        </p:txBody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EC4E0E6F-6907-4191-BF24-2A4724E14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6113" y="1106488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C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int </a:t>
            </a:r>
            <a:r>
              <a:rPr lang="en-US" altLang="en-US" sz="2800" dirty="0">
                <a:solidFill>
                  <a:srgbClr val="C00000"/>
                </a:solidFill>
                <a:latin typeface="Lucida Console" panose="020B0609040504020204" pitchFamily="49" charset="0"/>
              </a:rPr>
              <a:t>fact (int n)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{ 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if (n &lt; 1) return 1;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else return n * </a:t>
            </a:r>
            <a:r>
              <a:rPr lang="en-US" altLang="en-US" sz="2800" dirty="0">
                <a:solidFill>
                  <a:srgbClr val="C00000"/>
                </a:solidFill>
                <a:latin typeface="Lucida Console" panose="020B0609040504020204" pitchFamily="49" charset="0"/>
              </a:rPr>
              <a:t>fact(n - 1)</a:t>
            </a:r>
            <a:r>
              <a:rPr lang="en-US" altLang="en-US" sz="2800" dirty="0">
                <a:latin typeface="Lucida Console" panose="020B0609040504020204" pitchFamily="49" charset="0"/>
              </a:rPr>
              <a:t>;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}</a:t>
            </a:r>
          </a:p>
          <a:p>
            <a:pPr lvl="1" eaLnBrk="1" hangingPunct="1"/>
            <a:r>
              <a:rPr lang="en-US" altLang="en-US" dirty="0"/>
              <a:t>Argument n in $a0: $a0 = n</a:t>
            </a:r>
          </a:p>
          <a:p>
            <a:pPr lvl="1" eaLnBrk="1" hangingPunct="1"/>
            <a:r>
              <a:rPr lang="en-US" altLang="en-US" dirty="0"/>
              <a:t>Result in $v0: $v0 = n×(n-1) ×…×2×1</a:t>
            </a:r>
            <a:endParaRPr lang="en-AU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Footer Placeholder 3">
            <a:extLst>
              <a:ext uri="{FF2B5EF4-FFF2-40B4-BE49-F238E27FC236}">
                <a16:creationId xmlns:a16="http://schemas.microsoft.com/office/drawing/2014/main" id="{BD5C4AFA-0B7A-4073-BA31-337A35571D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0A209246-0B97-47AD-BF99-67AEA1AE6EC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AU" altLang="en-US" sz="1400"/>
          </a:p>
        </p:txBody>
      </p:sp>
      <p:sp>
        <p:nvSpPr>
          <p:cNvPr id="126979" name="Rectangle 6">
            <a:extLst>
              <a:ext uri="{FF2B5EF4-FFF2-40B4-BE49-F238E27FC236}">
                <a16:creationId xmlns:a16="http://schemas.microsoft.com/office/drawing/2014/main" id="{5A9FFDF9-443F-4185-88F4-83660852F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Local Data on the Stack</a:t>
            </a:r>
            <a:endParaRPr lang="en-AU" altLang="en-US"/>
          </a:p>
        </p:txBody>
      </p:sp>
      <p:pic>
        <p:nvPicPr>
          <p:cNvPr id="126980" name="Picture 9" descr="f02-12-P374493">
            <a:extLst>
              <a:ext uri="{FF2B5EF4-FFF2-40B4-BE49-F238E27FC236}">
                <a16:creationId xmlns:a16="http://schemas.microsoft.com/office/drawing/2014/main" id="{A4419F55-5249-45F5-85E1-BF3B74FB8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33" y="1660610"/>
            <a:ext cx="8358996" cy="4053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9C6C0F-C1EA-48BD-B0F6-B8B256917B94}"/>
              </a:ext>
            </a:extLst>
          </p:cNvPr>
          <p:cNvSpPr/>
          <p:nvPr/>
        </p:nvSpPr>
        <p:spPr bwMode="auto">
          <a:xfrm>
            <a:off x="570032" y="1340768"/>
            <a:ext cx="7344816" cy="64807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839476-C07A-4ABE-B0FA-71F5882208A3}"/>
              </a:ext>
            </a:extLst>
          </p:cNvPr>
          <p:cNvSpPr/>
          <p:nvPr/>
        </p:nvSpPr>
        <p:spPr bwMode="auto">
          <a:xfrm>
            <a:off x="7874208" y="1518230"/>
            <a:ext cx="1259632" cy="419559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F41ECB-EBC1-47AC-8E10-91EC9E617D61}"/>
              </a:ext>
            </a:extLst>
          </p:cNvPr>
          <p:cNvSpPr/>
          <p:nvPr/>
        </p:nvSpPr>
        <p:spPr bwMode="auto">
          <a:xfrm>
            <a:off x="5324048" y="2148151"/>
            <a:ext cx="646584" cy="336908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4C7D6F-9805-4709-ADC9-D9FCDA08CDB1}"/>
              </a:ext>
            </a:extLst>
          </p:cNvPr>
          <p:cNvSpPr/>
          <p:nvPr/>
        </p:nvSpPr>
        <p:spPr bwMode="auto">
          <a:xfrm>
            <a:off x="2509728" y="2300551"/>
            <a:ext cx="646584" cy="336908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C76DD-5527-475E-A925-FE04466C86BB}"/>
              </a:ext>
            </a:extLst>
          </p:cNvPr>
          <p:cNvSpPr txBox="1"/>
          <p:nvPr/>
        </p:nvSpPr>
        <p:spPr>
          <a:xfrm>
            <a:off x="3477876" y="5826472"/>
            <a:ext cx="153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757CB3"/>
                </a:solidFill>
              </a:defRPr>
            </a:lvl1pPr>
          </a:lstStyle>
          <a:p>
            <a:r>
              <a:rPr lang="en-US" dirty="0"/>
              <a:t>High address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FE481-EAC8-42B4-87BD-7835E345515E}"/>
              </a:ext>
            </a:extLst>
          </p:cNvPr>
          <p:cNvSpPr txBox="1"/>
          <p:nvPr/>
        </p:nvSpPr>
        <p:spPr>
          <a:xfrm>
            <a:off x="3508136" y="119675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57CB3"/>
                </a:solidFill>
              </a:rPr>
              <a:t>Low address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7A6B84-EA41-4555-BF5C-1A86274107FA}"/>
              </a:ext>
            </a:extLst>
          </p:cNvPr>
          <p:cNvSpPr txBox="1"/>
          <p:nvPr/>
        </p:nvSpPr>
        <p:spPr>
          <a:xfrm>
            <a:off x="5335908" y="4350928"/>
            <a:ext cx="56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/>
              <a:t>$</a:t>
            </a:r>
            <a:r>
              <a:rPr lang="en-US" dirty="0" err="1"/>
              <a:t>fp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875373-08F5-4B74-A656-EA245E0EEE2D}"/>
              </a:ext>
            </a:extLst>
          </p:cNvPr>
          <p:cNvSpPr/>
          <p:nvPr/>
        </p:nvSpPr>
        <p:spPr>
          <a:xfrm>
            <a:off x="5169272" y="4344784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←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E08E41-7965-4F1C-8BFF-FB9C44B2A0C6}"/>
              </a:ext>
            </a:extLst>
          </p:cNvPr>
          <p:cNvSpPr/>
          <p:nvPr/>
        </p:nvSpPr>
        <p:spPr>
          <a:xfrm>
            <a:off x="5169272" y="2109584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←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EFEA98-ADCC-4CD7-9EDD-A64A88BF6392}"/>
              </a:ext>
            </a:extLst>
          </p:cNvPr>
          <p:cNvSpPr/>
          <p:nvPr/>
        </p:nvSpPr>
        <p:spPr>
          <a:xfrm>
            <a:off x="7780392" y="5106784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←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50E5F1-7C81-48F1-BAA5-6B0F7DD54E81}"/>
              </a:ext>
            </a:extLst>
          </p:cNvPr>
          <p:cNvSpPr/>
          <p:nvPr/>
        </p:nvSpPr>
        <p:spPr>
          <a:xfrm>
            <a:off x="7780392" y="4340508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←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B278C5-E0AC-4052-B752-78B0C450DBBD}"/>
              </a:ext>
            </a:extLst>
          </p:cNvPr>
          <p:cNvSpPr/>
          <p:nvPr/>
        </p:nvSpPr>
        <p:spPr>
          <a:xfrm>
            <a:off x="2382585" y="5110332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←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DD5707-11C0-45B0-AD9F-EB34FD58007C}"/>
              </a:ext>
            </a:extLst>
          </p:cNvPr>
          <p:cNvSpPr/>
          <p:nvPr/>
        </p:nvSpPr>
        <p:spPr>
          <a:xfrm>
            <a:off x="2382585" y="4344056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←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F21FA5-BE9F-47D4-8EA4-038434E8A3AD}"/>
              </a:ext>
            </a:extLst>
          </p:cNvPr>
          <p:cNvSpPr txBox="1"/>
          <p:nvPr/>
        </p:nvSpPr>
        <p:spPr>
          <a:xfrm>
            <a:off x="7940901" y="5106448"/>
            <a:ext cx="56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/>
              <a:t>$</a:t>
            </a:r>
            <a:r>
              <a:rPr lang="en-US" dirty="0" err="1"/>
              <a:t>fp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DD6D1B-AB3B-4700-9FF2-69EBEACEE6C7}"/>
              </a:ext>
            </a:extLst>
          </p:cNvPr>
          <p:cNvSpPr txBox="1"/>
          <p:nvPr/>
        </p:nvSpPr>
        <p:spPr>
          <a:xfrm>
            <a:off x="2462398" y="4346289"/>
            <a:ext cx="820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/>
              <a:t>$</a:t>
            </a:r>
            <a:r>
              <a:rPr lang="en-US" dirty="0" err="1"/>
              <a:t>sp</a:t>
            </a:r>
            <a:endParaRPr lang="en-US" dirty="0"/>
          </a:p>
          <a:p>
            <a:r>
              <a:rPr lang="en-US" sz="1400" dirty="0"/>
              <a:t>(reg 29)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3957C9-DC94-4D58-89C4-EF58AA36E49C}"/>
              </a:ext>
            </a:extLst>
          </p:cNvPr>
          <p:cNvSpPr txBox="1"/>
          <p:nvPr/>
        </p:nvSpPr>
        <p:spPr>
          <a:xfrm>
            <a:off x="5364262" y="2125793"/>
            <a:ext cx="56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/>
              <a:t>$</a:t>
            </a:r>
            <a:r>
              <a:rPr lang="en-US" dirty="0" err="1"/>
              <a:t>sp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1ED8B0-2D82-4F45-A3FB-B494E9206AE7}"/>
              </a:ext>
            </a:extLst>
          </p:cNvPr>
          <p:cNvSpPr txBox="1"/>
          <p:nvPr/>
        </p:nvSpPr>
        <p:spPr>
          <a:xfrm>
            <a:off x="7969243" y="4348005"/>
            <a:ext cx="56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/>
              <a:t>$</a:t>
            </a:r>
            <a:r>
              <a:rPr lang="en-US" dirty="0" err="1"/>
              <a:t>sp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BA0C58-519E-42FE-8599-37D3AB1A7513}"/>
              </a:ext>
            </a:extLst>
          </p:cNvPr>
          <p:cNvSpPr txBox="1"/>
          <p:nvPr/>
        </p:nvSpPr>
        <p:spPr>
          <a:xfrm>
            <a:off x="774428" y="162880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Before a call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9E1ED4-3019-4BE9-9B2F-12AFD0B479A9}"/>
              </a:ext>
            </a:extLst>
          </p:cNvPr>
          <p:cNvSpPr txBox="1"/>
          <p:nvPr/>
        </p:nvSpPr>
        <p:spPr>
          <a:xfrm>
            <a:off x="3492821" y="1625258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During a call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AED7E7-BF11-4122-B684-7AEA49B22723}"/>
              </a:ext>
            </a:extLst>
          </p:cNvPr>
          <p:cNvSpPr txBox="1"/>
          <p:nvPr/>
        </p:nvSpPr>
        <p:spPr>
          <a:xfrm>
            <a:off x="6182868" y="1628806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 a call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F4AC1-2EC5-42EB-B76E-CAAA669C5BC2}"/>
              </a:ext>
            </a:extLst>
          </p:cNvPr>
          <p:cNvSpPr/>
          <p:nvPr/>
        </p:nvSpPr>
        <p:spPr bwMode="auto">
          <a:xfrm>
            <a:off x="3210702" y="3933056"/>
            <a:ext cx="2018271" cy="590240"/>
          </a:xfrm>
          <a:prstGeom prst="rect">
            <a:avLst/>
          </a:prstGeom>
          <a:solidFill>
            <a:srgbClr val="B0B4D4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B15CEE-2567-4144-A5B0-F2611EB9D3A9}"/>
              </a:ext>
            </a:extLst>
          </p:cNvPr>
          <p:cNvSpPr txBox="1"/>
          <p:nvPr/>
        </p:nvSpPr>
        <p:spPr>
          <a:xfrm>
            <a:off x="3311296" y="3947232"/>
            <a:ext cx="1803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Return address </a:t>
            </a:r>
          </a:p>
          <a:p>
            <a:pPr algn="ctr"/>
            <a:r>
              <a:rPr lang="en-US" sz="1600" dirty="0"/>
              <a:t>to caller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5CC5C1-8616-4C7A-B480-D2A1D5D10D87}"/>
              </a:ext>
            </a:extLst>
          </p:cNvPr>
          <p:cNvSpPr/>
          <p:nvPr/>
        </p:nvSpPr>
        <p:spPr bwMode="auto">
          <a:xfrm>
            <a:off x="3214252" y="2308682"/>
            <a:ext cx="2018271" cy="1608562"/>
          </a:xfrm>
          <a:prstGeom prst="rect">
            <a:avLst/>
          </a:prstGeom>
          <a:solidFill>
            <a:srgbClr val="B0B4D4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D2F34F-AD8D-4121-BE74-529B4AA11257}"/>
              </a:ext>
            </a:extLst>
          </p:cNvPr>
          <p:cNvSpPr txBox="1"/>
          <p:nvPr/>
        </p:nvSpPr>
        <p:spPr>
          <a:xfrm>
            <a:off x="3325472" y="3068960"/>
            <a:ext cx="1803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Arguments and</a:t>
            </a:r>
          </a:p>
          <a:p>
            <a:pPr algn="ctr"/>
            <a:r>
              <a:rPr lang="en-US" sz="1600" dirty="0"/>
              <a:t>other stuff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D81740-7425-4490-B99F-D8AFD1A27022}"/>
              </a:ext>
            </a:extLst>
          </p:cNvPr>
          <p:cNvSpPr txBox="1"/>
          <p:nvPr/>
        </p:nvSpPr>
        <p:spPr>
          <a:xfrm>
            <a:off x="2430160" y="5114155"/>
            <a:ext cx="820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/>
              <a:t>$</a:t>
            </a:r>
            <a:r>
              <a:rPr lang="en-US" dirty="0" err="1"/>
              <a:t>fp</a:t>
            </a:r>
            <a:endParaRPr lang="en-US" dirty="0"/>
          </a:p>
          <a:p>
            <a:r>
              <a:rPr lang="en-US" sz="1400" dirty="0"/>
              <a:t>(reg 30)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Footer Placeholder 3">
            <a:extLst>
              <a:ext uri="{FF2B5EF4-FFF2-40B4-BE49-F238E27FC236}">
                <a16:creationId xmlns:a16="http://schemas.microsoft.com/office/drawing/2014/main" id="{F3E6B135-2A11-4F4F-BA95-EB8A2B030A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354096A7-E396-47EB-941D-DC219AD9100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AU" altLang="en-US" sz="1400"/>
          </a:p>
        </p:txBody>
      </p:sp>
      <p:sp>
        <p:nvSpPr>
          <p:cNvPr id="122883" name="Rectangle 4">
            <a:extLst>
              <a:ext uri="{FF2B5EF4-FFF2-40B4-BE49-F238E27FC236}">
                <a16:creationId xmlns:a16="http://schemas.microsoft.com/office/drawing/2014/main" id="{952516ED-1FB6-4E16-8B3F-EF7111018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612" y="1647825"/>
            <a:ext cx="7372350" cy="2857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884" name="Rectangle 5">
            <a:extLst>
              <a:ext uri="{FF2B5EF4-FFF2-40B4-BE49-F238E27FC236}">
                <a16:creationId xmlns:a16="http://schemas.microsoft.com/office/drawing/2014/main" id="{43FFF0A0-9A32-4A10-921B-6309763B1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612" y="1933575"/>
            <a:ext cx="7372350" cy="82232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885" name="Rectangle 6">
            <a:extLst>
              <a:ext uri="{FF2B5EF4-FFF2-40B4-BE49-F238E27FC236}">
                <a16:creationId xmlns:a16="http://schemas.microsoft.com/office/drawing/2014/main" id="{7EA91464-6BC4-432E-918B-7813C9EED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612" y="2755900"/>
            <a:ext cx="7372350" cy="5524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886" name="Rectangle 7">
            <a:extLst>
              <a:ext uri="{FF2B5EF4-FFF2-40B4-BE49-F238E27FC236}">
                <a16:creationId xmlns:a16="http://schemas.microsoft.com/office/drawing/2014/main" id="{6A771166-F554-40CB-A075-308500FCC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612" y="3308350"/>
            <a:ext cx="7372350" cy="8318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887" name="Rectangle 8">
            <a:extLst>
              <a:ext uri="{FF2B5EF4-FFF2-40B4-BE49-F238E27FC236}">
                <a16:creationId xmlns:a16="http://schemas.microsoft.com/office/drawing/2014/main" id="{C150EAFD-B3C6-42A8-95BC-5BB6E1674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612" y="4140200"/>
            <a:ext cx="7372350" cy="5524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888" name="Rectangle 9">
            <a:extLst>
              <a:ext uri="{FF2B5EF4-FFF2-40B4-BE49-F238E27FC236}">
                <a16:creationId xmlns:a16="http://schemas.microsoft.com/office/drawing/2014/main" id="{46DAA1FD-DF27-45ED-B7F7-23A58870C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612" y="4692650"/>
            <a:ext cx="7372350" cy="812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889" name="Rectangle 10">
            <a:extLst>
              <a:ext uri="{FF2B5EF4-FFF2-40B4-BE49-F238E27FC236}">
                <a16:creationId xmlns:a16="http://schemas.microsoft.com/office/drawing/2014/main" id="{ECCB8CF1-8F8E-4DD3-ADEC-87FFF7CFC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612" y="5505450"/>
            <a:ext cx="7372350" cy="2730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890" name="Rectangle 11">
            <a:extLst>
              <a:ext uri="{FF2B5EF4-FFF2-40B4-BE49-F238E27FC236}">
                <a16:creationId xmlns:a16="http://schemas.microsoft.com/office/drawing/2014/main" id="{EEB6E741-80CE-4712-AB06-5D63E6E99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612" y="5778500"/>
            <a:ext cx="7372350" cy="2984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891" name="Rectangle 2">
            <a:extLst>
              <a:ext uri="{FF2B5EF4-FFF2-40B4-BE49-F238E27FC236}">
                <a16:creationId xmlns:a16="http://schemas.microsoft.com/office/drawing/2014/main" id="{DAEBBAAB-8F46-41C9-8B28-17D49F88E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Non-Leaf Procedure Example</a:t>
            </a:r>
            <a:endParaRPr lang="en-AU" altLang="en-US"/>
          </a:p>
        </p:txBody>
      </p:sp>
      <p:sp>
        <p:nvSpPr>
          <p:cNvPr id="122892" name="Rectangle 3">
            <a:extLst>
              <a:ext uri="{FF2B5EF4-FFF2-40B4-BE49-F238E27FC236}">
                <a16:creationId xmlns:a16="http://schemas.microsoft.com/office/drawing/2014/main" id="{1013ABED-AC8B-4BB0-BE6A-A044BF136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261" y="1116746"/>
            <a:ext cx="8270875" cy="5030974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MIPS code: Go over a small example to see its working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fact: #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addi</a:t>
            </a:r>
            <a:r>
              <a:rPr lang="en-US" altLang="en-US" sz="1800" dirty="0">
                <a:latin typeface="Lucida Console" panose="020B0609040504020204" pitchFamily="49" charset="0"/>
              </a:rPr>
              <a:t> $</a:t>
            </a:r>
            <a:r>
              <a:rPr lang="en-US" altLang="en-US" sz="1800" dirty="0" err="1">
                <a:latin typeface="Lucida Console" panose="020B0609040504020204" pitchFamily="49" charset="0"/>
              </a:rPr>
              <a:t>sp</a:t>
            </a:r>
            <a:r>
              <a:rPr lang="en-US" altLang="en-US" sz="1800" dirty="0">
                <a:latin typeface="Lucida Console" panose="020B0609040504020204" pitchFamily="49" charset="0"/>
              </a:rPr>
              <a:t>, $</a:t>
            </a:r>
            <a:r>
              <a:rPr lang="en-US" altLang="en-US" sz="1800" dirty="0" err="1">
                <a:latin typeface="Lucida Console" panose="020B0609040504020204" pitchFamily="49" charset="0"/>
              </a:rPr>
              <a:t>sp</a:t>
            </a:r>
            <a:r>
              <a:rPr lang="en-US" altLang="en-US" sz="1800" dirty="0">
                <a:latin typeface="Lucida Console" panose="020B0609040504020204" pitchFamily="49" charset="0"/>
              </a:rPr>
              <a:t>, -8     # adjust stack for 2 items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sw</a:t>
            </a:r>
            <a:r>
              <a:rPr lang="en-US" altLang="en-US" sz="1800" dirty="0">
                <a:latin typeface="Lucida Console" panose="020B0609040504020204" pitchFamily="49" charset="0"/>
              </a:rPr>
              <a:t>   $ra, 4($</a:t>
            </a:r>
            <a:r>
              <a:rPr lang="en-US" altLang="en-US" sz="1800" dirty="0" err="1">
                <a:latin typeface="Lucida Console" panose="020B0609040504020204" pitchFamily="49" charset="0"/>
              </a:rPr>
              <a:t>sp</a:t>
            </a:r>
            <a:r>
              <a:rPr lang="en-US" altLang="en-US" sz="1800" dirty="0">
                <a:latin typeface="Lucida Console" panose="020B0609040504020204" pitchFamily="49" charset="0"/>
              </a:rPr>
              <a:t>)      # save return address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sw</a:t>
            </a:r>
            <a:r>
              <a:rPr lang="en-US" altLang="en-US" sz="1800" dirty="0">
                <a:latin typeface="Lucida Console" panose="020B0609040504020204" pitchFamily="49" charset="0"/>
              </a:rPr>
              <a:t>   $a0, 0($</a:t>
            </a:r>
            <a:r>
              <a:rPr lang="en-US" altLang="en-US" sz="1800" dirty="0" err="1">
                <a:latin typeface="Lucida Console" panose="020B0609040504020204" pitchFamily="49" charset="0"/>
              </a:rPr>
              <a:t>sp</a:t>
            </a:r>
            <a:r>
              <a:rPr lang="en-US" altLang="en-US" sz="1800" dirty="0">
                <a:latin typeface="Lucida Console" panose="020B0609040504020204" pitchFamily="49" charset="0"/>
              </a:rPr>
              <a:t>)      # save argument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slti</a:t>
            </a:r>
            <a:r>
              <a:rPr lang="en-US" altLang="en-US" sz="1800" dirty="0">
                <a:latin typeface="Lucida Console" panose="020B0609040504020204" pitchFamily="49" charset="0"/>
              </a:rPr>
              <a:t> $t0, $a0, 1      # test for n &lt; 1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beq</a:t>
            </a:r>
            <a:r>
              <a:rPr lang="en-US" altLang="en-US" sz="1800" dirty="0">
                <a:latin typeface="Lucida Console" panose="020B0609040504020204" pitchFamily="49" charset="0"/>
              </a:rPr>
              <a:t>  $t0, $zero, L1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addi</a:t>
            </a:r>
            <a:r>
              <a:rPr lang="en-US" altLang="en-US" sz="1800" dirty="0">
                <a:latin typeface="Lucida Console" panose="020B0609040504020204" pitchFamily="49" charset="0"/>
              </a:rPr>
              <a:t> $v0, $zero, 1    # if so, result is 1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addi</a:t>
            </a:r>
            <a:r>
              <a:rPr lang="en-US" altLang="en-US" sz="1800" dirty="0">
                <a:latin typeface="Lucida Console" panose="020B0609040504020204" pitchFamily="49" charset="0"/>
              </a:rPr>
              <a:t> $</a:t>
            </a:r>
            <a:r>
              <a:rPr lang="en-US" altLang="en-US" sz="1800" dirty="0" err="1">
                <a:latin typeface="Lucida Console" panose="020B0609040504020204" pitchFamily="49" charset="0"/>
              </a:rPr>
              <a:t>sp</a:t>
            </a:r>
            <a:r>
              <a:rPr lang="en-US" altLang="en-US" sz="1800" dirty="0">
                <a:latin typeface="Lucida Console" panose="020B0609040504020204" pitchFamily="49" charset="0"/>
              </a:rPr>
              <a:t>, $</a:t>
            </a:r>
            <a:r>
              <a:rPr lang="en-US" altLang="en-US" sz="1800" dirty="0" err="1">
                <a:latin typeface="Lucida Console" panose="020B0609040504020204" pitchFamily="49" charset="0"/>
              </a:rPr>
              <a:t>sp</a:t>
            </a:r>
            <a:r>
              <a:rPr lang="en-US" altLang="en-US" sz="1800" dirty="0">
                <a:latin typeface="Lucida Console" panose="020B0609040504020204" pitchFamily="49" charset="0"/>
              </a:rPr>
              <a:t>, 8      #   pop 2 items from stack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jr</a:t>
            </a:r>
            <a:r>
              <a:rPr lang="en-US" altLang="en-US" sz="1800" dirty="0">
                <a:latin typeface="Lucida Console" panose="020B0609040504020204" pitchFamily="49" charset="0"/>
              </a:rPr>
              <a:t>   $ra              #   and return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L1: </a:t>
            </a:r>
            <a:r>
              <a:rPr lang="en-US" altLang="en-US" sz="1800" dirty="0" err="1">
                <a:latin typeface="Lucida Console" panose="020B0609040504020204" pitchFamily="49" charset="0"/>
              </a:rPr>
              <a:t>addi</a:t>
            </a:r>
            <a:r>
              <a:rPr lang="en-US" altLang="en-US" sz="1800" dirty="0">
                <a:latin typeface="Lucida Console" panose="020B0609040504020204" pitchFamily="49" charset="0"/>
              </a:rPr>
              <a:t> $a0, $a0, -1     # else decrement n  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jal</a:t>
            </a:r>
            <a:r>
              <a:rPr lang="en-US" altLang="en-US" sz="1800" dirty="0">
                <a:latin typeface="Lucida Console" panose="020B0609040504020204" pitchFamily="49" charset="0"/>
              </a:rPr>
              <a:t>  fact             # recursive call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solidFill>
                  <a:srgbClr val="C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lw</a:t>
            </a:r>
            <a:r>
              <a:rPr lang="en-US" altLang="en-US" sz="1800" dirty="0">
                <a:latin typeface="Lucida Console" panose="020B0609040504020204" pitchFamily="49" charset="0"/>
              </a:rPr>
              <a:t>   $a0, 0($</a:t>
            </a:r>
            <a:r>
              <a:rPr lang="en-US" altLang="en-US" sz="1800" dirty="0" err="1">
                <a:latin typeface="Lucida Console" panose="020B0609040504020204" pitchFamily="49" charset="0"/>
              </a:rPr>
              <a:t>sp</a:t>
            </a:r>
            <a:r>
              <a:rPr lang="en-US" altLang="en-US" sz="1800" dirty="0">
                <a:latin typeface="Lucida Console" panose="020B0609040504020204" pitchFamily="49" charset="0"/>
              </a:rPr>
              <a:t>)      # restore original n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lw</a:t>
            </a:r>
            <a:r>
              <a:rPr lang="en-US" altLang="en-US" sz="1800" dirty="0">
                <a:latin typeface="Lucida Console" panose="020B0609040504020204" pitchFamily="49" charset="0"/>
              </a:rPr>
              <a:t>   $ra, 4($</a:t>
            </a:r>
            <a:r>
              <a:rPr lang="en-US" altLang="en-US" sz="1800" dirty="0" err="1">
                <a:latin typeface="Lucida Console" panose="020B0609040504020204" pitchFamily="49" charset="0"/>
              </a:rPr>
              <a:t>sp</a:t>
            </a:r>
            <a:r>
              <a:rPr lang="en-US" altLang="en-US" sz="1800" dirty="0">
                <a:latin typeface="Lucida Console" panose="020B0609040504020204" pitchFamily="49" charset="0"/>
              </a:rPr>
              <a:t>)      #   and return address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addi</a:t>
            </a:r>
            <a:r>
              <a:rPr lang="en-US" altLang="en-US" sz="1800" dirty="0">
                <a:latin typeface="Lucida Console" panose="020B0609040504020204" pitchFamily="49" charset="0"/>
              </a:rPr>
              <a:t> $</a:t>
            </a:r>
            <a:r>
              <a:rPr lang="en-US" altLang="en-US" sz="1800" dirty="0" err="1">
                <a:latin typeface="Lucida Console" panose="020B0609040504020204" pitchFamily="49" charset="0"/>
              </a:rPr>
              <a:t>sp</a:t>
            </a:r>
            <a:r>
              <a:rPr lang="en-US" altLang="en-US" sz="1800" dirty="0">
                <a:latin typeface="Lucida Console" panose="020B0609040504020204" pitchFamily="49" charset="0"/>
              </a:rPr>
              <a:t>, $</a:t>
            </a:r>
            <a:r>
              <a:rPr lang="en-US" altLang="en-US" sz="1800" dirty="0" err="1">
                <a:latin typeface="Lucida Console" panose="020B0609040504020204" pitchFamily="49" charset="0"/>
              </a:rPr>
              <a:t>sp</a:t>
            </a:r>
            <a:r>
              <a:rPr lang="en-US" altLang="en-US" sz="1800" dirty="0">
                <a:latin typeface="Lucida Console" panose="020B0609040504020204" pitchFamily="49" charset="0"/>
              </a:rPr>
              <a:t>, 8      # pop 2 items from stack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mul</a:t>
            </a:r>
            <a:r>
              <a:rPr lang="en-US" altLang="en-US" sz="1800" dirty="0">
                <a:latin typeface="Lucida Console" panose="020B0609040504020204" pitchFamily="49" charset="0"/>
              </a:rPr>
              <a:t>  $v0, $a0, $v0    # multiply to get result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jr</a:t>
            </a:r>
            <a:r>
              <a:rPr lang="en-US" altLang="en-US" sz="1800" dirty="0">
                <a:latin typeface="Lucida Console" panose="020B0609040504020204" pitchFamily="49" charset="0"/>
              </a:rPr>
              <a:t>   $ra              # and return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C9319B-7706-4C7B-A1AE-7F8585AD052A}"/>
              </a:ext>
            </a:extLst>
          </p:cNvPr>
          <p:cNvSpPr txBox="1"/>
          <p:nvPr/>
        </p:nvSpPr>
        <p:spPr>
          <a:xfrm>
            <a:off x="490579" y="1627128"/>
            <a:ext cx="930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Lucida Console" panose="020B0609040504020204" pitchFamily="49" charset="0"/>
              </a:rPr>
              <a:t>2000: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103C1E-EC52-4459-A766-AA771575BF90}"/>
              </a:ext>
            </a:extLst>
          </p:cNvPr>
          <p:cNvSpPr txBox="1"/>
          <p:nvPr/>
        </p:nvSpPr>
        <p:spPr>
          <a:xfrm>
            <a:off x="493509" y="4628232"/>
            <a:ext cx="930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Lucida Console" panose="020B0609040504020204" pitchFamily="49" charset="0"/>
              </a:rPr>
              <a:t>2040: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Footer Placeholder 3">
            <a:extLst>
              <a:ext uri="{FF2B5EF4-FFF2-40B4-BE49-F238E27FC236}">
                <a16:creationId xmlns:a16="http://schemas.microsoft.com/office/drawing/2014/main" id="{CDE55D7F-6876-42A8-A21E-16BFF4A5D7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3525E263-7D3E-4BD4-B8FC-A1EE01A1D17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AU" altLang="en-US" sz="1400"/>
          </a:p>
        </p:txBody>
      </p:sp>
      <p:sp>
        <p:nvSpPr>
          <p:cNvPr id="124931" name="Rectangle 6">
            <a:extLst>
              <a:ext uri="{FF2B5EF4-FFF2-40B4-BE49-F238E27FC236}">
                <a16:creationId xmlns:a16="http://schemas.microsoft.com/office/drawing/2014/main" id="{19BB31F3-81EF-4704-B5E4-1B65F7845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Local Data on the Stack</a:t>
            </a:r>
            <a:endParaRPr lang="en-AU" altLang="en-US"/>
          </a:p>
        </p:txBody>
      </p:sp>
      <p:sp>
        <p:nvSpPr>
          <p:cNvPr id="124932" name="Rectangle 7">
            <a:extLst>
              <a:ext uri="{FF2B5EF4-FFF2-40B4-BE49-F238E27FC236}">
                <a16:creationId xmlns:a16="http://schemas.microsoft.com/office/drawing/2014/main" id="{0625671E-8F7E-4A92-9634-015D8A114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581525"/>
            <a:ext cx="8270875" cy="16557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Local data allocated by callee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e.g., C automatic variables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Procedure frame (activation record)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Used by some compilers to manage stack storage</a:t>
            </a:r>
            <a:endParaRPr lang="en-AU" altLang="en-US" sz="2400"/>
          </a:p>
        </p:txBody>
      </p:sp>
      <p:pic>
        <p:nvPicPr>
          <p:cNvPr id="124933" name="Picture 9" descr="f02-12-P374493">
            <a:extLst>
              <a:ext uri="{FF2B5EF4-FFF2-40B4-BE49-F238E27FC236}">
                <a16:creationId xmlns:a16="http://schemas.microsoft.com/office/drawing/2014/main" id="{43F154A1-A6D0-4B08-BECC-23FFB89B2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63" y="1268413"/>
            <a:ext cx="6567487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Footer Placeholder 3">
            <a:extLst>
              <a:ext uri="{FF2B5EF4-FFF2-40B4-BE49-F238E27FC236}">
                <a16:creationId xmlns:a16="http://schemas.microsoft.com/office/drawing/2014/main" id="{67C1DD1A-C042-45B1-913D-01A571CEDD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783DB31B-BBED-4DF5-9E43-ECF4C135F3D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AU" altLang="en-US" sz="1400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FE371BDD-1B89-4B59-8D15-4AD9A7552B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4882" y="117474"/>
            <a:ext cx="8404423" cy="790575"/>
          </a:xfrm>
        </p:spPr>
        <p:txBody>
          <a:bodyPr/>
          <a:lstStyle/>
          <a:p>
            <a:pPr eaLnBrk="1" hangingPunct="1"/>
            <a:r>
              <a:rPr lang="en-US" altLang="en-US" dirty="0"/>
              <a:t>Non-Number Data</a:t>
            </a:r>
            <a:endParaRPr lang="en-AU" altLang="en-US" dirty="0"/>
          </a:p>
        </p:txBody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BA32E366-8136-497B-889E-29C15738A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Byte-encoded character sets</a:t>
            </a:r>
          </a:p>
          <a:p>
            <a:pPr lvl="1" eaLnBrk="1" hangingPunct="1"/>
            <a:r>
              <a:rPr lang="en-US" altLang="en-US"/>
              <a:t>ASCII: 128 characters (7 bits)</a:t>
            </a:r>
          </a:p>
          <a:p>
            <a:pPr lvl="2" eaLnBrk="1" hangingPunct="1"/>
            <a:r>
              <a:rPr lang="en-US" altLang="en-US"/>
              <a:t>95 graphic, 33 control</a:t>
            </a:r>
          </a:p>
          <a:p>
            <a:pPr lvl="1" eaLnBrk="1" hangingPunct="1"/>
            <a:r>
              <a:rPr lang="en-US" altLang="en-US"/>
              <a:t>Latin-1: 256 characters (8 bits)</a:t>
            </a:r>
          </a:p>
          <a:p>
            <a:pPr lvl="2" eaLnBrk="1" hangingPunct="1"/>
            <a:r>
              <a:rPr lang="en-US" altLang="en-US"/>
              <a:t>ASCII, +96 more graphic characters</a:t>
            </a:r>
          </a:p>
          <a:p>
            <a:pPr eaLnBrk="1" hangingPunct="1"/>
            <a:r>
              <a:rPr lang="en-US" altLang="en-US"/>
              <a:t>Unicode: 32-bit character set</a:t>
            </a:r>
          </a:p>
          <a:p>
            <a:pPr lvl="1" eaLnBrk="1" hangingPunct="1"/>
            <a:r>
              <a:rPr lang="en-US" altLang="en-US"/>
              <a:t>Used in Java, C++ wide characters, …</a:t>
            </a:r>
          </a:p>
          <a:p>
            <a:pPr lvl="1" eaLnBrk="1" hangingPunct="1"/>
            <a:r>
              <a:rPr lang="en-US" altLang="en-US"/>
              <a:t>Most of the world’s alphabets, plus symbols</a:t>
            </a:r>
          </a:p>
          <a:p>
            <a:pPr lvl="1" eaLnBrk="1" hangingPunct="1"/>
            <a:r>
              <a:rPr lang="en-US" altLang="en-US"/>
              <a:t>UTF-8, UTF-16: variable-length encodings</a:t>
            </a:r>
            <a:endParaRPr lang="en-AU" altLang="en-US"/>
          </a:p>
        </p:txBody>
      </p:sp>
      <p:sp>
        <p:nvSpPr>
          <p:cNvPr id="129029" name="Text Box 4">
            <a:extLst>
              <a:ext uri="{FF2B5EF4-FFF2-40B4-BE49-F238E27FC236}">
                <a16:creationId xmlns:a16="http://schemas.microsoft.com/office/drawing/2014/main" id="{A6DE1EB7-D0EA-4CFA-8C55-1811BA0812F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198519" y="1578769"/>
            <a:ext cx="3524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§2.9 Communicating with People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Footer Placeholder 3">
            <a:extLst>
              <a:ext uri="{FF2B5EF4-FFF2-40B4-BE49-F238E27FC236}">
                <a16:creationId xmlns:a16="http://schemas.microsoft.com/office/drawing/2014/main" id="{2B12EDC2-803A-41B9-BC0B-9DF7E1423D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F3C3C525-5A52-496B-94DC-3EBAA3447B5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AU" altLang="en-US" sz="1400"/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C219A09B-EA2B-486B-9ACB-65CDDFF06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Byte/Halfword Operations</a:t>
            </a:r>
            <a:endParaRPr lang="en-AU" altLang="en-US"/>
          </a:p>
        </p:txBody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E607A1E5-63C5-45A3-976A-C77F9FDAAC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481138"/>
            <a:ext cx="8548687" cy="45402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MIPS can load and store byte/</a:t>
            </a:r>
            <a:r>
              <a:rPr lang="en-US" altLang="en-US" dirty="0" err="1"/>
              <a:t>halfword</a:t>
            </a:r>
            <a:endParaRPr lang="en-US" altLang="en-US" dirty="0"/>
          </a:p>
          <a:p>
            <a:pPr lvl="1" eaLnBrk="1" hangingPunct="1">
              <a:defRPr/>
            </a:pPr>
            <a:r>
              <a:rPr lang="en-US" altLang="en-US" dirty="0"/>
              <a:t>byte: 8-bit; </a:t>
            </a:r>
            <a:r>
              <a:rPr lang="en-US" altLang="en-US" dirty="0" err="1"/>
              <a:t>halfword</a:t>
            </a:r>
            <a:r>
              <a:rPr lang="en-US" altLang="en-US" dirty="0"/>
              <a:t>: 16-bit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C00000"/>
                </a:solidFill>
              </a:rPr>
              <a:t>Sign</a:t>
            </a:r>
            <a:r>
              <a:rPr lang="en-US" altLang="en-US" dirty="0"/>
              <a:t>-extend to 32 bits in </a:t>
            </a:r>
            <a:r>
              <a:rPr lang="en-US" altLang="en-US" dirty="0" err="1"/>
              <a:t>rt</a:t>
            </a:r>
            <a:r>
              <a:rPr lang="en-US" altLang="en-US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600" dirty="0">
                <a:latin typeface="Lucida Console" panose="020B0609040504020204" pitchFamily="49" charset="0"/>
              </a:rPr>
              <a:t>   </a:t>
            </a:r>
            <a:r>
              <a:rPr lang="en-US" altLang="en-US" sz="2600" dirty="0" err="1">
                <a:latin typeface="Lucida Console" panose="020B0609040504020204" pitchFamily="49" charset="0"/>
              </a:rPr>
              <a:t>lb</a:t>
            </a:r>
            <a:r>
              <a:rPr lang="en-US" altLang="en-US" sz="2600" dirty="0">
                <a:latin typeface="Lucida Console" panose="020B0609040504020204" pitchFamily="49" charset="0"/>
              </a:rPr>
              <a:t> </a:t>
            </a:r>
            <a:r>
              <a:rPr lang="en-US" altLang="en-US" sz="2600" dirty="0" err="1">
                <a:latin typeface="Lucida Console" panose="020B0609040504020204" pitchFamily="49" charset="0"/>
              </a:rPr>
              <a:t>rt</a:t>
            </a:r>
            <a:r>
              <a:rPr lang="en-US" altLang="en-US" sz="2600" dirty="0">
                <a:latin typeface="Lucida Console" panose="020B0609040504020204" pitchFamily="49" charset="0"/>
              </a:rPr>
              <a:t>, offset(</a:t>
            </a:r>
            <a:r>
              <a:rPr lang="en-US" altLang="en-US" sz="2600" dirty="0" err="1">
                <a:latin typeface="Lucida Console" panose="020B0609040504020204" pitchFamily="49" charset="0"/>
              </a:rPr>
              <a:t>rs</a:t>
            </a:r>
            <a:r>
              <a:rPr lang="en-US" altLang="en-US" sz="2600" dirty="0">
                <a:latin typeface="Lucida Console" panose="020B0609040504020204" pitchFamily="49" charset="0"/>
              </a:rPr>
              <a:t>); </a:t>
            </a:r>
            <a:r>
              <a:rPr lang="en-US" altLang="en-US" sz="2600" dirty="0" err="1">
                <a:latin typeface="Lucida Console" panose="020B0609040504020204" pitchFamily="49" charset="0"/>
              </a:rPr>
              <a:t>lh</a:t>
            </a:r>
            <a:r>
              <a:rPr lang="en-US" altLang="en-US" sz="2600" dirty="0">
                <a:latin typeface="Lucida Console" panose="020B0609040504020204" pitchFamily="49" charset="0"/>
              </a:rPr>
              <a:t> </a:t>
            </a:r>
            <a:r>
              <a:rPr lang="en-US" altLang="en-US" sz="2600" dirty="0" err="1">
                <a:latin typeface="Lucida Console" panose="020B0609040504020204" pitchFamily="49" charset="0"/>
              </a:rPr>
              <a:t>rt</a:t>
            </a:r>
            <a:r>
              <a:rPr lang="en-US" altLang="en-US" sz="2600" dirty="0">
                <a:latin typeface="Lucida Console" panose="020B0609040504020204" pitchFamily="49" charset="0"/>
              </a:rPr>
              <a:t>, offset(</a:t>
            </a:r>
            <a:r>
              <a:rPr lang="en-US" altLang="en-US" sz="2600" dirty="0" err="1">
                <a:latin typeface="Lucida Console" panose="020B0609040504020204" pitchFamily="49" charset="0"/>
              </a:rPr>
              <a:t>rs</a:t>
            </a:r>
            <a:r>
              <a:rPr lang="en-US" altLang="en-US" sz="2600" dirty="0">
                <a:latin typeface="Lucida Console" panose="020B0609040504020204" pitchFamily="49" charset="0"/>
              </a:rPr>
              <a:t>)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C00000"/>
                </a:solidFill>
              </a:rPr>
              <a:t>Zero</a:t>
            </a:r>
            <a:r>
              <a:rPr lang="en-US" altLang="en-US" dirty="0"/>
              <a:t>-extend to 32 bits in </a:t>
            </a:r>
            <a:r>
              <a:rPr lang="en-US" altLang="en-US" dirty="0" err="1"/>
              <a:t>rt</a:t>
            </a:r>
            <a:r>
              <a:rPr lang="en-US" altLang="en-US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600" dirty="0">
                <a:latin typeface="Lucida Console" panose="020B0609040504020204" pitchFamily="49" charset="0"/>
              </a:rPr>
              <a:t>   </a:t>
            </a:r>
            <a:r>
              <a:rPr lang="en-US" altLang="en-US" sz="2600" dirty="0" err="1">
                <a:latin typeface="Lucida Console" panose="020B0609040504020204" pitchFamily="49" charset="0"/>
              </a:rPr>
              <a:t>lbu</a:t>
            </a:r>
            <a:r>
              <a:rPr lang="en-US" altLang="en-US" sz="2600" dirty="0">
                <a:latin typeface="Lucida Console" panose="020B0609040504020204" pitchFamily="49" charset="0"/>
              </a:rPr>
              <a:t> </a:t>
            </a:r>
            <a:r>
              <a:rPr lang="en-US" altLang="en-US" sz="2600" dirty="0" err="1">
                <a:latin typeface="Lucida Console" panose="020B0609040504020204" pitchFamily="49" charset="0"/>
              </a:rPr>
              <a:t>rt</a:t>
            </a:r>
            <a:r>
              <a:rPr lang="en-US" altLang="en-US" sz="2600" dirty="0">
                <a:latin typeface="Lucida Console" panose="020B0609040504020204" pitchFamily="49" charset="0"/>
              </a:rPr>
              <a:t>, offset(</a:t>
            </a:r>
            <a:r>
              <a:rPr lang="en-US" altLang="en-US" sz="2600" dirty="0" err="1">
                <a:latin typeface="Lucida Console" panose="020B0609040504020204" pitchFamily="49" charset="0"/>
              </a:rPr>
              <a:t>rs</a:t>
            </a:r>
            <a:r>
              <a:rPr lang="en-US" altLang="en-US" sz="2600" dirty="0">
                <a:latin typeface="Lucida Console" panose="020B0609040504020204" pitchFamily="49" charset="0"/>
              </a:rPr>
              <a:t>); </a:t>
            </a:r>
            <a:r>
              <a:rPr lang="en-US" altLang="en-US" sz="2600" dirty="0" err="1">
                <a:latin typeface="Lucida Console" panose="020B0609040504020204" pitchFamily="49" charset="0"/>
              </a:rPr>
              <a:t>lhu</a:t>
            </a:r>
            <a:r>
              <a:rPr lang="en-US" altLang="en-US" sz="2600" dirty="0">
                <a:latin typeface="Lucida Console" panose="020B0609040504020204" pitchFamily="49" charset="0"/>
              </a:rPr>
              <a:t> </a:t>
            </a:r>
            <a:r>
              <a:rPr lang="en-US" altLang="en-US" sz="2600" dirty="0" err="1">
                <a:latin typeface="Lucida Console" panose="020B0609040504020204" pitchFamily="49" charset="0"/>
              </a:rPr>
              <a:t>rt</a:t>
            </a:r>
            <a:r>
              <a:rPr lang="en-US" altLang="en-US" sz="2600" dirty="0">
                <a:latin typeface="Lucida Console" panose="020B0609040504020204" pitchFamily="49" charset="0"/>
              </a:rPr>
              <a:t>, offset(</a:t>
            </a:r>
            <a:r>
              <a:rPr lang="en-US" altLang="en-US" sz="2600" dirty="0" err="1">
                <a:latin typeface="Lucida Console" panose="020B0609040504020204" pitchFamily="49" charset="0"/>
              </a:rPr>
              <a:t>rs</a:t>
            </a:r>
            <a:r>
              <a:rPr lang="en-US" altLang="en-US" sz="2600" dirty="0">
                <a:latin typeface="Lucida Console" panose="020B0609040504020204" pitchFamily="49" charset="0"/>
              </a:rPr>
              <a:t>)</a:t>
            </a:r>
          </a:p>
          <a:p>
            <a:pPr lvl="1" eaLnBrk="1" hangingPunct="1">
              <a:defRPr/>
            </a:pPr>
            <a:r>
              <a:rPr lang="en-US" altLang="en-US" dirty="0"/>
              <a:t>Store just rightmost byte/</a:t>
            </a:r>
            <a:r>
              <a:rPr lang="en-US" altLang="en-US" dirty="0" err="1"/>
              <a:t>halfword</a:t>
            </a:r>
            <a:r>
              <a:rPr lang="en-US" altLang="en-US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600" dirty="0">
                <a:latin typeface="Lucida Console" panose="020B0609040504020204" pitchFamily="49" charset="0"/>
              </a:rPr>
              <a:t>   </a:t>
            </a:r>
            <a:r>
              <a:rPr lang="en-US" altLang="en-US" sz="2600" dirty="0" err="1">
                <a:latin typeface="Lucida Console" panose="020B0609040504020204" pitchFamily="49" charset="0"/>
              </a:rPr>
              <a:t>sb</a:t>
            </a:r>
            <a:r>
              <a:rPr lang="en-US" altLang="en-US" sz="2600" dirty="0">
                <a:latin typeface="Lucida Console" panose="020B0609040504020204" pitchFamily="49" charset="0"/>
              </a:rPr>
              <a:t> </a:t>
            </a:r>
            <a:r>
              <a:rPr lang="en-US" altLang="en-US" sz="2600" dirty="0" err="1">
                <a:latin typeface="Lucida Console" panose="020B0609040504020204" pitchFamily="49" charset="0"/>
              </a:rPr>
              <a:t>rt</a:t>
            </a:r>
            <a:r>
              <a:rPr lang="en-US" altLang="en-US" sz="2600" dirty="0">
                <a:latin typeface="Lucida Console" panose="020B0609040504020204" pitchFamily="49" charset="0"/>
              </a:rPr>
              <a:t>, offset(</a:t>
            </a:r>
            <a:r>
              <a:rPr lang="en-US" altLang="en-US" sz="2600" dirty="0" err="1">
                <a:latin typeface="Lucida Console" panose="020B0609040504020204" pitchFamily="49" charset="0"/>
              </a:rPr>
              <a:t>rs</a:t>
            </a:r>
            <a:r>
              <a:rPr lang="en-US" altLang="en-US" sz="2600" dirty="0">
                <a:latin typeface="Lucida Console" panose="020B0609040504020204" pitchFamily="49" charset="0"/>
              </a:rPr>
              <a:t>); </a:t>
            </a:r>
            <a:r>
              <a:rPr lang="en-US" altLang="en-US" sz="2600" dirty="0" err="1">
                <a:latin typeface="Lucida Console" panose="020B0609040504020204" pitchFamily="49" charset="0"/>
              </a:rPr>
              <a:t>sh</a:t>
            </a:r>
            <a:r>
              <a:rPr lang="en-US" altLang="en-US" sz="2600" dirty="0">
                <a:latin typeface="Lucida Console" panose="020B0609040504020204" pitchFamily="49" charset="0"/>
              </a:rPr>
              <a:t> </a:t>
            </a:r>
            <a:r>
              <a:rPr lang="en-US" altLang="en-US" sz="2600" dirty="0" err="1">
                <a:latin typeface="Lucida Console" panose="020B0609040504020204" pitchFamily="49" charset="0"/>
              </a:rPr>
              <a:t>rt</a:t>
            </a:r>
            <a:r>
              <a:rPr lang="en-US" altLang="en-US" sz="2600" dirty="0">
                <a:latin typeface="Lucida Console" panose="020B0609040504020204" pitchFamily="49" charset="0"/>
              </a:rPr>
              <a:t>, offset(</a:t>
            </a:r>
            <a:r>
              <a:rPr lang="en-US" altLang="en-US" sz="2600" dirty="0" err="1">
                <a:latin typeface="Lucida Console" panose="020B0609040504020204" pitchFamily="49" charset="0"/>
              </a:rPr>
              <a:t>rs</a:t>
            </a:r>
            <a:r>
              <a:rPr lang="en-US" altLang="en-US" sz="2600" dirty="0">
                <a:latin typeface="Lucida Console" panose="020B0609040504020204" pitchFamily="49" charset="0"/>
              </a:rPr>
              <a:t>)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endParaRPr lang="en-AU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Footer Placeholder 3">
            <a:extLst>
              <a:ext uri="{FF2B5EF4-FFF2-40B4-BE49-F238E27FC236}">
                <a16:creationId xmlns:a16="http://schemas.microsoft.com/office/drawing/2014/main" id="{A6DCFEB9-A9E0-4847-98DB-36DE68021B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80F23130-ACA6-4CB1-ADB2-9E4B278B38C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AU" altLang="en-US" sz="1400"/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03D960A5-4A1B-4345-83C9-5F332F341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String Copy Example</a:t>
            </a:r>
            <a:endParaRPr lang="en-AU" altLang="en-US"/>
          </a:p>
        </p:txBody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B895A551-A463-4433-9A14-60123EA1D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 code (naïve):</a:t>
            </a:r>
          </a:p>
          <a:p>
            <a:pPr lvl="1" eaLnBrk="1" hangingPunct="1"/>
            <a:r>
              <a:rPr lang="en-US" altLang="en-US" dirty="0"/>
              <a:t>Null-terminated string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	void </a:t>
            </a:r>
            <a:r>
              <a:rPr lang="en-US" altLang="en-US" sz="2800" dirty="0" err="1">
                <a:latin typeface="Lucida Console" panose="020B0609040504020204" pitchFamily="49" charset="0"/>
              </a:rPr>
              <a:t>strcpy</a:t>
            </a:r>
            <a:r>
              <a:rPr lang="en-US" altLang="en-US" sz="2800" dirty="0">
                <a:latin typeface="Lucida Console" panose="020B0609040504020204" pitchFamily="49" charset="0"/>
              </a:rPr>
              <a:t> (char x[], char y[])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{ int </a:t>
            </a:r>
            <a:r>
              <a:rPr lang="en-US" altLang="en-US" sz="2800" dirty="0" err="1"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latin typeface="Lucida Console" panose="020B0609040504020204" pitchFamily="49" charset="0"/>
              </a:rPr>
              <a:t>;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</a:t>
            </a:r>
            <a:r>
              <a:rPr lang="en-US" altLang="en-US" sz="2800" dirty="0" err="1"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latin typeface="Lucida Console" panose="020B0609040504020204" pitchFamily="49" charset="0"/>
              </a:rPr>
              <a:t> = 0;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while ((x[</a:t>
            </a:r>
            <a:r>
              <a:rPr lang="en-US" altLang="en-US" sz="2800" dirty="0" err="1"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latin typeface="Lucida Console" panose="020B0609040504020204" pitchFamily="49" charset="0"/>
              </a:rPr>
              <a:t>]=y[</a:t>
            </a:r>
            <a:r>
              <a:rPr lang="en-US" altLang="en-US" sz="2800" dirty="0" err="1"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latin typeface="Lucida Console" panose="020B0609040504020204" pitchFamily="49" charset="0"/>
              </a:rPr>
              <a:t>])!='\0')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 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latin typeface="Lucida Console" panose="020B0609040504020204" pitchFamily="49" charset="0"/>
              </a:rPr>
              <a:t>++;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latin typeface="Lucida Console" panose="020B0609040504020204" pitchFamily="49" charset="0"/>
              </a:rPr>
              <a:t>}</a:t>
            </a:r>
          </a:p>
          <a:p>
            <a:pPr lvl="1" eaLnBrk="1" hangingPunct="1"/>
            <a:r>
              <a:rPr lang="en-US" altLang="en-US" dirty="0"/>
              <a:t>Addresses of x, y in $a0, $a1</a:t>
            </a:r>
          </a:p>
          <a:p>
            <a:pPr lvl="1" eaLnBrk="1" hangingPunct="1"/>
            <a:r>
              <a:rPr lang="en-US" altLang="en-US" dirty="0" err="1"/>
              <a:t>i</a:t>
            </a:r>
            <a:r>
              <a:rPr lang="en-US" altLang="en-US" dirty="0"/>
              <a:t> in $s0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Footer Placeholder 3">
            <a:extLst>
              <a:ext uri="{FF2B5EF4-FFF2-40B4-BE49-F238E27FC236}">
                <a16:creationId xmlns:a16="http://schemas.microsoft.com/office/drawing/2014/main" id="{E9DAD716-6C4B-4923-8362-E889F1300F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97807CC-383A-4129-87A7-AEE17A4ABD3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AU" altLang="en-US" sz="1400"/>
          </a:p>
        </p:txBody>
      </p:sp>
      <p:sp>
        <p:nvSpPr>
          <p:cNvPr id="135171" name="Rectangle 4">
            <a:extLst>
              <a:ext uri="{FF2B5EF4-FFF2-40B4-BE49-F238E27FC236}">
                <a16:creationId xmlns:a16="http://schemas.microsoft.com/office/drawing/2014/main" id="{7D235CD8-93EC-41DF-A14F-90955FA02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1657350"/>
            <a:ext cx="7477125" cy="279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5172" name="Rectangle 5">
            <a:extLst>
              <a:ext uri="{FF2B5EF4-FFF2-40B4-BE49-F238E27FC236}">
                <a16:creationId xmlns:a16="http://schemas.microsoft.com/office/drawing/2014/main" id="{9F1A24C8-B452-43A2-A5A0-635266C62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1936750"/>
            <a:ext cx="7477125" cy="5461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5173" name="Rectangle 6">
            <a:extLst>
              <a:ext uri="{FF2B5EF4-FFF2-40B4-BE49-F238E27FC236}">
                <a16:creationId xmlns:a16="http://schemas.microsoft.com/office/drawing/2014/main" id="{D79BFD11-252F-4EE7-8FD2-C8427D408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2482850"/>
            <a:ext cx="7477125" cy="279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5174" name="Rectangle 7">
            <a:extLst>
              <a:ext uri="{FF2B5EF4-FFF2-40B4-BE49-F238E27FC236}">
                <a16:creationId xmlns:a16="http://schemas.microsoft.com/office/drawing/2014/main" id="{B6501C05-D666-4500-9F62-1CB2BB35C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2762250"/>
            <a:ext cx="7477125" cy="5397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5175" name="Rectangle 8">
            <a:extLst>
              <a:ext uri="{FF2B5EF4-FFF2-40B4-BE49-F238E27FC236}">
                <a16:creationId xmlns:a16="http://schemas.microsoft.com/office/drawing/2014/main" id="{673807E4-CD2D-4A10-B6AE-30C65DAB5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3302000"/>
            <a:ext cx="7477125" cy="558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5176" name="Rectangle 9">
            <a:extLst>
              <a:ext uri="{FF2B5EF4-FFF2-40B4-BE49-F238E27FC236}">
                <a16:creationId xmlns:a16="http://schemas.microsoft.com/office/drawing/2014/main" id="{51BF6621-3C26-46D8-B61B-DE6D07A8B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3860800"/>
            <a:ext cx="7477125" cy="2730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5177" name="Rectangle 10">
            <a:extLst>
              <a:ext uri="{FF2B5EF4-FFF2-40B4-BE49-F238E27FC236}">
                <a16:creationId xmlns:a16="http://schemas.microsoft.com/office/drawing/2014/main" id="{6D32E51F-CD3C-4871-B962-08BBE811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4133850"/>
            <a:ext cx="7477125" cy="5524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5178" name="Rectangle 11">
            <a:extLst>
              <a:ext uri="{FF2B5EF4-FFF2-40B4-BE49-F238E27FC236}">
                <a16:creationId xmlns:a16="http://schemas.microsoft.com/office/drawing/2014/main" id="{47682E01-4C6C-4961-B285-BBCAC850D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4686300"/>
            <a:ext cx="7477125" cy="5524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5179" name="Rectangle 12">
            <a:extLst>
              <a:ext uri="{FF2B5EF4-FFF2-40B4-BE49-F238E27FC236}">
                <a16:creationId xmlns:a16="http://schemas.microsoft.com/office/drawing/2014/main" id="{C23CEFF5-DF1E-4C3D-9406-857150A5A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5238750"/>
            <a:ext cx="7477125" cy="2857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5180" name="Rectangle 2">
            <a:extLst>
              <a:ext uri="{FF2B5EF4-FFF2-40B4-BE49-F238E27FC236}">
                <a16:creationId xmlns:a16="http://schemas.microsoft.com/office/drawing/2014/main" id="{0A08AAA2-8EC0-42F8-9A5D-72731B610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String Copy Example</a:t>
            </a:r>
            <a:endParaRPr lang="en-AU" altLang="en-US"/>
          </a:p>
        </p:txBody>
      </p:sp>
      <p:sp>
        <p:nvSpPr>
          <p:cNvPr id="135181" name="Rectangle 3">
            <a:extLst>
              <a:ext uri="{FF2B5EF4-FFF2-40B4-BE49-F238E27FC236}">
                <a16:creationId xmlns:a16="http://schemas.microsoft.com/office/drawing/2014/main" id="{13E5B962-3384-4B71-B76E-BF93B7C22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MIPS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	strcpy: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addi $sp, $sp, -4      # adjust stack for 1 item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sw   $s0, 0($sp)       # save $s0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add  $s0, $zero, $zero # i = 0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L1: add  $t1, $s0, $a1     # addr of y[i] in $t1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lbu  $t2, 0($t1)       # $t2 = y[i]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add  $t3, $s0, $a0     # addr of x[i] in $t3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sb   $t2, 0($t3)       # x[i] = y[i]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beq  $t2, $zero, L2    # exit loop if y[i] == 0  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addi $s0, $s0, 1       # i = i + 1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j    L1                # next iteration of loop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L2: lw   $s0, 0($sp)       # restore saved $s0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addi $sp, $sp, 4       # pop 1 item from stack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jr   $ra               # and return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D2B7B-ECBA-4BD9-B431-143CBC6300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C4F54A24-E686-45E7-A922-03287376FB3B}" type="slidenum">
              <a:rPr lang="en-AU" altLang="en-US" smtClean="0"/>
              <a:pPr>
                <a:defRPr/>
              </a:pPr>
              <a:t>71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4142592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1">
            <a:extLst>
              <a:ext uri="{FF2B5EF4-FFF2-40B4-BE49-F238E27FC236}">
                <a16:creationId xmlns:a16="http://schemas.microsoft.com/office/drawing/2014/main" id="{3D869765-9E04-4873-8F9E-70743F2A1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7706" y="4411659"/>
            <a:ext cx="2522537" cy="411162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7218" name="Footer Placeholder 3">
            <a:extLst>
              <a:ext uri="{FF2B5EF4-FFF2-40B4-BE49-F238E27FC236}">
                <a16:creationId xmlns:a16="http://schemas.microsoft.com/office/drawing/2014/main" id="{52A3336E-6E85-4795-9CEA-689F0313A2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AB879D06-9283-4174-BEEF-A08CD3A9FF5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AU" altLang="en-US" sz="1400"/>
          </a:p>
        </p:txBody>
      </p:sp>
      <p:sp>
        <p:nvSpPr>
          <p:cNvPr id="137219" name="Rectangle 11">
            <a:extLst>
              <a:ext uri="{FF2B5EF4-FFF2-40B4-BE49-F238E27FC236}">
                <a16:creationId xmlns:a16="http://schemas.microsoft.com/office/drawing/2014/main" id="{1435D760-5ACA-4FD5-A5A7-85A73BBEE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9242" y="4868863"/>
            <a:ext cx="2522537" cy="411162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7220" name="Text Box 4">
            <a:extLst>
              <a:ext uri="{FF2B5EF4-FFF2-40B4-BE49-F238E27FC236}">
                <a16:creationId xmlns:a16="http://schemas.microsoft.com/office/drawing/2014/main" id="{07D296DF-91C4-4BCA-9C92-8EF38CB5A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242" y="4880030"/>
            <a:ext cx="51625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0000 0000 0011 1101 0000 0000 0000 0000</a:t>
            </a:r>
            <a:endParaRPr lang="en-AU" altLang="en-US" sz="2000" dirty="0"/>
          </a:p>
        </p:txBody>
      </p:sp>
      <p:sp>
        <p:nvSpPr>
          <p:cNvPr id="137221" name="Rectangle 12">
            <a:extLst>
              <a:ext uri="{FF2B5EF4-FFF2-40B4-BE49-F238E27FC236}">
                <a16:creationId xmlns:a16="http://schemas.microsoft.com/office/drawing/2014/main" id="{DC0E6F92-53E8-4BD1-B565-767ABB1C1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1779" y="5516563"/>
            <a:ext cx="2633663" cy="411162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7222" name="Rectangle 9">
            <a:extLst>
              <a:ext uri="{FF2B5EF4-FFF2-40B4-BE49-F238E27FC236}">
                <a16:creationId xmlns:a16="http://schemas.microsoft.com/office/drawing/2014/main" id="{B7B5B57E-682A-4712-9F92-56F19BD58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32-bit Constants</a:t>
            </a:r>
            <a:endParaRPr lang="en-AU" altLang="en-US"/>
          </a:p>
        </p:txBody>
      </p:sp>
      <p:sp>
        <p:nvSpPr>
          <p:cNvPr id="137223" name="Rectangle 10">
            <a:extLst>
              <a:ext uri="{FF2B5EF4-FFF2-40B4-BE49-F238E27FC236}">
                <a16:creationId xmlns:a16="http://schemas.microsoft.com/office/drawing/2014/main" id="{C91F9275-9C78-4B91-A7C9-E1FF040CB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8625" y="1125538"/>
            <a:ext cx="8415338" cy="3455987"/>
          </a:xfrm>
        </p:spPr>
        <p:txBody>
          <a:bodyPr/>
          <a:lstStyle/>
          <a:p>
            <a:pPr eaLnBrk="1" hangingPunct="1"/>
            <a:r>
              <a:rPr lang="en-US" altLang="en-US" dirty="0"/>
              <a:t>Most constants are small (a fact of life)</a:t>
            </a:r>
          </a:p>
          <a:p>
            <a:pPr lvl="1" eaLnBrk="1" hangingPunct="1"/>
            <a:r>
              <a:rPr lang="en-US" altLang="en-US" dirty="0"/>
              <a:t>16-bit immediate is sufficient</a:t>
            </a:r>
          </a:p>
          <a:p>
            <a:pPr eaLnBrk="1" hangingPunct="1"/>
            <a:r>
              <a:rPr lang="en-US" altLang="en-US" dirty="0"/>
              <a:t>For the (occasional) large 32-bit constant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</a:t>
            </a:r>
            <a:r>
              <a:rPr lang="en-US" altLang="en-US" dirty="0" err="1">
                <a:latin typeface="Lucida Console" panose="020B0609040504020204" pitchFamily="49" charset="0"/>
              </a:rPr>
              <a:t>lui</a:t>
            </a:r>
            <a:r>
              <a:rPr lang="en-US" altLang="en-US" dirty="0">
                <a:latin typeface="Lucida Console" panose="020B0609040504020204" pitchFamily="49" charset="0"/>
              </a:rPr>
              <a:t> rt, const # load upper-half</a:t>
            </a:r>
          </a:p>
          <a:p>
            <a:pPr lvl="1" eaLnBrk="1" hangingPunct="1"/>
            <a:r>
              <a:rPr lang="en-US" altLang="en-US" dirty="0"/>
              <a:t>Copies 16-bit constant to left 16 bits of rt</a:t>
            </a:r>
          </a:p>
          <a:p>
            <a:pPr lvl="1" eaLnBrk="1" hangingPunct="1"/>
            <a:r>
              <a:rPr lang="en-US" altLang="en-US" dirty="0"/>
              <a:t>Clears right 16 bits of rt to 0</a:t>
            </a:r>
            <a:endParaRPr lang="en-AU" altLang="en-US" dirty="0"/>
          </a:p>
        </p:txBody>
      </p:sp>
      <p:sp>
        <p:nvSpPr>
          <p:cNvPr id="137224" name="Text Box 5">
            <a:extLst>
              <a:ext uri="{FF2B5EF4-FFF2-40B4-BE49-F238E27FC236}">
                <a16:creationId xmlns:a16="http://schemas.microsoft.com/office/drawing/2014/main" id="{6F3832D2-D099-4330-8BFA-922A64BAE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38" y="4879975"/>
            <a:ext cx="20351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 err="1">
                <a:latin typeface="Lucida Console" panose="020B0609040504020204" pitchFamily="49" charset="0"/>
              </a:rPr>
              <a:t>lui</a:t>
            </a:r>
            <a:r>
              <a:rPr lang="en-US" altLang="en-US" sz="2200" dirty="0">
                <a:latin typeface="Lucida Console" panose="020B0609040504020204" pitchFamily="49" charset="0"/>
              </a:rPr>
              <a:t> $s0, 61</a:t>
            </a:r>
            <a:endParaRPr lang="en-AU" altLang="en-US" sz="2200" dirty="0">
              <a:latin typeface="Lucida Console" panose="020B0609040504020204" pitchFamily="49" charset="0"/>
            </a:endParaRPr>
          </a:p>
        </p:txBody>
      </p:sp>
      <p:sp>
        <p:nvSpPr>
          <p:cNvPr id="137225" name="Text Box 6">
            <a:extLst>
              <a:ext uri="{FF2B5EF4-FFF2-40B4-BE49-F238E27FC236}">
                <a16:creationId xmlns:a16="http://schemas.microsoft.com/office/drawing/2014/main" id="{D99DC898-0A4A-413F-A7B5-26B90E267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066" y="5521325"/>
            <a:ext cx="5160963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0000 0000 0011 1101 0000 1001 0000 0000</a:t>
            </a:r>
            <a:endParaRPr lang="en-AU" altLang="en-US" sz="2000"/>
          </a:p>
        </p:txBody>
      </p:sp>
      <p:sp>
        <p:nvSpPr>
          <p:cNvPr id="137226" name="Text Box 7">
            <a:extLst>
              <a:ext uri="{FF2B5EF4-FFF2-40B4-BE49-F238E27FC236}">
                <a16:creationId xmlns:a16="http://schemas.microsoft.com/office/drawing/2014/main" id="{41925649-281C-4378-9B7F-7420D3D7B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38" y="5527675"/>
            <a:ext cx="32131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 err="1">
                <a:latin typeface="Lucida Console" panose="020B0609040504020204" pitchFamily="49" charset="0"/>
              </a:rPr>
              <a:t>ori</a:t>
            </a:r>
            <a:r>
              <a:rPr lang="en-US" altLang="en-US" sz="2200" dirty="0">
                <a:latin typeface="Lucida Console" panose="020B0609040504020204" pitchFamily="49" charset="0"/>
              </a:rPr>
              <a:t> $s0, $s0, 2304</a:t>
            </a:r>
            <a:endParaRPr lang="en-AU" altLang="en-US" sz="2200" dirty="0">
              <a:latin typeface="Lucida Console" panose="020B0609040504020204" pitchFamily="49" charset="0"/>
            </a:endParaRPr>
          </a:p>
        </p:txBody>
      </p:sp>
      <p:sp>
        <p:nvSpPr>
          <p:cNvPr id="137227" name="Text Box 8">
            <a:extLst>
              <a:ext uri="{FF2B5EF4-FFF2-40B4-BE49-F238E27FC236}">
                <a16:creationId xmlns:a16="http://schemas.microsoft.com/office/drawing/2014/main" id="{6E37D5B3-FA5B-40F4-8141-DD4D24FD8E7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57069" y="3020219"/>
            <a:ext cx="6407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§2.10 MIPS Addressing for 32-Bit Immediates and Addresses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C054F879-B566-43DA-8074-E57A35942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9397" y="4414036"/>
            <a:ext cx="2522537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61</a:t>
            </a:r>
            <a:endParaRPr lang="en-AU" altLang="en-US" sz="2000" dirty="0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FEBA32EE-7EBE-46D2-8D0E-C64F3504D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247" y="5977994"/>
            <a:ext cx="2612091" cy="411162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86E67C4F-EEA3-4B9C-944B-6587242DE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938" y="5980371"/>
            <a:ext cx="2612091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2304</a:t>
            </a:r>
            <a:endParaRPr lang="en-AU" alt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Footer Placeholder 3">
            <a:extLst>
              <a:ext uri="{FF2B5EF4-FFF2-40B4-BE49-F238E27FC236}">
                <a16:creationId xmlns:a16="http://schemas.microsoft.com/office/drawing/2014/main" id="{3F39AC22-177A-4B56-BE49-CA2D54FCD3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286038C0-CE0D-4CF5-B512-4DD34AEEAAC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AU" altLang="en-US" sz="1400"/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CEBB4878-CDF1-4A9F-9B17-14BFF3873F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Branch Addressing</a:t>
            </a:r>
            <a:endParaRPr lang="en-AU" altLang="en-US"/>
          </a:p>
        </p:txBody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6C87185A-1F9F-4B71-A095-D3EB4F637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27113"/>
            <a:ext cx="8270875" cy="26892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Branch instructions specify</a:t>
            </a:r>
          </a:p>
          <a:p>
            <a:pPr lvl="1" eaLnBrk="1" hangingPunct="1">
              <a:defRPr/>
            </a:pPr>
            <a:r>
              <a:rPr lang="en-US" altLang="en-US" dirty="0"/>
              <a:t>Opcode, two registers, target address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(Ex. </a:t>
            </a:r>
            <a:r>
              <a:rPr lang="en-US" altLang="en-US" dirty="0" err="1"/>
              <a:t>beq</a:t>
            </a:r>
            <a:r>
              <a:rPr lang="en-US" altLang="en-US" dirty="0"/>
              <a:t> $2, $3, L1)</a:t>
            </a:r>
          </a:p>
          <a:p>
            <a:pPr eaLnBrk="1" hangingPunct="1">
              <a:defRPr/>
            </a:pPr>
            <a:r>
              <a:rPr lang="en-US" altLang="en-US" dirty="0"/>
              <a:t>Most branch targets are to a </a:t>
            </a:r>
            <a:r>
              <a:rPr lang="en-US" altLang="en-US" i="1" dirty="0"/>
              <a:t>near target</a:t>
            </a:r>
          </a:p>
          <a:p>
            <a:pPr lvl="1" eaLnBrk="1" hangingPunct="1">
              <a:defRPr/>
            </a:pPr>
            <a:r>
              <a:rPr lang="en-US" altLang="en-US" dirty="0"/>
              <a:t>Forward or backward</a:t>
            </a:r>
            <a:endParaRPr lang="en-AU" altLang="en-US" dirty="0"/>
          </a:p>
        </p:txBody>
      </p:sp>
      <p:grpSp>
        <p:nvGrpSpPr>
          <p:cNvPr id="139269" name="Group 4">
            <a:extLst>
              <a:ext uri="{FF2B5EF4-FFF2-40B4-BE49-F238E27FC236}">
                <a16:creationId xmlns:a16="http://schemas.microsoft.com/office/drawing/2014/main" id="{AFC2FD4D-FD50-42E6-ABBC-C56781515157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857625"/>
            <a:ext cx="6913563" cy="773113"/>
            <a:chOff x="884" y="981"/>
            <a:chExt cx="4355" cy="487"/>
          </a:xfrm>
        </p:grpSpPr>
        <p:sp>
          <p:nvSpPr>
            <p:cNvPr id="139270" name="Text Box 5">
              <a:extLst>
                <a:ext uri="{FF2B5EF4-FFF2-40B4-BE49-F238E27FC236}">
                  <a16:creationId xmlns:a16="http://schemas.microsoft.com/office/drawing/2014/main" id="{4C734CAF-7170-46E3-92CD-FADEF50B9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</a:t>
              </a:r>
              <a:endParaRPr lang="en-AU" altLang="en-US" sz="2000"/>
            </a:p>
          </p:txBody>
        </p:sp>
        <p:sp>
          <p:nvSpPr>
            <p:cNvPr id="139271" name="Text Box 6">
              <a:extLst>
                <a:ext uri="{FF2B5EF4-FFF2-40B4-BE49-F238E27FC236}">
                  <a16:creationId xmlns:a16="http://schemas.microsoft.com/office/drawing/2014/main" id="{06C58770-523C-41E6-B64A-3A0360864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139272" name="Text Box 7">
              <a:extLst>
                <a:ext uri="{FF2B5EF4-FFF2-40B4-BE49-F238E27FC236}">
                  <a16:creationId xmlns:a16="http://schemas.microsoft.com/office/drawing/2014/main" id="{2891C95B-4418-4E29-9E24-C7F2719C7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139273" name="Text Box 8">
              <a:extLst>
                <a:ext uri="{FF2B5EF4-FFF2-40B4-BE49-F238E27FC236}">
                  <a16:creationId xmlns:a16="http://schemas.microsoft.com/office/drawing/2014/main" id="{A80D5431-4ECC-4DBD-A33C-CF15EAFC84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address (offset)</a:t>
              </a:r>
              <a:endParaRPr lang="en-AU" altLang="en-US" sz="2000"/>
            </a:p>
          </p:txBody>
        </p:sp>
        <p:sp>
          <p:nvSpPr>
            <p:cNvPr id="139274" name="Text Box 9">
              <a:extLst>
                <a:ext uri="{FF2B5EF4-FFF2-40B4-BE49-F238E27FC236}">
                  <a16:creationId xmlns:a16="http://schemas.microsoft.com/office/drawing/2014/main" id="{D04C51A3-4755-4ABC-8286-0F94323E1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139275" name="Text Box 10">
              <a:extLst>
                <a:ext uri="{FF2B5EF4-FFF2-40B4-BE49-F238E27FC236}">
                  <a16:creationId xmlns:a16="http://schemas.microsoft.com/office/drawing/2014/main" id="{4D4A8865-2D1F-45D6-AA86-6C9A5ADEE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39276" name="Text Box 11">
              <a:extLst>
                <a:ext uri="{FF2B5EF4-FFF2-40B4-BE49-F238E27FC236}">
                  <a16:creationId xmlns:a16="http://schemas.microsoft.com/office/drawing/2014/main" id="{3BE4B92A-72F4-45AC-AF71-167A79763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39277" name="Text Box 12">
              <a:extLst>
                <a:ext uri="{FF2B5EF4-FFF2-40B4-BE49-F238E27FC236}">
                  <a16:creationId xmlns:a16="http://schemas.microsoft.com/office/drawing/2014/main" id="{1D197398-85ED-481A-BD73-AA52C2526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16 bits</a:t>
              </a:r>
              <a:endParaRPr lang="en-AU" altLang="en-US" sz="1600"/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Footer Placeholder 3">
            <a:extLst>
              <a:ext uri="{FF2B5EF4-FFF2-40B4-BE49-F238E27FC236}">
                <a16:creationId xmlns:a16="http://schemas.microsoft.com/office/drawing/2014/main" id="{8E3428AF-5A3C-408D-86CA-BD5783DCBD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87BAFD3-9D14-4DE7-9070-FB151EA7DB1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AU" altLang="en-US" sz="1400"/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0943B726-D18A-4E39-A8B0-1F6E4303E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Branch Addressing</a:t>
            </a:r>
            <a:endParaRPr lang="en-AU" altLang="en-US"/>
          </a:p>
        </p:txBody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E24B4D7A-B89E-4DCC-B176-AA13A072F9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27113"/>
            <a:ext cx="8270875" cy="26892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Branch instructions specify</a:t>
            </a:r>
          </a:p>
          <a:p>
            <a:pPr lvl="1" eaLnBrk="1" hangingPunct="1">
              <a:defRPr/>
            </a:pPr>
            <a:r>
              <a:rPr lang="en-US" altLang="en-US" dirty="0"/>
              <a:t>Opcode, two registers, target address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(Ex. </a:t>
            </a:r>
            <a:r>
              <a:rPr lang="en-US" altLang="en-US" dirty="0" err="1"/>
              <a:t>beq</a:t>
            </a:r>
            <a:r>
              <a:rPr lang="en-US" altLang="en-US" dirty="0"/>
              <a:t> $2, $3, L1)</a:t>
            </a:r>
          </a:p>
          <a:p>
            <a:pPr eaLnBrk="1" hangingPunct="1">
              <a:defRPr/>
            </a:pPr>
            <a:r>
              <a:rPr lang="en-US" altLang="en-US" dirty="0"/>
              <a:t>Most branch targets are to a </a:t>
            </a:r>
            <a:r>
              <a:rPr lang="en-US" altLang="en-US" i="1" dirty="0"/>
              <a:t>near target</a:t>
            </a:r>
          </a:p>
          <a:p>
            <a:pPr lvl="1" eaLnBrk="1" hangingPunct="1">
              <a:defRPr/>
            </a:pPr>
            <a:r>
              <a:rPr lang="en-US" altLang="en-US" dirty="0"/>
              <a:t>Forward or backward</a:t>
            </a:r>
            <a:endParaRPr lang="en-AU" altLang="en-US" dirty="0"/>
          </a:p>
        </p:txBody>
      </p:sp>
      <p:grpSp>
        <p:nvGrpSpPr>
          <p:cNvPr id="141317" name="Group 4">
            <a:extLst>
              <a:ext uri="{FF2B5EF4-FFF2-40B4-BE49-F238E27FC236}">
                <a16:creationId xmlns:a16="http://schemas.microsoft.com/office/drawing/2014/main" id="{C5A8BB50-B80F-47BB-A85E-356473FBE51C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857625"/>
            <a:ext cx="6913563" cy="773113"/>
            <a:chOff x="884" y="981"/>
            <a:chExt cx="4355" cy="487"/>
          </a:xfrm>
        </p:grpSpPr>
        <p:sp>
          <p:nvSpPr>
            <p:cNvPr id="141319" name="Text Box 5">
              <a:extLst>
                <a:ext uri="{FF2B5EF4-FFF2-40B4-BE49-F238E27FC236}">
                  <a16:creationId xmlns:a16="http://schemas.microsoft.com/office/drawing/2014/main" id="{A9A01CFE-E0B6-45C2-99C4-CCFB32D66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</a:t>
              </a:r>
              <a:endParaRPr lang="en-AU" altLang="en-US" sz="2000"/>
            </a:p>
          </p:txBody>
        </p:sp>
        <p:sp>
          <p:nvSpPr>
            <p:cNvPr id="141320" name="Text Box 6">
              <a:extLst>
                <a:ext uri="{FF2B5EF4-FFF2-40B4-BE49-F238E27FC236}">
                  <a16:creationId xmlns:a16="http://schemas.microsoft.com/office/drawing/2014/main" id="{A2DCEF39-A2CC-4ECA-8799-852C93621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141321" name="Text Box 7">
              <a:extLst>
                <a:ext uri="{FF2B5EF4-FFF2-40B4-BE49-F238E27FC236}">
                  <a16:creationId xmlns:a16="http://schemas.microsoft.com/office/drawing/2014/main" id="{CC2422B0-F1BC-4FD7-868C-2C008806ED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141322" name="Text Box 8">
              <a:extLst>
                <a:ext uri="{FF2B5EF4-FFF2-40B4-BE49-F238E27FC236}">
                  <a16:creationId xmlns:a16="http://schemas.microsoft.com/office/drawing/2014/main" id="{E044B46E-E201-46D1-9D0E-7C0A414CC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address (offset)</a:t>
              </a:r>
              <a:endParaRPr lang="en-AU" altLang="en-US" sz="2000"/>
            </a:p>
          </p:txBody>
        </p:sp>
        <p:sp>
          <p:nvSpPr>
            <p:cNvPr id="141323" name="Text Box 9">
              <a:extLst>
                <a:ext uri="{FF2B5EF4-FFF2-40B4-BE49-F238E27FC236}">
                  <a16:creationId xmlns:a16="http://schemas.microsoft.com/office/drawing/2014/main" id="{16B463B9-9964-4A14-86C6-24535BBC8E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141324" name="Text Box 10">
              <a:extLst>
                <a:ext uri="{FF2B5EF4-FFF2-40B4-BE49-F238E27FC236}">
                  <a16:creationId xmlns:a16="http://schemas.microsoft.com/office/drawing/2014/main" id="{D1FB508F-CA10-466A-B498-8B4A7213C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41325" name="Text Box 11">
              <a:extLst>
                <a:ext uri="{FF2B5EF4-FFF2-40B4-BE49-F238E27FC236}">
                  <a16:creationId xmlns:a16="http://schemas.microsoft.com/office/drawing/2014/main" id="{4BD619AA-FE50-4502-8222-8B306A6988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41326" name="Text Box 12">
              <a:extLst>
                <a:ext uri="{FF2B5EF4-FFF2-40B4-BE49-F238E27FC236}">
                  <a16:creationId xmlns:a16="http://schemas.microsoft.com/office/drawing/2014/main" id="{0FE71073-5834-470D-8C03-5B772321D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16 bits</a:t>
              </a:r>
              <a:endParaRPr lang="en-AU" altLang="en-US" sz="1600"/>
            </a:p>
          </p:txBody>
        </p:sp>
      </p:grpSp>
      <p:sp>
        <p:nvSpPr>
          <p:cNvPr id="141318" name="TextBox 1">
            <a:extLst>
              <a:ext uri="{FF2B5EF4-FFF2-40B4-BE49-F238E27FC236}">
                <a16:creationId xmlns:a16="http://schemas.microsoft.com/office/drawing/2014/main" id="{3F3C5EF0-BDAF-46F3-9043-2A4506341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1263" y="3330575"/>
            <a:ext cx="6540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7200" dirty="0">
                <a:solidFill>
                  <a:srgbClr val="C00000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Footer Placeholder 3">
            <a:extLst>
              <a:ext uri="{FF2B5EF4-FFF2-40B4-BE49-F238E27FC236}">
                <a16:creationId xmlns:a16="http://schemas.microsoft.com/office/drawing/2014/main" id="{27A07652-5E39-4F58-ABA4-53A8B066A3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36BFB44-0C96-4019-9323-AA42E9A5638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AU" altLang="en-US" sz="1400"/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9AD84588-8ECB-4D43-B553-22BAFDC66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Branch Addressing</a:t>
            </a:r>
            <a:endParaRPr lang="en-AU" altLang="en-US"/>
          </a:p>
        </p:txBody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04A26609-1190-4F28-8A7F-4D0D78DA57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27113"/>
            <a:ext cx="8270875" cy="26892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Branch instructions specify</a:t>
            </a:r>
          </a:p>
          <a:p>
            <a:pPr lvl="1" eaLnBrk="1" hangingPunct="1">
              <a:defRPr/>
            </a:pPr>
            <a:r>
              <a:rPr lang="en-US" altLang="en-US" dirty="0"/>
              <a:t>Opcode, two registers, target address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(Ex. </a:t>
            </a:r>
            <a:r>
              <a:rPr lang="en-US" altLang="en-US" dirty="0" err="1"/>
              <a:t>beq</a:t>
            </a:r>
            <a:r>
              <a:rPr lang="en-US" altLang="en-US" dirty="0"/>
              <a:t> $2, $3, L1)</a:t>
            </a:r>
          </a:p>
          <a:p>
            <a:pPr eaLnBrk="1" hangingPunct="1">
              <a:defRPr/>
            </a:pPr>
            <a:r>
              <a:rPr lang="en-US" altLang="en-US" dirty="0"/>
              <a:t>Most branch targets are to a </a:t>
            </a:r>
            <a:r>
              <a:rPr lang="en-US" altLang="en-US" i="1" dirty="0"/>
              <a:t>near target</a:t>
            </a:r>
          </a:p>
          <a:p>
            <a:pPr lvl="1" eaLnBrk="1" hangingPunct="1">
              <a:defRPr/>
            </a:pPr>
            <a:r>
              <a:rPr lang="en-US" altLang="en-US" dirty="0"/>
              <a:t>Forward or backward</a:t>
            </a:r>
            <a:endParaRPr lang="en-AU" altLang="en-US" dirty="0"/>
          </a:p>
        </p:txBody>
      </p:sp>
      <p:grpSp>
        <p:nvGrpSpPr>
          <p:cNvPr id="143365" name="Group 4">
            <a:extLst>
              <a:ext uri="{FF2B5EF4-FFF2-40B4-BE49-F238E27FC236}">
                <a16:creationId xmlns:a16="http://schemas.microsoft.com/office/drawing/2014/main" id="{672173DE-FAE4-4F0D-BB25-288A70A638C4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857625"/>
            <a:ext cx="6913563" cy="773113"/>
            <a:chOff x="884" y="981"/>
            <a:chExt cx="4355" cy="487"/>
          </a:xfrm>
        </p:grpSpPr>
        <p:sp>
          <p:nvSpPr>
            <p:cNvPr id="143367" name="Text Box 5">
              <a:extLst>
                <a:ext uri="{FF2B5EF4-FFF2-40B4-BE49-F238E27FC236}">
                  <a16:creationId xmlns:a16="http://schemas.microsoft.com/office/drawing/2014/main" id="{E6505EC6-4991-4C06-B419-5304DCAD8A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</a:t>
              </a:r>
              <a:endParaRPr lang="en-AU" altLang="en-US" sz="2000"/>
            </a:p>
          </p:txBody>
        </p:sp>
        <p:sp>
          <p:nvSpPr>
            <p:cNvPr id="143368" name="Text Box 6">
              <a:extLst>
                <a:ext uri="{FF2B5EF4-FFF2-40B4-BE49-F238E27FC236}">
                  <a16:creationId xmlns:a16="http://schemas.microsoft.com/office/drawing/2014/main" id="{2B165DC9-5BF3-4447-B6F0-4DFFD900A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143369" name="Text Box 7">
              <a:extLst>
                <a:ext uri="{FF2B5EF4-FFF2-40B4-BE49-F238E27FC236}">
                  <a16:creationId xmlns:a16="http://schemas.microsoft.com/office/drawing/2014/main" id="{AFEB317F-C671-47A4-9FBB-3EE678536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143370" name="Text Box 8">
              <a:extLst>
                <a:ext uri="{FF2B5EF4-FFF2-40B4-BE49-F238E27FC236}">
                  <a16:creationId xmlns:a16="http://schemas.microsoft.com/office/drawing/2014/main" id="{72619E7E-FECF-420F-8570-F4DC7B585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/>
                <a:t>address (offset)</a:t>
              </a:r>
              <a:endParaRPr lang="en-AU" altLang="en-US" sz="2000" dirty="0"/>
            </a:p>
          </p:txBody>
        </p:sp>
        <p:sp>
          <p:nvSpPr>
            <p:cNvPr id="143371" name="Text Box 9">
              <a:extLst>
                <a:ext uri="{FF2B5EF4-FFF2-40B4-BE49-F238E27FC236}">
                  <a16:creationId xmlns:a16="http://schemas.microsoft.com/office/drawing/2014/main" id="{61C6D12B-DC66-47C7-A58A-163F7F0C6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143372" name="Text Box 10">
              <a:extLst>
                <a:ext uri="{FF2B5EF4-FFF2-40B4-BE49-F238E27FC236}">
                  <a16:creationId xmlns:a16="http://schemas.microsoft.com/office/drawing/2014/main" id="{92237E6D-BEEE-4157-9F72-1AB4D0213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43373" name="Text Box 11">
              <a:extLst>
                <a:ext uri="{FF2B5EF4-FFF2-40B4-BE49-F238E27FC236}">
                  <a16:creationId xmlns:a16="http://schemas.microsoft.com/office/drawing/2014/main" id="{5AC2506A-4889-47AC-84B8-9D0179526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43374" name="Text Box 12">
              <a:extLst>
                <a:ext uri="{FF2B5EF4-FFF2-40B4-BE49-F238E27FC236}">
                  <a16:creationId xmlns:a16="http://schemas.microsoft.com/office/drawing/2014/main" id="{D7EA032D-A0AD-412C-BBAE-86CDC94F0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16 bits</a:t>
              </a:r>
              <a:endParaRPr lang="en-AU" altLang="en-US" sz="1600"/>
            </a:p>
          </p:txBody>
        </p:sp>
      </p:grpSp>
      <p:sp>
        <p:nvSpPr>
          <p:cNvPr id="144390" name="Rectangle 13">
            <a:extLst>
              <a:ext uri="{FF2B5EF4-FFF2-40B4-BE49-F238E27FC236}">
                <a16:creationId xmlns:a16="http://schemas.microsoft.com/office/drawing/2014/main" id="{52BEFA8D-A012-41F6-8247-C98B7F21F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625975"/>
            <a:ext cx="7421562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MIPS uses </a:t>
            </a:r>
            <a:r>
              <a:rPr lang="en-US" altLang="en-US" i="1" dirty="0">
                <a:solidFill>
                  <a:srgbClr val="C00000"/>
                </a:solidFill>
              </a:rPr>
              <a:t>PC-relative</a:t>
            </a:r>
            <a:r>
              <a:rPr lang="en-US" altLang="en-US" dirty="0"/>
              <a:t> addressing</a:t>
            </a:r>
          </a:p>
          <a:p>
            <a:pPr lvl="1" eaLnBrk="1" hangingPunct="1"/>
            <a:r>
              <a:rPr lang="en-US" altLang="en-US" dirty="0"/>
              <a:t>Target address = PC + (offset × 4)</a:t>
            </a:r>
          </a:p>
          <a:p>
            <a:pPr lvl="1" eaLnBrk="1" hangingPunct="1"/>
            <a:r>
              <a:rPr lang="en-US" altLang="en-US" dirty="0"/>
              <a:t>PC already incremented by 4 by this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0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11">
            <a:extLst>
              <a:ext uri="{FF2B5EF4-FFF2-40B4-BE49-F238E27FC236}">
                <a16:creationId xmlns:a16="http://schemas.microsoft.com/office/drawing/2014/main" id="{3C14C416-5D92-43E1-B304-30AC0ACBF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388" y="4851400"/>
            <a:ext cx="2232025" cy="46831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5411" name="Rectangle 1">
            <a:extLst>
              <a:ext uri="{FF2B5EF4-FFF2-40B4-BE49-F238E27FC236}">
                <a16:creationId xmlns:a16="http://schemas.microsoft.com/office/drawing/2014/main" id="{26795591-E3E5-43C6-BEC7-A2FAD93C1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975" y="4837113"/>
            <a:ext cx="1368425" cy="46831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5412" name="Footer Placeholder 3">
            <a:extLst>
              <a:ext uri="{FF2B5EF4-FFF2-40B4-BE49-F238E27FC236}">
                <a16:creationId xmlns:a16="http://schemas.microsoft.com/office/drawing/2014/main" id="{465CB014-66F3-4ACB-8BA7-860846543E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D8283734-5BC1-48A2-9847-18FFFD28F75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AU" altLang="en-US" sz="1400"/>
          </a:p>
        </p:txBody>
      </p:sp>
      <p:sp>
        <p:nvSpPr>
          <p:cNvPr id="145413" name="Rectangle 2">
            <a:extLst>
              <a:ext uri="{FF2B5EF4-FFF2-40B4-BE49-F238E27FC236}">
                <a16:creationId xmlns:a16="http://schemas.microsoft.com/office/drawing/2014/main" id="{8073263C-5335-4E7D-B0A3-F0CD4D2DA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Jump Addressing</a:t>
            </a:r>
            <a:endParaRPr lang="en-AU" altLang="en-US"/>
          </a:p>
        </p:txBody>
      </p:sp>
      <p:sp>
        <p:nvSpPr>
          <p:cNvPr id="135174" name="Rectangle 3">
            <a:extLst>
              <a:ext uri="{FF2B5EF4-FFF2-40B4-BE49-F238E27FC236}">
                <a16:creationId xmlns:a16="http://schemas.microsoft.com/office/drawing/2014/main" id="{04BAEE18-6643-4147-8E2B-84E7B7AAF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204913"/>
            <a:ext cx="8270875" cy="20748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Jump (</a:t>
            </a:r>
            <a:r>
              <a:rPr lang="en-US" altLang="en-US" dirty="0">
                <a:latin typeface="Lucida Console" panose="020B0609040504020204" pitchFamily="49" charset="0"/>
              </a:rPr>
              <a:t>j</a:t>
            </a:r>
            <a:r>
              <a:rPr lang="en-US" altLang="en-US" dirty="0"/>
              <a:t> and </a:t>
            </a:r>
            <a:r>
              <a:rPr lang="en-US" altLang="en-US" dirty="0" err="1">
                <a:latin typeface="Lucida Console" panose="020B0609040504020204" pitchFamily="49" charset="0"/>
              </a:rPr>
              <a:t>jal</a:t>
            </a:r>
            <a:r>
              <a:rPr lang="en-US" altLang="en-US" dirty="0"/>
              <a:t>) targets could be anywhere in text segment</a:t>
            </a:r>
          </a:p>
          <a:p>
            <a:pPr lvl="1" eaLnBrk="1" hangingPunct="1">
              <a:defRPr/>
            </a:pPr>
            <a:r>
              <a:rPr lang="en-US" altLang="en-US" dirty="0"/>
              <a:t>Encode full address in instruction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(Ex. j  L2)</a:t>
            </a:r>
            <a:endParaRPr lang="en-AU" altLang="en-US" dirty="0"/>
          </a:p>
        </p:txBody>
      </p:sp>
      <p:grpSp>
        <p:nvGrpSpPr>
          <p:cNvPr id="145415" name="Group 4">
            <a:extLst>
              <a:ext uri="{FF2B5EF4-FFF2-40B4-BE49-F238E27FC236}">
                <a16:creationId xmlns:a16="http://schemas.microsoft.com/office/drawing/2014/main" id="{3A93E9D9-D33A-4CB5-8F5A-B664B2CE3D22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430588"/>
            <a:ext cx="6913563" cy="773112"/>
            <a:chOff x="884" y="2356"/>
            <a:chExt cx="4355" cy="487"/>
          </a:xfrm>
        </p:grpSpPr>
        <p:sp>
          <p:nvSpPr>
            <p:cNvPr id="145417" name="Text Box 5">
              <a:extLst>
                <a:ext uri="{FF2B5EF4-FFF2-40B4-BE49-F238E27FC236}">
                  <a16:creationId xmlns:a16="http://schemas.microsoft.com/office/drawing/2014/main" id="{5E63681D-C8ED-452B-B78F-ADDE4C1EB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2356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</a:t>
              </a:r>
              <a:endParaRPr lang="en-AU" altLang="en-US" sz="2000"/>
            </a:p>
          </p:txBody>
        </p:sp>
        <p:sp>
          <p:nvSpPr>
            <p:cNvPr id="145418" name="Text Box 6">
              <a:extLst>
                <a:ext uri="{FF2B5EF4-FFF2-40B4-BE49-F238E27FC236}">
                  <a16:creationId xmlns:a16="http://schemas.microsoft.com/office/drawing/2014/main" id="{2CD2BF8C-394A-4D9C-87AB-D001B4BF2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2356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word-address</a:t>
              </a:r>
              <a:endParaRPr lang="en-AU" altLang="en-US" sz="2000"/>
            </a:p>
          </p:txBody>
        </p:sp>
        <p:sp>
          <p:nvSpPr>
            <p:cNvPr id="145419" name="Text Box 7">
              <a:extLst>
                <a:ext uri="{FF2B5EF4-FFF2-40B4-BE49-F238E27FC236}">
                  <a16:creationId xmlns:a16="http://schemas.microsoft.com/office/drawing/2014/main" id="{46AAAFE8-053A-4C4C-86D8-4A792C08F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" y="2631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6 bits</a:t>
              </a:r>
              <a:endParaRPr lang="en-AU" altLang="en-US" sz="1600"/>
            </a:p>
          </p:txBody>
        </p:sp>
        <p:sp>
          <p:nvSpPr>
            <p:cNvPr id="145420" name="Text Box 8">
              <a:extLst>
                <a:ext uri="{FF2B5EF4-FFF2-40B4-BE49-F238E27FC236}">
                  <a16:creationId xmlns:a16="http://schemas.microsoft.com/office/drawing/2014/main" id="{BB9E2B8E-222E-4FA3-85C0-3DD934AB2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" y="2617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26 bits</a:t>
              </a:r>
              <a:endParaRPr lang="en-AU" altLang="en-US" sz="1600"/>
            </a:p>
          </p:txBody>
        </p:sp>
      </p:grpSp>
      <p:sp>
        <p:nvSpPr>
          <p:cNvPr id="145416" name="Rectangle 9">
            <a:extLst>
              <a:ext uri="{FF2B5EF4-FFF2-40B4-BE49-F238E27FC236}">
                <a16:creationId xmlns:a16="http://schemas.microsoft.com/office/drawing/2014/main" id="{A5856D34-6415-40B1-8EDE-28F3BBC16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224338"/>
            <a:ext cx="77724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(Pseudo) Direct jump addressing</a:t>
            </a:r>
          </a:p>
          <a:p>
            <a:pPr lvl="1" eaLnBrk="1" hangingPunct="1"/>
            <a:r>
              <a:rPr lang="en-US" altLang="en-US"/>
              <a:t>Target address = PC</a:t>
            </a:r>
            <a:r>
              <a:rPr lang="en-US" altLang="en-US" baseline="-25000"/>
              <a:t>31…28</a:t>
            </a:r>
            <a:r>
              <a:rPr lang="en-US" altLang="en-US"/>
              <a:t> : (address × 4)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Footer Placeholder 3">
            <a:extLst>
              <a:ext uri="{FF2B5EF4-FFF2-40B4-BE49-F238E27FC236}">
                <a16:creationId xmlns:a16="http://schemas.microsoft.com/office/drawing/2014/main" id="{6B31165F-6963-491D-A1F5-7644BEA006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1315F13A-667B-4B92-9E24-C2BB69783B1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AU" altLang="en-US" sz="1400"/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4CF8CFF0-8249-438A-8154-9D0B7990D9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Target Addressing Example</a:t>
            </a:r>
            <a:endParaRPr lang="en-AU" altLang="en-US"/>
          </a:p>
        </p:txBody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6AEDB097-5186-4F0E-92F3-DA914DD842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228725"/>
          </a:xfrm>
        </p:spPr>
        <p:txBody>
          <a:bodyPr/>
          <a:lstStyle/>
          <a:p>
            <a:pPr eaLnBrk="1" hangingPunct="1"/>
            <a:r>
              <a:rPr lang="en-US" altLang="en-US"/>
              <a:t>Loop code from earlier example</a:t>
            </a:r>
          </a:p>
          <a:p>
            <a:pPr lvl="1" eaLnBrk="1" hangingPunct="1"/>
            <a:r>
              <a:rPr lang="en-US" altLang="en-US"/>
              <a:t>Assume Loop at location 80000</a:t>
            </a:r>
            <a:endParaRPr lang="en-AU" altLang="en-US" sz="2000">
              <a:solidFill>
                <a:schemeClr val="folHlink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332877" name="Group 77">
            <a:extLst>
              <a:ext uri="{FF2B5EF4-FFF2-40B4-BE49-F238E27FC236}">
                <a16:creationId xmlns:a16="http://schemas.microsoft.com/office/drawing/2014/main" id="{94741A10-34B7-4832-A80F-BB4232E08D07}"/>
              </a:ext>
            </a:extLst>
          </p:cNvPr>
          <p:cNvGraphicFramePr>
            <a:graphicFrameLocks noGrp="1"/>
          </p:cNvGraphicFramePr>
          <p:nvPr/>
        </p:nvGraphicFramePr>
        <p:xfrm>
          <a:off x="684213" y="2708275"/>
          <a:ext cx="8202612" cy="2952751"/>
        </p:xfrm>
        <a:graphic>
          <a:graphicData uri="http://schemas.openxmlformats.org/drawingml/2006/table">
            <a:tbl>
              <a:tblPr/>
              <a:tblGrid>
                <a:gridCol w="367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Loop: sll  $t1, $s3, 2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80000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      add  $t1, $t1, $s6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80004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      lw   $t0, 0($t1)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80008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     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bne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  $t0, $s5, Exit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80012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     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addi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 $s3, $s3, 1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80016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     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Lucida Console" pitchFamily="49" charset="0"/>
                        </a:rPr>
                        <a:t>j    Loop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80020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20000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Exit: …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80024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7528" name="Line 71">
            <a:extLst>
              <a:ext uri="{FF2B5EF4-FFF2-40B4-BE49-F238E27FC236}">
                <a16:creationId xmlns:a16="http://schemas.microsoft.com/office/drawing/2014/main" id="{944C68F9-2381-46D5-8CE4-6880A8F340A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03800" y="2997200"/>
            <a:ext cx="2016125" cy="2016125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529" name="Line 72">
            <a:extLst>
              <a:ext uri="{FF2B5EF4-FFF2-40B4-BE49-F238E27FC236}">
                <a16:creationId xmlns:a16="http://schemas.microsoft.com/office/drawing/2014/main" id="{46CC1906-9C6F-4A50-9F7C-0786A47813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4149725"/>
            <a:ext cx="2808288" cy="115093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Footer Placeholder 3">
            <a:extLst>
              <a:ext uri="{FF2B5EF4-FFF2-40B4-BE49-F238E27FC236}">
                <a16:creationId xmlns:a16="http://schemas.microsoft.com/office/drawing/2014/main" id="{46280F6A-D3D8-427D-94A6-63629D6088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3EDD46E8-2DF7-4547-96B6-9760BD81DB0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AU" altLang="en-US" sz="1400"/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3F8225EF-0865-49D7-AB7B-97F4CF2D6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Branching Far Away</a:t>
            </a:r>
          </a:p>
        </p:txBody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474EED25-0AA0-4C20-8F9B-C572F3984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66800"/>
            <a:ext cx="8564562" cy="5111750"/>
          </a:xfrm>
        </p:spPr>
        <p:txBody>
          <a:bodyPr/>
          <a:lstStyle/>
          <a:p>
            <a:pPr eaLnBrk="1" hangingPunct="1">
              <a:tabLst>
                <a:tab pos="1619250" algn="l"/>
              </a:tabLst>
            </a:pPr>
            <a:r>
              <a:rPr lang="en-AU" altLang="en-US" dirty="0"/>
              <a:t>If branch target is too far to encode with 16-bit offset, assembler recompile the code</a:t>
            </a:r>
          </a:p>
          <a:p>
            <a:pPr eaLnBrk="1" hangingPunct="1">
              <a:tabLst>
                <a:tab pos="1619250" algn="l"/>
              </a:tabLst>
            </a:pPr>
            <a:r>
              <a:rPr lang="en-AU" altLang="en-US" dirty="0"/>
              <a:t>Example</a:t>
            </a:r>
          </a:p>
          <a:p>
            <a:pPr lvl="1" eaLnBrk="1" hangingPunct="1">
              <a:buFont typeface="Wingdings" panose="05000000000000000000" pitchFamily="2" charset="2"/>
              <a:buNone/>
              <a:tabLst>
                <a:tab pos="1619250" algn="l"/>
              </a:tabLst>
            </a:pPr>
            <a:r>
              <a:rPr lang="en-AU" altLang="en-US" dirty="0">
                <a:latin typeface="Lucida Console" panose="020B0609040504020204" pitchFamily="49" charset="0"/>
              </a:rPr>
              <a:t>	</a:t>
            </a:r>
            <a:r>
              <a:rPr lang="en-AU" altLang="en-US" dirty="0" err="1">
                <a:latin typeface="Lucida Console" panose="020B0609040504020204" pitchFamily="49" charset="0"/>
              </a:rPr>
              <a:t>beq</a:t>
            </a:r>
            <a:r>
              <a:rPr lang="en-AU" altLang="en-US" dirty="0">
                <a:latin typeface="Lucida Console" panose="020B0609040504020204" pitchFamily="49" charset="0"/>
              </a:rPr>
              <a:t> $s0,$s1, </a:t>
            </a:r>
            <a:r>
              <a:rPr lang="en-AU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AU" altLang="en-US" dirty="0">
                <a:latin typeface="Lucida Console" panose="020B0609040504020204" pitchFamily="49" charset="0"/>
              </a:rPr>
              <a:t>  #if </a:t>
            </a:r>
            <a:r>
              <a:rPr lang="en-AU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AU" altLang="en-US" dirty="0">
                <a:latin typeface="Lucida Console" panose="020B0609040504020204" pitchFamily="49" charset="0"/>
              </a:rPr>
              <a:t> &gt; 16-bits</a:t>
            </a:r>
          </a:p>
          <a:p>
            <a:pPr lvl="1" eaLnBrk="1" hangingPunct="1">
              <a:buFont typeface="Wingdings" panose="05000000000000000000" pitchFamily="2" charset="2"/>
              <a:buNone/>
              <a:tabLst>
                <a:tab pos="1619250" algn="l"/>
              </a:tabLst>
            </a:pPr>
            <a:r>
              <a:rPr lang="en-AU" altLang="en-US" dirty="0">
                <a:cs typeface="Arial" panose="020B0604020202020204" pitchFamily="34" charset="0"/>
              </a:rPr>
              <a:t>				↓</a:t>
            </a:r>
          </a:p>
          <a:p>
            <a:pPr lvl="1" eaLnBrk="1" hangingPunct="1">
              <a:buFont typeface="Wingdings" panose="05000000000000000000" pitchFamily="2" charset="2"/>
              <a:buNone/>
              <a:tabLst>
                <a:tab pos="1619250" algn="l"/>
              </a:tabLst>
            </a:pPr>
            <a:r>
              <a:rPr lang="en-AU" altLang="en-US" dirty="0">
                <a:latin typeface="Lucida Console" panose="020B0609040504020204" pitchFamily="49" charset="0"/>
              </a:rPr>
              <a:t>	</a:t>
            </a:r>
            <a:r>
              <a:rPr lang="en-AU" altLang="en-US" dirty="0" err="1">
                <a:latin typeface="Lucida Console" panose="020B0609040504020204" pitchFamily="49" charset="0"/>
              </a:rPr>
              <a:t>bne</a:t>
            </a:r>
            <a:r>
              <a:rPr lang="en-AU" altLang="en-US" dirty="0">
                <a:latin typeface="Lucida Console" panose="020B0609040504020204" pitchFamily="49" charset="0"/>
              </a:rPr>
              <a:t> $s0,$s1, L2  #L2 nearby </a:t>
            </a:r>
            <a:r>
              <a:rPr lang="en-AU" altLang="en-US" dirty="0" err="1">
                <a:latin typeface="Lucida Console" panose="020B0609040504020204" pitchFamily="49" charset="0"/>
              </a:rPr>
              <a:t>addr</a:t>
            </a:r>
            <a:br>
              <a:rPr lang="en-AU" altLang="en-US" dirty="0">
                <a:latin typeface="Lucida Console" panose="020B0609040504020204" pitchFamily="49" charset="0"/>
              </a:rPr>
            </a:br>
            <a:r>
              <a:rPr lang="en-AU" altLang="en-US" dirty="0">
                <a:latin typeface="Lucida Console" panose="020B0609040504020204" pitchFamily="49" charset="0"/>
              </a:rPr>
              <a:t>	j </a:t>
            </a:r>
            <a:r>
              <a:rPr lang="en-AU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AU" altLang="en-US" dirty="0">
                <a:latin typeface="Lucida Console" panose="020B0609040504020204" pitchFamily="49" charset="0"/>
              </a:rPr>
              <a:t>         #j instruction</a:t>
            </a:r>
            <a:br>
              <a:rPr lang="en-AU" altLang="en-US" dirty="0">
                <a:latin typeface="Lucida Console" panose="020B0609040504020204" pitchFamily="49" charset="0"/>
              </a:rPr>
            </a:br>
            <a:r>
              <a:rPr lang="en-AU" altLang="en-US" dirty="0">
                <a:latin typeface="Lucida Console" panose="020B0609040504020204" pitchFamily="49" charset="0"/>
              </a:rPr>
              <a:t>L2:	…            #holds larger </a:t>
            </a:r>
            <a:r>
              <a:rPr lang="en-AU" altLang="en-US" dirty="0" err="1">
                <a:latin typeface="Lucida Console" panose="020B0609040504020204" pitchFamily="49" charset="0"/>
              </a:rPr>
              <a:t>addr</a:t>
            </a:r>
            <a:endParaRPr lang="en-AU" altLang="en-US" dirty="0">
              <a:latin typeface="Lucida Console" panose="020B0609040504020204" pitchFamily="49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Footer Placeholder 3">
            <a:extLst>
              <a:ext uri="{FF2B5EF4-FFF2-40B4-BE49-F238E27FC236}">
                <a16:creationId xmlns:a16="http://schemas.microsoft.com/office/drawing/2014/main" id="{7A0A5AF1-D561-4365-86FD-6175DB5C73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7C441122-CCC7-4648-A9A4-0C6606405DB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AU" altLang="en-US" sz="1400"/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0B66D7F8-AB99-48F9-8C89-A674A545BF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Summary: Addressing Mode</a:t>
            </a:r>
            <a:endParaRPr lang="en-AU" altLang="en-US" dirty="0"/>
          </a:p>
        </p:txBody>
      </p:sp>
      <p:pic>
        <p:nvPicPr>
          <p:cNvPr id="151556" name="Picture 6" descr="f02-18-P374493">
            <a:extLst>
              <a:ext uri="{FF2B5EF4-FFF2-40B4-BE49-F238E27FC236}">
                <a16:creationId xmlns:a16="http://schemas.microsoft.com/office/drawing/2014/main" id="{CDEA3B88-B22D-4E1B-B864-D058D797C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268413"/>
            <a:ext cx="4106862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7" name="TextBox 1">
            <a:extLst>
              <a:ext uri="{FF2B5EF4-FFF2-40B4-BE49-F238E27FC236}">
                <a16:creationId xmlns:a16="http://schemas.microsoft.com/office/drawing/2014/main" id="{ED2B7B1E-2451-4251-A24D-9EC3DA1EC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1360488"/>
            <a:ext cx="2016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addi rs, rt, immed</a:t>
            </a:r>
          </a:p>
        </p:txBody>
      </p:sp>
      <p:sp>
        <p:nvSpPr>
          <p:cNvPr id="151558" name="TextBox 5">
            <a:extLst>
              <a:ext uri="{FF2B5EF4-FFF2-40B4-BE49-F238E27FC236}">
                <a16:creationId xmlns:a16="http://schemas.microsoft.com/office/drawing/2014/main" id="{F7C03752-DEA0-4FBD-AD10-2C32BAE45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2309813"/>
            <a:ext cx="2016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add rd, rs, rt</a:t>
            </a:r>
          </a:p>
        </p:txBody>
      </p:sp>
      <p:sp>
        <p:nvSpPr>
          <p:cNvPr id="151559" name="TextBox 6">
            <a:extLst>
              <a:ext uri="{FF2B5EF4-FFF2-40B4-BE49-F238E27FC236}">
                <a16:creationId xmlns:a16="http://schemas.microsoft.com/office/drawing/2014/main" id="{EE22BFFE-51C7-432F-84B1-287B09448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3322638"/>
            <a:ext cx="2016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lw rs, offset(rt)</a:t>
            </a:r>
          </a:p>
        </p:txBody>
      </p:sp>
      <p:sp>
        <p:nvSpPr>
          <p:cNvPr id="151560" name="TextBox 7">
            <a:extLst>
              <a:ext uri="{FF2B5EF4-FFF2-40B4-BE49-F238E27FC236}">
                <a16:creationId xmlns:a16="http://schemas.microsoft.com/office/drawing/2014/main" id="{40554688-2228-418D-AFEC-9FE13C538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4138" y="4516438"/>
            <a:ext cx="2016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beq rs, rt, L1</a:t>
            </a:r>
          </a:p>
        </p:txBody>
      </p:sp>
      <p:sp>
        <p:nvSpPr>
          <p:cNvPr id="151561" name="TextBox 8">
            <a:extLst>
              <a:ext uri="{FF2B5EF4-FFF2-40B4-BE49-F238E27FC236}">
                <a16:creationId xmlns:a16="http://schemas.microsoft.com/office/drawing/2014/main" id="{6B27E268-9895-4610-B8C7-AD64F9192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5700713"/>
            <a:ext cx="2016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j  L2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4D2D9-8508-4FB3-8125-ED6506E6CD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2 — Instructions: Language of the Computer — </a:t>
            </a:r>
            <a:fld id="{C4F54A24-E686-45E7-A922-03287376FB3B}" type="slidenum">
              <a:rPr lang="en-AU" altLang="en-US" smtClean="0"/>
              <a:pPr>
                <a:defRPr/>
              </a:pPr>
              <a:t>80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8586522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Footer Placeholder 3">
            <a:extLst>
              <a:ext uri="{FF2B5EF4-FFF2-40B4-BE49-F238E27FC236}">
                <a16:creationId xmlns:a16="http://schemas.microsoft.com/office/drawing/2014/main" id="{F2888CD7-9CBB-43AB-89A5-63A98DCAB4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946BD093-ED78-4C08-8448-D7C89DDF708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AU" altLang="en-US" sz="14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CFD95FD4-7035-4315-ABF5-098C2BFA9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altLang="en-US" dirty="0">
                <a:solidFill>
                  <a:schemeClr val="bg1">
                    <a:lumMod val="95000"/>
                  </a:schemeClr>
                </a:solidFill>
              </a:rPr>
              <a:t>Synchronization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076D394C-FE42-4A03-9086-4F361C6FDB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altLang="en-US" sz="2800" dirty="0">
                <a:solidFill>
                  <a:schemeClr val="bg1">
                    <a:lumMod val="95000"/>
                  </a:schemeClr>
                </a:solidFill>
              </a:rPr>
              <a:t>Two processors sharing an area of memory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dirty="0">
                <a:solidFill>
                  <a:schemeClr val="bg1">
                    <a:lumMod val="95000"/>
                  </a:schemeClr>
                </a:solidFill>
                <a:ea typeface="+mn-ea"/>
                <a:cs typeface="+mn-cs"/>
              </a:rPr>
              <a:t>P1 writes, then P2 reads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dirty="0">
                <a:solidFill>
                  <a:schemeClr val="bg1">
                    <a:lumMod val="95000"/>
                  </a:schemeClr>
                </a:solidFill>
                <a:ea typeface="+mn-ea"/>
                <a:cs typeface="+mn-cs"/>
              </a:rPr>
              <a:t>Data race if P1 and P2 don’t synchronize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AU" altLang="en-US" sz="2800" dirty="0">
                <a:solidFill>
                  <a:schemeClr val="bg1">
                    <a:lumMod val="95000"/>
                  </a:schemeClr>
                </a:solidFill>
                <a:ea typeface="+mn-ea"/>
                <a:cs typeface="+mn-cs"/>
              </a:rPr>
              <a:t>Result depends of order of accesses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sz="2800" dirty="0">
                <a:solidFill>
                  <a:schemeClr val="bg1">
                    <a:lumMod val="95000"/>
                  </a:schemeClr>
                </a:solidFill>
              </a:rPr>
              <a:t>Hardware support required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dirty="0">
                <a:solidFill>
                  <a:schemeClr val="bg1">
                    <a:lumMod val="95000"/>
                  </a:schemeClr>
                </a:solidFill>
                <a:ea typeface="+mn-ea"/>
                <a:cs typeface="+mn-cs"/>
              </a:rPr>
              <a:t>Atomic read/write memory operation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dirty="0">
                <a:solidFill>
                  <a:schemeClr val="bg1">
                    <a:lumMod val="95000"/>
                  </a:schemeClr>
                </a:solidFill>
                <a:ea typeface="+mn-ea"/>
                <a:cs typeface="+mn-cs"/>
              </a:rPr>
              <a:t>No other access to the location allowed between the read and write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sz="2800" dirty="0">
                <a:solidFill>
                  <a:schemeClr val="bg1">
                    <a:lumMod val="95000"/>
                  </a:schemeClr>
                </a:solidFill>
              </a:rPr>
              <a:t>Could be a single instruction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dirty="0">
                <a:solidFill>
                  <a:schemeClr val="bg1">
                    <a:lumMod val="95000"/>
                  </a:schemeClr>
                </a:solidFill>
                <a:ea typeface="+mn-ea"/>
                <a:cs typeface="+mn-cs"/>
              </a:rPr>
              <a:t>E.g., atomic swap of register ↔ memory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dirty="0">
                <a:solidFill>
                  <a:schemeClr val="bg1">
                    <a:lumMod val="95000"/>
                  </a:schemeClr>
                </a:solidFill>
                <a:ea typeface="+mn-ea"/>
                <a:cs typeface="+mn-cs"/>
              </a:rPr>
              <a:t>Or an atomic pair of instructions</a:t>
            </a:r>
          </a:p>
        </p:txBody>
      </p:sp>
      <p:sp>
        <p:nvSpPr>
          <p:cNvPr id="154629" name="Text Box 4">
            <a:extLst>
              <a:ext uri="{FF2B5EF4-FFF2-40B4-BE49-F238E27FC236}">
                <a16:creationId xmlns:a16="http://schemas.microsoft.com/office/drawing/2014/main" id="{90983BB3-DF7C-43C6-A028-E0E05E6EB99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277769" y="2499519"/>
            <a:ext cx="53657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§2.11 Parallelism and Instructions: Synchronization</a:t>
            </a:r>
          </a:p>
        </p:txBody>
      </p:sp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Footer Placeholder 3">
            <a:extLst>
              <a:ext uri="{FF2B5EF4-FFF2-40B4-BE49-F238E27FC236}">
                <a16:creationId xmlns:a16="http://schemas.microsoft.com/office/drawing/2014/main" id="{2B602537-1B7F-467C-AB85-16190C305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>
                <a:solidFill>
                  <a:srgbClr val="F2F2F2"/>
                </a:solidFill>
              </a:rPr>
              <a:t>Chapter 2 — Instructions: Language of the Computer — </a:t>
            </a:r>
            <a:fld id="{1D7B0E34-2921-4EEC-9CEF-41697B04931E}" type="slidenum">
              <a:rPr lang="en-AU" altLang="en-US" sz="1400" smtClean="0">
                <a:solidFill>
                  <a:srgbClr val="F2F2F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AU" altLang="en-US" sz="1400">
              <a:solidFill>
                <a:srgbClr val="F2F2F2"/>
              </a:solidFill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21FBE658-C0FA-4D17-B0A4-40744C8C9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dirty="0">
                <a:solidFill>
                  <a:schemeClr val="bg1">
                    <a:lumMod val="95000"/>
                  </a:schemeClr>
                </a:solidFill>
              </a:rPr>
              <a:t>Synchronization in MIPS 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BA28F5D4-0544-408E-B1CD-7AFEC33E9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sz="2800" dirty="0">
                <a:solidFill>
                  <a:schemeClr val="bg1">
                    <a:lumMod val="95000"/>
                  </a:schemeClr>
                </a:solidFill>
              </a:rPr>
              <a:t>Load linked: </a:t>
            </a:r>
            <a:r>
              <a:rPr lang="en-AU" sz="28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ll</a:t>
            </a:r>
            <a:r>
              <a:rPr lang="en-AU" sz="28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rt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, offset(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rs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sz="2800" dirty="0">
                <a:solidFill>
                  <a:schemeClr val="bg1">
                    <a:lumMod val="95000"/>
                  </a:schemeClr>
                </a:solidFill>
              </a:rPr>
              <a:t>Store conditional: </a:t>
            </a:r>
            <a:r>
              <a:rPr lang="en-AU" sz="28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sc </a:t>
            </a:r>
            <a:r>
              <a:rPr lang="en-AU" sz="28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rt</a:t>
            </a:r>
            <a:r>
              <a:rPr lang="en-AU" sz="28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,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offset(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rs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2400" dirty="0">
                <a:solidFill>
                  <a:schemeClr val="bg1">
                    <a:lumMod val="95000"/>
                  </a:schemeClr>
                </a:solidFill>
              </a:rPr>
              <a:t>Succeeds if location not changed since the </a:t>
            </a:r>
            <a:r>
              <a:rPr lang="en-AU" sz="24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ll</a:t>
            </a:r>
            <a:endParaRPr lang="en-AU" sz="2400" dirty="0">
              <a:solidFill>
                <a:schemeClr val="bg1">
                  <a:lumMod val="95000"/>
                </a:schemeClr>
              </a:solidFill>
              <a:latin typeface="Lucida Console" pitchFamily="49" charset="0"/>
            </a:endParaRPr>
          </a:p>
          <a:p>
            <a:pPr lvl="2" eaLnBrk="1" hangingPunct="1">
              <a:lnSpc>
                <a:spcPct val="90000"/>
              </a:lnSpc>
              <a:defRPr/>
            </a:pPr>
            <a:r>
              <a:rPr lang="en-AU" sz="2000" dirty="0">
                <a:solidFill>
                  <a:schemeClr val="bg1">
                    <a:lumMod val="95000"/>
                  </a:schemeClr>
                </a:solidFill>
              </a:rPr>
              <a:t>Returns 1 in </a:t>
            </a:r>
            <a:r>
              <a:rPr lang="en-AU" sz="2000" dirty="0" err="1">
                <a:solidFill>
                  <a:schemeClr val="bg1">
                    <a:lumMod val="95000"/>
                  </a:schemeClr>
                </a:solidFill>
              </a:rPr>
              <a:t>rt</a:t>
            </a:r>
            <a:endParaRPr lang="en-AU" sz="2000" dirty="0">
              <a:solidFill>
                <a:schemeClr val="bg1">
                  <a:lumMod val="95000"/>
                </a:schemeClr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2400" dirty="0">
                <a:solidFill>
                  <a:schemeClr val="bg1">
                    <a:lumMod val="95000"/>
                  </a:schemeClr>
                </a:solidFill>
              </a:rPr>
              <a:t>Fails if location is changed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AU" sz="2000" dirty="0">
                <a:solidFill>
                  <a:schemeClr val="bg1">
                    <a:lumMod val="95000"/>
                  </a:schemeClr>
                </a:solidFill>
              </a:rPr>
              <a:t>Returns 0 in </a:t>
            </a:r>
            <a:r>
              <a:rPr lang="en-AU" sz="2000" dirty="0" err="1">
                <a:solidFill>
                  <a:schemeClr val="bg1">
                    <a:lumMod val="95000"/>
                  </a:schemeClr>
                </a:solidFill>
              </a:rPr>
              <a:t>rt</a:t>
            </a:r>
            <a:endParaRPr lang="en-AU" sz="2000" dirty="0">
              <a:solidFill>
                <a:schemeClr val="bg1">
                  <a:lumMod val="95000"/>
                </a:schemeClr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AU" sz="2800" dirty="0">
                <a:solidFill>
                  <a:schemeClr val="bg1">
                    <a:lumMod val="95000"/>
                  </a:schemeClr>
                </a:solidFill>
              </a:rPr>
              <a:t>Example: atomic swap (to test/set lock variable)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AU" sz="22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try: add $t0,$zero,$s4 ;copy exchange value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AU" sz="22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</a:t>
            </a:r>
            <a:r>
              <a:rPr lang="en-AU" sz="22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ll</a:t>
            </a:r>
            <a:r>
              <a:rPr lang="en-AU" sz="22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$t1,0($s1)    ;load linked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AU" sz="22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sc  $t0,0($s1)    ;store conditional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AU" sz="22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</a:t>
            </a:r>
            <a:r>
              <a:rPr lang="en-AU" sz="22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beq</a:t>
            </a:r>
            <a:r>
              <a:rPr lang="en-AU" sz="22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$t0,$zero,try ;branch store fails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AU" sz="22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add $s4,$zero,$t1 ;put load value in $s4</a:t>
            </a:r>
          </a:p>
        </p:txBody>
      </p:sp>
    </p:spTree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Footer Placeholder 2">
            <a:extLst>
              <a:ext uri="{FF2B5EF4-FFF2-40B4-BE49-F238E27FC236}">
                <a16:creationId xmlns:a16="http://schemas.microsoft.com/office/drawing/2014/main" id="{793746C6-1984-43C6-A86D-024EA8260B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9EC7FBDD-5D4E-44F4-925E-F175417935E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AU" altLang="en-US" sz="1400"/>
          </a:p>
        </p:txBody>
      </p:sp>
      <p:pic>
        <p:nvPicPr>
          <p:cNvPr id="158723" name="Picture 10" descr="f02-21-P374493">
            <a:extLst>
              <a:ext uri="{FF2B5EF4-FFF2-40B4-BE49-F238E27FC236}">
                <a16:creationId xmlns:a16="http://schemas.microsoft.com/office/drawing/2014/main" id="{E08455E6-A564-4F71-BA80-ACCC61CBB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700213"/>
            <a:ext cx="6030913" cy="441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8724" name="Rectangle 2">
            <a:extLst>
              <a:ext uri="{FF2B5EF4-FFF2-40B4-BE49-F238E27FC236}">
                <a16:creationId xmlns:a16="http://schemas.microsoft.com/office/drawing/2014/main" id="{E2EEA028-9D99-4DED-8161-B3B430D6B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Translation and Startup</a:t>
            </a:r>
            <a:endParaRPr lang="en-AU" altLang="en-US"/>
          </a:p>
        </p:txBody>
      </p:sp>
      <p:sp>
        <p:nvSpPr>
          <p:cNvPr id="158725" name="Text Box 4">
            <a:extLst>
              <a:ext uri="{FF2B5EF4-FFF2-40B4-BE49-F238E27FC236}">
                <a16:creationId xmlns:a16="http://schemas.microsoft.com/office/drawing/2014/main" id="{3A68845D-5621-4FDD-8939-47AB7E78D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1989138"/>
            <a:ext cx="2736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Many compilers produce object modules directly</a:t>
            </a:r>
            <a:endParaRPr lang="en-AU" altLang="en-US" sz="1800"/>
          </a:p>
        </p:txBody>
      </p:sp>
      <p:sp>
        <p:nvSpPr>
          <p:cNvPr id="158726" name="AutoShape 5">
            <a:extLst>
              <a:ext uri="{FF2B5EF4-FFF2-40B4-BE49-F238E27FC236}">
                <a16:creationId xmlns:a16="http://schemas.microsoft.com/office/drawing/2014/main" id="{4CE092F2-D378-45F6-A668-BFC76F621930}"/>
              </a:ext>
            </a:extLst>
          </p:cNvPr>
          <p:cNvSpPr>
            <a:spLocks/>
          </p:cNvSpPr>
          <p:nvPr/>
        </p:nvSpPr>
        <p:spPr bwMode="auto">
          <a:xfrm rot="-2520133">
            <a:off x="3276600" y="1557338"/>
            <a:ext cx="215900" cy="1800225"/>
          </a:xfrm>
          <a:prstGeom prst="rightBrace">
            <a:avLst>
              <a:gd name="adj1" fmla="val 6948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8727" name="Text Box 6">
            <a:extLst>
              <a:ext uri="{FF2B5EF4-FFF2-40B4-BE49-F238E27FC236}">
                <a16:creationId xmlns:a16="http://schemas.microsoft.com/office/drawing/2014/main" id="{1BB3BDB7-97DC-421C-BA41-2CCD5E71E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4149725"/>
            <a:ext cx="1554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Static linking</a:t>
            </a:r>
            <a:endParaRPr lang="en-AU" altLang="en-US" sz="1800"/>
          </a:p>
        </p:txBody>
      </p:sp>
      <p:sp>
        <p:nvSpPr>
          <p:cNvPr id="158728" name="AutoShape 7">
            <a:extLst>
              <a:ext uri="{FF2B5EF4-FFF2-40B4-BE49-F238E27FC236}">
                <a16:creationId xmlns:a16="http://schemas.microsoft.com/office/drawing/2014/main" id="{BF71AA92-3B4D-4A62-98E9-A700E8AE2BFF}"/>
              </a:ext>
            </a:extLst>
          </p:cNvPr>
          <p:cNvSpPr>
            <a:spLocks/>
          </p:cNvSpPr>
          <p:nvPr/>
        </p:nvSpPr>
        <p:spPr bwMode="auto">
          <a:xfrm>
            <a:off x="6948488" y="3573463"/>
            <a:ext cx="215900" cy="1511300"/>
          </a:xfrm>
          <a:prstGeom prst="righ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8729" name="Text Box 8">
            <a:extLst>
              <a:ext uri="{FF2B5EF4-FFF2-40B4-BE49-F238E27FC236}">
                <a16:creationId xmlns:a16="http://schemas.microsoft.com/office/drawing/2014/main" id="{88471F38-3103-4FD0-AB78-9990E9DA4FE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773069" y="2004219"/>
            <a:ext cx="4375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§2.12 Translating and Starting a Program</a:t>
            </a:r>
          </a:p>
        </p:txBody>
      </p:sp>
    </p:spTree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Footer Placeholder 3">
            <a:extLst>
              <a:ext uri="{FF2B5EF4-FFF2-40B4-BE49-F238E27FC236}">
                <a16:creationId xmlns:a16="http://schemas.microsoft.com/office/drawing/2014/main" id="{FDBC5E28-0185-4B26-A20B-646A109DFB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C5528B71-BE55-4B11-B777-F9DC6E50E42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AU" altLang="en-US" sz="1400"/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BF5096A3-B2BD-4A9F-AA98-2509E5E460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Assembler Pseudoinstructions</a:t>
            </a:r>
            <a:endParaRPr lang="en-AU" altLang="en-US" sz="4000"/>
          </a:p>
        </p:txBody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5DE1A5CF-4B4F-434E-8307-2E5B434BD3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tabLst>
                <a:tab pos="3409950" algn="l"/>
                <a:tab pos="4038600" algn="l"/>
              </a:tabLst>
            </a:pPr>
            <a:r>
              <a:rPr lang="en-US" altLang="en-US" dirty="0"/>
              <a:t>Most assembler instructions represent machine instructions </a:t>
            </a:r>
            <a:r>
              <a:rPr lang="en-US" altLang="en-US" i="1" dirty="0"/>
              <a:t>one-to-one</a:t>
            </a:r>
          </a:p>
          <a:p>
            <a:pPr eaLnBrk="1" hangingPunct="1">
              <a:tabLst>
                <a:tab pos="3409950" algn="l"/>
                <a:tab pos="4038600" algn="l"/>
              </a:tabLst>
            </a:pPr>
            <a:r>
              <a:rPr lang="en-US" altLang="en-US" dirty="0" err="1"/>
              <a:t>Pseudoinstructions</a:t>
            </a:r>
            <a:r>
              <a:rPr lang="en-US" altLang="en-US" dirty="0"/>
              <a:t>: of the assembler’s imagination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3409950" algn="l"/>
                <a:tab pos="4038600" algn="l"/>
              </a:tabLst>
            </a:pPr>
            <a:r>
              <a:rPr lang="en-US" altLang="en-US" sz="2400" dirty="0">
                <a:latin typeface="Lucida Console" panose="020B0609040504020204" pitchFamily="49" charset="0"/>
              </a:rPr>
              <a:t>	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move $t0, $t1</a:t>
            </a:r>
            <a:r>
              <a:rPr lang="en-US" altLang="en-US" sz="2800" dirty="0"/>
              <a:t>	</a:t>
            </a:r>
            <a:r>
              <a:rPr lang="en-US" altLang="en-US" sz="2800" dirty="0">
                <a:cs typeface="Arial" panose="020B0604020202020204" pitchFamily="34" charset="0"/>
              </a:rPr>
              <a:t>→</a:t>
            </a:r>
            <a:r>
              <a:rPr lang="en-US" altLang="en-US" sz="2800" dirty="0"/>
              <a:t>	</a:t>
            </a:r>
            <a:r>
              <a:rPr lang="en-US" altLang="en-US" sz="2400" dirty="0">
                <a:latin typeface="Lucida Console" panose="020B0609040504020204" pitchFamily="49" charset="0"/>
              </a:rPr>
              <a:t>add $t0, $zero, $t1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3409950" algn="l"/>
                <a:tab pos="4038600" algn="l"/>
              </a:tabLst>
            </a:pPr>
            <a:r>
              <a:rPr lang="en-US" altLang="en-US" sz="2400" dirty="0">
                <a:latin typeface="Lucida Console" panose="020B0609040504020204" pitchFamily="49" charset="0"/>
              </a:rPr>
              <a:t>	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blt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$t0, $t1, L</a:t>
            </a:r>
            <a:r>
              <a:rPr lang="en-US" altLang="en-US" sz="2800" dirty="0"/>
              <a:t>	</a:t>
            </a:r>
            <a:r>
              <a:rPr lang="en-US" altLang="en-US" sz="2800" dirty="0">
                <a:cs typeface="Arial" panose="020B0604020202020204" pitchFamily="34" charset="0"/>
              </a:rPr>
              <a:t>→</a:t>
            </a:r>
            <a:r>
              <a:rPr lang="en-US" altLang="en-US" sz="2800" dirty="0"/>
              <a:t> 	</a:t>
            </a:r>
            <a:r>
              <a:rPr lang="en-US" altLang="en-US" sz="2400" dirty="0" err="1">
                <a:latin typeface="Lucida Console" panose="020B0609040504020204" pitchFamily="49" charset="0"/>
              </a:rPr>
              <a:t>slt</a:t>
            </a:r>
            <a:r>
              <a:rPr lang="en-US" altLang="en-US" sz="2400" dirty="0">
                <a:latin typeface="Lucida Console" panose="020B0609040504020204" pitchFamily="49" charset="0"/>
              </a:rPr>
              <a:t> $at, $t0, $t1</a:t>
            </a:r>
            <a:br>
              <a:rPr lang="en-US" altLang="en-US" sz="2800" dirty="0"/>
            </a:br>
            <a:r>
              <a:rPr lang="en-US" altLang="en-US" sz="2800" dirty="0"/>
              <a:t>		</a:t>
            </a:r>
            <a:r>
              <a:rPr lang="en-US" altLang="en-US" sz="2400" dirty="0" err="1">
                <a:latin typeface="Lucida Console" panose="020B0609040504020204" pitchFamily="49" charset="0"/>
              </a:rPr>
              <a:t>bne</a:t>
            </a:r>
            <a:r>
              <a:rPr lang="en-US" altLang="en-US" sz="2400" dirty="0">
                <a:latin typeface="Lucida Console" panose="020B0609040504020204" pitchFamily="49" charset="0"/>
              </a:rPr>
              <a:t> $at, $zero, L</a:t>
            </a:r>
          </a:p>
          <a:p>
            <a:pPr lvl="1" eaLnBrk="1" hangingPunct="1">
              <a:tabLst>
                <a:tab pos="3409950" algn="l"/>
                <a:tab pos="4038600" algn="l"/>
              </a:tabLst>
            </a:pPr>
            <a:r>
              <a:rPr lang="en-US" altLang="en-US" dirty="0"/>
              <a:t>$at (register 1): </a:t>
            </a:r>
            <a:r>
              <a:rPr lang="en-US" altLang="en-US" dirty="0" err="1"/>
              <a:t>assemblfigmentser</a:t>
            </a:r>
            <a:r>
              <a:rPr lang="en-US" altLang="en-US" dirty="0"/>
              <a:t> temporary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Footer Placeholder 3">
            <a:extLst>
              <a:ext uri="{FF2B5EF4-FFF2-40B4-BE49-F238E27FC236}">
                <a16:creationId xmlns:a16="http://schemas.microsoft.com/office/drawing/2014/main" id="{EAC59B9B-D8D9-4285-BCA0-98F2B98726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B67C59EE-3D25-4928-B9D0-3673D3C81B7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AU" altLang="en-US" sz="14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A5CBFBF4-3580-4BB3-8E4F-FE24D0846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Producing an Object Module</a:t>
            </a:r>
            <a:endParaRPr lang="en-AU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D830FAC2-5554-4938-99C0-0645F3048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Assembler (or compiler) translates program into machine instructions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Provides information for building a complete program from the pieces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Header: described contents of object module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Text segment: translated instructions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Static data segment: data allocated for the life of the program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Relocation info: for contents that depend on absolute location of loaded program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Symbol table: global definitions and external refs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Debug info: for associating with source code</a:t>
            </a:r>
            <a:endParaRPr lang="en-AU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Footer Placeholder 3">
            <a:extLst>
              <a:ext uri="{FF2B5EF4-FFF2-40B4-BE49-F238E27FC236}">
                <a16:creationId xmlns:a16="http://schemas.microsoft.com/office/drawing/2014/main" id="{CACEFD2E-723B-4BB7-BB29-582BF25436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CD2FBCAB-C491-4976-B177-BB73703469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AU" altLang="en-US" sz="1400"/>
          </a:p>
        </p:txBody>
      </p:sp>
      <p:sp>
        <p:nvSpPr>
          <p:cNvPr id="69635" name="Rectangle 4">
            <a:extLst>
              <a:ext uri="{FF2B5EF4-FFF2-40B4-BE49-F238E27FC236}">
                <a16:creationId xmlns:a16="http://schemas.microsoft.com/office/drawing/2014/main" id="{40C1D5FE-89F9-4D41-9797-6E5851B74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Linking Object Modules</a:t>
            </a:r>
            <a:endParaRPr lang="en-AU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9636" name="Rectangle 5">
            <a:extLst>
              <a:ext uri="{FF2B5EF4-FFF2-40B4-BE49-F238E27FC236}">
                <a16:creationId xmlns:a16="http://schemas.microsoft.com/office/drawing/2014/main" id="{F4B6F280-9484-437C-BA87-DA28F7BFD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Produces an executable image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1.	Merges segments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2.	Resolve labels (determine their addresses)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3.	Patch location-dependent and external refs</a:t>
            </a:r>
          </a:p>
          <a:p>
            <a:pPr eaLnBrk="1" hangingPunct="1">
              <a:defRPr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Could leave location dependencies for fixing by a relocating loader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But with virtual memory, no need to do this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Program can be loaded into absolute location in virtual memory space</a:t>
            </a:r>
            <a:endParaRPr lang="en-AU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Footer Placeholder 3">
            <a:extLst>
              <a:ext uri="{FF2B5EF4-FFF2-40B4-BE49-F238E27FC236}">
                <a16:creationId xmlns:a16="http://schemas.microsoft.com/office/drawing/2014/main" id="{47DE8B40-E00A-4460-B3D9-965BFBEC3A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>
                <a:solidFill>
                  <a:srgbClr val="F2F2F2"/>
                </a:solidFill>
              </a:rPr>
              <a:t>Chapter 2 — Instructions: Language of the Computer — </a:t>
            </a:r>
            <a:fld id="{806A02C2-A8DB-46CA-A1BB-F7600D2A7A97}" type="slidenum">
              <a:rPr lang="en-AU" altLang="en-US" sz="1400" smtClean="0">
                <a:solidFill>
                  <a:srgbClr val="F2F2F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AU" altLang="en-US" sz="1400">
              <a:solidFill>
                <a:srgbClr val="F2F2F2"/>
              </a:solidFill>
            </a:endParaRPr>
          </a:p>
        </p:txBody>
      </p:sp>
      <p:sp>
        <p:nvSpPr>
          <p:cNvPr id="70659" name="Rectangle 4">
            <a:extLst>
              <a:ext uri="{FF2B5EF4-FFF2-40B4-BE49-F238E27FC236}">
                <a16:creationId xmlns:a16="http://schemas.microsoft.com/office/drawing/2014/main" id="{B7934429-1727-4900-A529-1D6C007B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Loading a Program</a:t>
            </a:r>
            <a:endParaRPr lang="en-A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0660" name="Rectangle 5">
            <a:extLst>
              <a:ext uri="{FF2B5EF4-FFF2-40B4-BE49-F238E27FC236}">
                <a16:creationId xmlns:a16="http://schemas.microsoft.com/office/drawing/2014/main" id="{7228BDE3-2370-4238-BBBC-7627F77ED2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Load from image file on disk into memory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1.	Read header to determine segment sizes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2.	Create virtual address space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3.	Copy text and initialized data into memory</a:t>
            </a:r>
          </a:p>
          <a:p>
            <a:pPr lvl="2" eaLnBrk="1" hangingPunct="1"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Or set page table entries so they can be faulted in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4.	Set up arguments on stack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5.	Initialize registers (including $sp, $fp, $gp)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6.	Jump to startup routine</a:t>
            </a:r>
          </a:p>
          <a:p>
            <a:pPr lvl="2" eaLnBrk="1" hangingPunct="1"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Copies arguments to $a0, … and calls main</a:t>
            </a:r>
          </a:p>
          <a:p>
            <a:pPr lvl="2" eaLnBrk="1" hangingPunct="1"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When main returns, do exit syscall</a:t>
            </a:r>
            <a:endParaRPr lang="en-AU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Footer Placeholder 3">
            <a:extLst>
              <a:ext uri="{FF2B5EF4-FFF2-40B4-BE49-F238E27FC236}">
                <a16:creationId xmlns:a16="http://schemas.microsoft.com/office/drawing/2014/main" id="{9082382F-F360-40AB-9076-82810D93DD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>
                <a:solidFill>
                  <a:srgbClr val="F2F2F2"/>
                </a:solidFill>
              </a:rPr>
              <a:t>Chapter 2 — Instructions: Language of the Computer — </a:t>
            </a:r>
            <a:fld id="{BE75353E-4BD2-4DE2-B5E0-8D1C317C5CCE}" type="slidenum">
              <a:rPr lang="en-AU" altLang="en-US" sz="1400" smtClean="0">
                <a:solidFill>
                  <a:srgbClr val="F2F2F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AU" altLang="en-US" sz="1400">
              <a:solidFill>
                <a:srgbClr val="F2F2F2"/>
              </a:solidFill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3E6AD7B4-F5EC-4142-B3EB-9300CA903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Dynamic Linking</a:t>
            </a:r>
            <a:endParaRPr lang="en-A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2856CC45-53B4-4414-8CD2-22FE239ED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Only link/load library procedure when it is called</a:t>
            </a:r>
          </a:p>
          <a:p>
            <a:pPr lvl="1" eaLnBrk="1" hangingPunct="1"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Requires procedure code to be relocatable</a:t>
            </a:r>
          </a:p>
          <a:p>
            <a:pPr lvl="1" eaLnBrk="1" hangingPunct="1"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Avoids image bloat caused by static linking of all (transitively) referenced libraries</a:t>
            </a:r>
          </a:p>
          <a:p>
            <a:pPr lvl="1" eaLnBrk="1" hangingPunct="1"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Automatically picks up new library versions</a:t>
            </a:r>
            <a:endParaRPr lang="en-AU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Footer Placeholder 3">
            <a:extLst>
              <a:ext uri="{FF2B5EF4-FFF2-40B4-BE49-F238E27FC236}">
                <a16:creationId xmlns:a16="http://schemas.microsoft.com/office/drawing/2014/main" id="{9F7AAE2C-7118-4580-9223-751CCC4DA6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>
                <a:solidFill>
                  <a:srgbClr val="F2F2F2"/>
                </a:solidFill>
              </a:rPr>
              <a:t>Chapter 2 — Instructions: Language of the Computer — </a:t>
            </a:r>
            <a:fld id="{0C16AEFB-305B-4B91-AE0F-AF18E485FB30}" type="slidenum">
              <a:rPr lang="en-AU" altLang="en-US" sz="1400" smtClean="0">
                <a:solidFill>
                  <a:srgbClr val="F2F2F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en-AU" altLang="en-US" sz="1400">
              <a:solidFill>
                <a:srgbClr val="F2F2F2"/>
              </a:solidFill>
            </a:endParaRPr>
          </a:p>
        </p:txBody>
      </p:sp>
      <p:pic>
        <p:nvPicPr>
          <p:cNvPr id="171011" name="Picture 10" descr="f02-22-P374493">
            <a:extLst>
              <a:ext uri="{FF2B5EF4-FFF2-40B4-BE49-F238E27FC236}">
                <a16:creationId xmlns:a16="http://schemas.microsoft.com/office/drawing/2014/main" id="{B12A4730-86C4-4123-86F6-2B069C92A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1196975"/>
            <a:ext cx="4005263" cy="501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2">
            <a:extLst>
              <a:ext uri="{FF2B5EF4-FFF2-40B4-BE49-F238E27FC236}">
                <a16:creationId xmlns:a16="http://schemas.microsoft.com/office/drawing/2014/main" id="{4155B6DA-E6DA-408D-BCD0-00E7FAC47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Lazy Linkage</a:t>
            </a:r>
            <a:endParaRPr lang="en-A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2709" name="Text Box 4">
            <a:extLst>
              <a:ext uri="{FF2B5EF4-FFF2-40B4-BE49-F238E27FC236}">
                <a16:creationId xmlns:a16="http://schemas.microsoft.com/office/drawing/2014/main" id="{468440C2-3262-4DD1-B28A-7C04C5E03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497138"/>
            <a:ext cx="1797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Indirection table</a:t>
            </a:r>
            <a:endParaRPr lang="en-AU">
              <a:solidFill>
                <a:schemeClr val="bg1">
                  <a:lumMod val="95000"/>
                </a:schemeClr>
              </a:solidFill>
              <a:latin typeface="Arial" charset="0"/>
            </a:endParaRPr>
          </a:p>
        </p:txBody>
      </p:sp>
      <p:sp>
        <p:nvSpPr>
          <p:cNvPr id="72710" name="Text Box 5">
            <a:extLst>
              <a:ext uri="{FF2B5EF4-FFF2-40B4-BE49-F238E27FC236}">
                <a16:creationId xmlns:a16="http://schemas.microsoft.com/office/drawing/2014/main" id="{7F1F3B43-E6A6-495F-9A9C-D666FBCFB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305175"/>
            <a:ext cx="2520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Stub: Loads routine ID,</a:t>
            </a:r>
            <a:br>
              <a:rPr lang="en-US">
                <a:solidFill>
                  <a:schemeClr val="bg1">
                    <a:lumMod val="95000"/>
                  </a:schemeClr>
                </a:solidFill>
                <a:latin typeface="Arial" charset="0"/>
              </a:rPr>
            </a:br>
            <a:r>
              <a:rPr lang="en-US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Jump to linker/loader</a:t>
            </a:r>
            <a:endParaRPr lang="en-AU">
              <a:solidFill>
                <a:schemeClr val="bg1">
                  <a:lumMod val="95000"/>
                </a:schemeClr>
              </a:solidFill>
              <a:latin typeface="Arial" charset="0"/>
            </a:endParaRPr>
          </a:p>
        </p:txBody>
      </p:sp>
      <p:sp>
        <p:nvSpPr>
          <p:cNvPr id="72711" name="Text Box 6">
            <a:extLst>
              <a:ext uri="{FF2B5EF4-FFF2-40B4-BE49-F238E27FC236}">
                <a16:creationId xmlns:a16="http://schemas.microsoft.com/office/drawing/2014/main" id="{5CF93E91-3BDB-4322-A608-400C6FCE3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370388"/>
            <a:ext cx="2063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Linker/loader code</a:t>
            </a:r>
            <a:endParaRPr lang="en-AU">
              <a:solidFill>
                <a:schemeClr val="bg1">
                  <a:lumMod val="95000"/>
                </a:schemeClr>
              </a:solidFill>
              <a:latin typeface="Arial" charset="0"/>
            </a:endParaRPr>
          </a:p>
        </p:txBody>
      </p:sp>
      <p:sp>
        <p:nvSpPr>
          <p:cNvPr id="72712" name="Text Box 7">
            <a:extLst>
              <a:ext uri="{FF2B5EF4-FFF2-40B4-BE49-F238E27FC236}">
                <a16:creationId xmlns:a16="http://schemas.microsoft.com/office/drawing/2014/main" id="{EDEFED33-AF12-4FFB-A876-26D358318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233988"/>
            <a:ext cx="1568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Dynamically</a:t>
            </a:r>
            <a:br>
              <a:rPr lang="en-US">
                <a:solidFill>
                  <a:schemeClr val="bg1">
                    <a:lumMod val="95000"/>
                  </a:schemeClr>
                </a:solidFill>
                <a:latin typeface="Arial" charset="0"/>
              </a:rPr>
            </a:br>
            <a:r>
              <a:rPr lang="en-US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mapped code</a:t>
            </a:r>
            <a:endParaRPr lang="en-AU">
              <a:solidFill>
                <a:schemeClr val="bg1">
                  <a:lumMod val="95000"/>
                </a:schemeClr>
              </a:solidFill>
              <a:latin typeface="Arial" charset="0"/>
            </a:endParaRPr>
          </a:p>
        </p:txBody>
      </p:sp>
    </p:spTree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Footer Placeholder 3">
            <a:extLst>
              <a:ext uri="{FF2B5EF4-FFF2-40B4-BE49-F238E27FC236}">
                <a16:creationId xmlns:a16="http://schemas.microsoft.com/office/drawing/2014/main" id="{105752CC-8B56-4DFB-B80F-6CD6EE9F22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8A471CFD-00C9-42E5-BB98-FB811FBA58E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AU" altLang="en-US" sz="1400"/>
          </a:p>
        </p:txBody>
      </p:sp>
      <p:pic>
        <p:nvPicPr>
          <p:cNvPr id="173059" name="Picture 8" descr="f02-23-P374493">
            <a:extLst>
              <a:ext uri="{FF2B5EF4-FFF2-40B4-BE49-F238E27FC236}">
                <a16:creationId xmlns:a16="http://schemas.microsoft.com/office/drawing/2014/main" id="{7CD094E6-7539-47AF-8EA1-703C79234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1989138"/>
            <a:ext cx="6416675" cy="278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060" name="Rectangle 2">
            <a:extLst>
              <a:ext uri="{FF2B5EF4-FFF2-40B4-BE49-F238E27FC236}">
                <a16:creationId xmlns:a16="http://schemas.microsoft.com/office/drawing/2014/main" id="{CCFA33C2-82AA-447F-8F2B-867EA07D4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Starting Java Applications</a:t>
            </a:r>
            <a:endParaRPr lang="en-AU" altLang="en-US"/>
          </a:p>
        </p:txBody>
      </p:sp>
      <p:sp>
        <p:nvSpPr>
          <p:cNvPr id="173061" name="AutoShape 4">
            <a:extLst>
              <a:ext uri="{FF2B5EF4-FFF2-40B4-BE49-F238E27FC236}">
                <a16:creationId xmlns:a16="http://schemas.microsoft.com/office/drawing/2014/main" id="{C441EB77-07A3-4AC8-9491-11C6CA23A8F5}"/>
              </a:ext>
            </a:extLst>
          </p:cNvPr>
          <p:cNvSpPr>
            <a:spLocks/>
          </p:cNvSpPr>
          <p:nvPr/>
        </p:nvSpPr>
        <p:spPr bwMode="auto">
          <a:xfrm>
            <a:off x="6003925" y="1844675"/>
            <a:ext cx="1939925" cy="906463"/>
          </a:xfrm>
          <a:prstGeom prst="borderCallout1">
            <a:avLst>
              <a:gd name="adj1" fmla="val 12611"/>
              <a:gd name="adj2" fmla="val -3926"/>
              <a:gd name="adj3" fmla="val 138005"/>
              <a:gd name="adj4" fmla="val -506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Simple portable instruction set for the JVM</a:t>
            </a:r>
            <a:endParaRPr lang="en-AU" altLang="en-US" sz="1800"/>
          </a:p>
        </p:txBody>
      </p:sp>
      <p:sp>
        <p:nvSpPr>
          <p:cNvPr id="173062" name="AutoShape 5">
            <a:extLst>
              <a:ext uri="{FF2B5EF4-FFF2-40B4-BE49-F238E27FC236}">
                <a16:creationId xmlns:a16="http://schemas.microsoft.com/office/drawing/2014/main" id="{49A4085A-BD6A-4E59-8A86-1EAA7902FA96}"/>
              </a:ext>
            </a:extLst>
          </p:cNvPr>
          <p:cNvSpPr>
            <a:spLocks/>
          </p:cNvSpPr>
          <p:nvPr/>
        </p:nvSpPr>
        <p:spPr bwMode="auto">
          <a:xfrm>
            <a:off x="7156450" y="4149725"/>
            <a:ext cx="1584325" cy="647700"/>
          </a:xfrm>
          <a:prstGeom prst="borderCallout1">
            <a:avLst>
              <a:gd name="adj1" fmla="val 17648"/>
              <a:gd name="adj2" fmla="val -4810"/>
              <a:gd name="adj3" fmla="val -23528"/>
              <a:gd name="adj4" fmla="val -594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Interprets bytecodes</a:t>
            </a:r>
            <a:endParaRPr lang="en-AU" altLang="en-US" sz="1800"/>
          </a:p>
        </p:txBody>
      </p:sp>
      <p:sp>
        <p:nvSpPr>
          <p:cNvPr id="173063" name="AutoShape 6">
            <a:extLst>
              <a:ext uri="{FF2B5EF4-FFF2-40B4-BE49-F238E27FC236}">
                <a16:creationId xmlns:a16="http://schemas.microsoft.com/office/drawing/2014/main" id="{B3595DB0-9DA1-4621-B50F-3CC18EDC4C1D}"/>
              </a:ext>
            </a:extLst>
          </p:cNvPr>
          <p:cNvSpPr>
            <a:spLocks/>
          </p:cNvSpPr>
          <p:nvPr/>
        </p:nvSpPr>
        <p:spPr bwMode="auto">
          <a:xfrm>
            <a:off x="179388" y="4005263"/>
            <a:ext cx="1704975" cy="1728787"/>
          </a:xfrm>
          <a:prstGeom prst="borderCallout1">
            <a:avLst>
              <a:gd name="adj1" fmla="val 6611"/>
              <a:gd name="adj2" fmla="val 104468"/>
              <a:gd name="adj3" fmla="val -2019"/>
              <a:gd name="adj4" fmla="val 1278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Compiles bytecodes of “hot” methods into native code for host machine</a:t>
            </a:r>
            <a:endParaRPr lang="en-AU" altLang="en-US" sz="1800"/>
          </a:p>
        </p:txBody>
      </p:sp>
    </p:spTree>
  </p:cSld>
  <p:clrMapOvr>
    <a:masterClrMapping/>
  </p:clrMapOvr>
  <p:transition spd="slow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Footer Placeholder 3">
            <a:extLst>
              <a:ext uri="{FF2B5EF4-FFF2-40B4-BE49-F238E27FC236}">
                <a16:creationId xmlns:a16="http://schemas.microsoft.com/office/drawing/2014/main" id="{F0C96099-C0B0-4CA7-B6C9-CED046AA61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D933C60E-7833-41F6-8B84-5F4B1093EB6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AU" altLang="en-US" sz="1400"/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F8E52ADB-1E89-4820-B126-2377C9A31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 Sort Example</a:t>
            </a:r>
            <a:endParaRPr lang="en-AU" altLang="en-US"/>
          </a:p>
        </p:txBody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2CA68E40-AC8A-4151-8C15-8D41303A04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3089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Illustrates use of assembly instructions for a C bubble sort function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Swap procedure (leaf)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 /* swap contents of v[k],v[k+1] */ void swap(int v[], int k)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{ 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  int temp;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  temp = v[k];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  v[k] = v[k+1];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  v[k+1] = temp;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v in $a0, k in $a1, temp in $t0</a:t>
            </a:r>
          </a:p>
        </p:txBody>
      </p:sp>
      <p:sp>
        <p:nvSpPr>
          <p:cNvPr id="175109" name="Text Box 4">
            <a:extLst>
              <a:ext uri="{FF2B5EF4-FFF2-40B4-BE49-F238E27FC236}">
                <a16:creationId xmlns:a16="http://schemas.microsoft.com/office/drawing/2014/main" id="{1423B36D-749B-4D13-ADB7-0C0F8B3DB6E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569869" y="2207419"/>
            <a:ext cx="47815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§2.13 A C Sort Example to Put It All Together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Footer Placeholder 3">
            <a:extLst>
              <a:ext uri="{FF2B5EF4-FFF2-40B4-BE49-F238E27FC236}">
                <a16:creationId xmlns:a16="http://schemas.microsoft.com/office/drawing/2014/main" id="{87F5FF73-752A-4DFA-95DC-7ABB4E8F5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B3083B8F-9415-4F1E-9D22-FD71A0464CB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en-AU" altLang="en-US" sz="1400"/>
          </a:p>
        </p:txBody>
      </p:sp>
      <p:sp>
        <p:nvSpPr>
          <p:cNvPr id="177155" name="Rectangle 4">
            <a:extLst>
              <a:ext uri="{FF2B5EF4-FFF2-40B4-BE49-F238E27FC236}">
                <a16:creationId xmlns:a16="http://schemas.microsoft.com/office/drawing/2014/main" id="{53031234-8D4A-4C97-9A39-A59641A43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268413"/>
            <a:ext cx="8002587" cy="9985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7156" name="Rectangle 5">
            <a:extLst>
              <a:ext uri="{FF2B5EF4-FFF2-40B4-BE49-F238E27FC236}">
                <a16:creationId xmlns:a16="http://schemas.microsoft.com/office/drawing/2014/main" id="{38D7AB41-90C8-474A-B565-E526821BD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266950"/>
            <a:ext cx="8002587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7157" name="Rectangle 6">
            <a:extLst>
              <a:ext uri="{FF2B5EF4-FFF2-40B4-BE49-F238E27FC236}">
                <a16:creationId xmlns:a16="http://schemas.microsoft.com/office/drawing/2014/main" id="{DE9BE93F-40DD-44B3-9AF7-F5B0EFA81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952750"/>
            <a:ext cx="8002587" cy="6667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7158" name="Rectangle 7">
            <a:extLst>
              <a:ext uri="{FF2B5EF4-FFF2-40B4-BE49-F238E27FC236}">
                <a16:creationId xmlns:a16="http://schemas.microsoft.com/office/drawing/2014/main" id="{CC21055D-66D7-41FF-AC81-B48809335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619500"/>
            <a:ext cx="8002587" cy="3714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7159" name="Rectangle 2">
            <a:extLst>
              <a:ext uri="{FF2B5EF4-FFF2-40B4-BE49-F238E27FC236}">
                <a16:creationId xmlns:a16="http://schemas.microsoft.com/office/drawing/2014/main" id="{8448DB44-6C31-4DE5-A78A-CC2F1F946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The Procedure Swap</a:t>
            </a:r>
          </a:p>
        </p:txBody>
      </p:sp>
      <p:sp>
        <p:nvSpPr>
          <p:cNvPr id="177160" name="Rectangle 3">
            <a:extLst>
              <a:ext uri="{FF2B5EF4-FFF2-40B4-BE49-F238E27FC236}">
                <a16:creationId xmlns:a16="http://schemas.microsoft.com/office/drawing/2014/main" id="{758BE019-45F1-4EE7-ACFF-4CF8D98669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8270875" cy="27225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000">
                <a:latin typeface="Lucida Console" panose="020B0609040504020204" pitchFamily="49" charset="0"/>
              </a:rPr>
              <a:t>swap: sll $t1, $a1, 2   # $t1 = k * 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000">
                <a:latin typeface="Lucida Console" panose="020B0609040504020204" pitchFamily="49" charset="0"/>
              </a:rPr>
              <a:t>      add $t1, $a0, $t1 # $t1 = v+(k*4)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000">
                <a:latin typeface="Lucida Console" panose="020B0609040504020204" pitchFamily="49" charset="0"/>
              </a:rPr>
              <a:t>                        # (address of v[k] in $t1)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000">
                <a:latin typeface="Lucida Console" panose="020B0609040504020204" pitchFamily="49" charset="0"/>
              </a:rPr>
              <a:t>      lw $t0, 0($t1)    # $t0 (temp) = v[k]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000">
                <a:latin typeface="Lucida Console" panose="020B0609040504020204" pitchFamily="49" charset="0"/>
              </a:rPr>
              <a:t>      lw $t2, 4($t1)    # $t2 = v[k+1]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000">
                <a:latin typeface="Lucida Console" panose="020B0609040504020204" pitchFamily="49" charset="0"/>
              </a:rPr>
              <a:t>      sw $t2, 0($t1)    # v[k] = $t2 (v[k+1])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000">
                <a:latin typeface="Lucida Console" panose="020B0609040504020204" pitchFamily="49" charset="0"/>
              </a:rPr>
              <a:t>      sw $t0, 4($t1)    # v[k+1] = $t0 (temp)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000">
                <a:latin typeface="Lucida Console" panose="020B0609040504020204" pitchFamily="49" charset="0"/>
              </a:rPr>
              <a:t>      jr $ra            # return to calling routine</a:t>
            </a:r>
          </a:p>
        </p:txBody>
      </p:sp>
      <p:sp>
        <p:nvSpPr>
          <p:cNvPr id="177161" name="Rectangle 1">
            <a:extLst>
              <a:ext uri="{FF2B5EF4-FFF2-40B4-BE49-F238E27FC236}">
                <a16:creationId xmlns:a16="http://schemas.microsoft.com/office/drawing/2014/main" id="{2FB8D8AB-1B2B-47AB-B96D-38F39D79A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4060825"/>
            <a:ext cx="792638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3409950" algn="l"/>
                <a:tab pos="403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3409950" algn="l"/>
                <a:tab pos="4038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3409950" algn="l"/>
                <a:tab pos="403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3409950" algn="l"/>
                <a:tab pos="403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409950" algn="l"/>
                <a:tab pos="403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409950" algn="l"/>
                <a:tab pos="403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409950" algn="l"/>
                <a:tab pos="403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409950" algn="l"/>
                <a:tab pos="403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409950" algn="l"/>
                <a:tab pos="403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Note: the stack is not used, because the procedure doesn’t use any registers whose content need to be reserved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Footer Placeholder 3">
            <a:extLst>
              <a:ext uri="{FF2B5EF4-FFF2-40B4-BE49-F238E27FC236}">
                <a16:creationId xmlns:a16="http://schemas.microsoft.com/office/drawing/2014/main" id="{EB4322CD-519B-4BD1-884A-DF2E931564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011A8ED7-74B6-4206-96C2-E94B7199B32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AU" altLang="en-US" sz="1400"/>
          </a:p>
        </p:txBody>
      </p:sp>
      <p:sp>
        <p:nvSpPr>
          <p:cNvPr id="179203" name="Rectangle 2">
            <a:extLst>
              <a:ext uri="{FF2B5EF4-FFF2-40B4-BE49-F238E27FC236}">
                <a16:creationId xmlns:a16="http://schemas.microsoft.com/office/drawing/2014/main" id="{99663D15-53A3-4D6B-A436-7E97BE283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The Sort Procedure in C</a:t>
            </a:r>
          </a:p>
        </p:txBody>
      </p:sp>
      <p:sp>
        <p:nvSpPr>
          <p:cNvPr id="179204" name="Rectangle 3">
            <a:extLst>
              <a:ext uri="{FF2B5EF4-FFF2-40B4-BE49-F238E27FC236}">
                <a16:creationId xmlns:a16="http://schemas.microsoft.com/office/drawing/2014/main" id="{2CE90E4B-C502-4A6E-9ACF-66704948B7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1528" y="1341562"/>
            <a:ext cx="8442960" cy="50401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Non-leaf (calls swap)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void sort (int v[], int n)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int </a:t>
            </a:r>
            <a:r>
              <a:rPr lang="en-US" altLang="en-US" sz="2400" dirty="0" err="1">
                <a:latin typeface="Lucida Console" panose="020B0609040504020204" pitchFamily="49" charset="0"/>
              </a:rPr>
              <a:t>i</a:t>
            </a:r>
            <a:r>
              <a:rPr lang="en-US" altLang="en-US" sz="2400" dirty="0">
                <a:latin typeface="Lucida Console" panose="020B0609040504020204" pitchFamily="49" charset="0"/>
              </a:rPr>
              <a:t>, j;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for (</a:t>
            </a:r>
            <a:r>
              <a:rPr lang="en-US" altLang="en-US" sz="2400" dirty="0" err="1">
                <a:latin typeface="Lucida Console" panose="020B0609040504020204" pitchFamily="49" charset="0"/>
              </a:rPr>
              <a:t>i</a:t>
            </a:r>
            <a:r>
              <a:rPr lang="en-US" altLang="en-US" sz="2400" dirty="0">
                <a:latin typeface="Lucida Console" panose="020B0609040504020204" pitchFamily="49" charset="0"/>
              </a:rPr>
              <a:t> = 0; </a:t>
            </a:r>
            <a:r>
              <a:rPr lang="en-US" altLang="en-US" sz="2400" dirty="0" err="1">
                <a:latin typeface="Lucida Console" panose="020B0609040504020204" pitchFamily="49" charset="0"/>
              </a:rPr>
              <a:t>i</a:t>
            </a:r>
            <a:r>
              <a:rPr lang="en-US" altLang="en-US" sz="2400" dirty="0">
                <a:latin typeface="Lucida Console" panose="020B0609040504020204" pitchFamily="49" charset="0"/>
              </a:rPr>
              <a:t> &lt; n; </a:t>
            </a:r>
            <a:r>
              <a:rPr lang="en-US" altLang="en-US" sz="2400" dirty="0" err="1">
                <a:latin typeface="Lucida Console" panose="020B0609040504020204" pitchFamily="49" charset="0"/>
              </a:rPr>
              <a:t>i</a:t>
            </a:r>
            <a:r>
              <a:rPr lang="en-US" altLang="en-US" sz="2400" dirty="0">
                <a:latin typeface="Lucida Console" panose="020B0609040504020204" pitchFamily="49" charset="0"/>
              </a:rPr>
              <a:t> += 1) 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for (j=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–1; j&gt;=0 &amp;&amp; v[j]&gt;v[j+1]; j-=1){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swap(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v,j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2400" dirty="0">
                <a:latin typeface="Lucida Console" panose="020B0609040504020204" pitchFamily="49" charset="0"/>
              </a:rPr>
              <a:t>   /*calls swap*/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}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}</a:t>
            </a:r>
          </a:p>
          <a:p>
            <a:pPr marL="0" lvl="1" indent="0" eaLnBrk="1" hangingPunct="1">
              <a:lnSpc>
                <a:spcPct val="80000"/>
              </a:lnSpc>
              <a:buClr>
                <a:schemeClr val="folHlink"/>
              </a:buClr>
              <a:buSzPct val="60000"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+mn-ea"/>
                <a:cs typeface="+mn-cs"/>
              </a:rPr>
              <a:t> }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v in $a0, k in $a1,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in $s0, j in $s1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Insertion Sort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Start comparing from left</a:t>
            </a:r>
            <a:endParaRPr lang="en-AU" altLang="en-US" sz="2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Footer Placeholder 3">
            <a:extLst>
              <a:ext uri="{FF2B5EF4-FFF2-40B4-BE49-F238E27FC236}">
                <a16:creationId xmlns:a16="http://schemas.microsoft.com/office/drawing/2014/main" id="{EB4322CD-519B-4BD1-884A-DF2E931564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011A8ED7-74B6-4206-96C2-E94B7199B32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AU" altLang="en-US" sz="1400"/>
          </a:p>
        </p:txBody>
      </p:sp>
      <p:sp>
        <p:nvSpPr>
          <p:cNvPr id="179203" name="Rectangle 2">
            <a:extLst>
              <a:ext uri="{FF2B5EF4-FFF2-40B4-BE49-F238E27FC236}">
                <a16:creationId xmlns:a16="http://schemas.microsoft.com/office/drawing/2014/main" id="{99663D15-53A3-4D6B-A436-7E97BE283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The Sort Procedure in C</a:t>
            </a:r>
          </a:p>
        </p:txBody>
      </p:sp>
      <p:sp>
        <p:nvSpPr>
          <p:cNvPr id="179204" name="Rectangle 3">
            <a:extLst>
              <a:ext uri="{FF2B5EF4-FFF2-40B4-BE49-F238E27FC236}">
                <a16:creationId xmlns:a16="http://schemas.microsoft.com/office/drawing/2014/main" id="{2CE90E4B-C502-4A6E-9ACF-66704948B7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1528" y="1341562"/>
            <a:ext cx="8442960" cy="4679726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Non-leaf (calls swap)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void sort (int v[], int n)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int </a:t>
            </a:r>
            <a:r>
              <a:rPr lang="en-US" altLang="en-US" sz="2400" dirty="0" err="1">
                <a:latin typeface="Lucida Console" panose="020B0609040504020204" pitchFamily="49" charset="0"/>
              </a:rPr>
              <a:t>i</a:t>
            </a:r>
            <a:r>
              <a:rPr lang="en-US" altLang="en-US" sz="2400" dirty="0">
                <a:latin typeface="Lucida Console" panose="020B0609040504020204" pitchFamily="49" charset="0"/>
              </a:rPr>
              <a:t>, j;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for (</a:t>
            </a:r>
            <a:r>
              <a:rPr lang="en-US" altLang="en-US" sz="2400" dirty="0" err="1">
                <a:latin typeface="Lucida Console" panose="020B0609040504020204" pitchFamily="49" charset="0"/>
              </a:rPr>
              <a:t>i</a:t>
            </a:r>
            <a:r>
              <a:rPr lang="en-US" altLang="en-US" sz="2400" dirty="0">
                <a:latin typeface="Lucida Console" panose="020B0609040504020204" pitchFamily="49" charset="0"/>
              </a:rPr>
              <a:t> = 0; </a:t>
            </a:r>
            <a:r>
              <a:rPr lang="en-US" altLang="en-US" sz="2400" dirty="0" err="1">
                <a:latin typeface="Lucida Console" panose="020B0609040504020204" pitchFamily="49" charset="0"/>
              </a:rPr>
              <a:t>i</a:t>
            </a:r>
            <a:r>
              <a:rPr lang="en-US" altLang="en-US" sz="2400" dirty="0">
                <a:latin typeface="Lucida Console" panose="020B0609040504020204" pitchFamily="49" charset="0"/>
              </a:rPr>
              <a:t> &lt; n; </a:t>
            </a:r>
            <a:r>
              <a:rPr lang="en-US" altLang="en-US" sz="2400" dirty="0" err="1">
                <a:latin typeface="Lucida Console" panose="020B0609040504020204" pitchFamily="49" charset="0"/>
              </a:rPr>
              <a:t>i</a:t>
            </a:r>
            <a:r>
              <a:rPr lang="en-US" altLang="en-US" sz="2400" dirty="0">
                <a:latin typeface="Lucida Console" panose="020B0609040504020204" pitchFamily="49" charset="0"/>
              </a:rPr>
              <a:t> += 1){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for (j = n–2; j &gt;= </a:t>
            </a:r>
            <a:r>
              <a:rPr lang="en-US" alt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; j -= 1)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    if (v[j]&gt;v[j+1])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      swap(</a:t>
            </a:r>
            <a:r>
              <a:rPr lang="en-US" alt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v,j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);   </a:t>
            </a:r>
            <a:r>
              <a:rPr lang="en-US" altLang="en-US" sz="2400" dirty="0">
                <a:latin typeface="Lucida Console" panose="020B0609040504020204" pitchFamily="49" charset="0"/>
              </a:rPr>
              <a:t>/*calls swap*/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}</a:t>
            </a:r>
          </a:p>
          <a:p>
            <a:pPr marL="0" lvl="1" indent="0" eaLnBrk="1" hangingPunct="1">
              <a:lnSpc>
                <a:spcPct val="80000"/>
              </a:lnSpc>
              <a:buClr>
                <a:schemeClr val="folHlink"/>
              </a:buClr>
              <a:buSzPct val="60000"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+mn-ea"/>
                <a:cs typeface="+mn-cs"/>
              </a:rPr>
              <a:t> 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v in $a0, k in $a1,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in $s0, j in $s1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B050"/>
                </a:solidFill>
              </a:rPr>
              <a:t>Bubble Sort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B050"/>
                </a:solidFill>
              </a:rPr>
              <a:t>Start comparing from right</a:t>
            </a:r>
            <a:endParaRPr lang="en-AU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041433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Footer Placeholder 3">
            <a:extLst>
              <a:ext uri="{FF2B5EF4-FFF2-40B4-BE49-F238E27FC236}">
                <a16:creationId xmlns:a16="http://schemas.microsoft.com/office/drawing/2014/main" id="{9D867C56-A56C-448E-90CD-05C7AB80A2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F0156A29-0AFB-410A-AF9D-521FD8012B8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en-AU" altLang="en-US" sz="1400"/>
          </a:p>
        </p:txBody>
      </p:sp>
      <p:sp>
        <p:nvSpPr>
          <p:cNvPr id="181251" name="Rectangle 5">
            <a:extLst>
              <a:ext uri="{FF2B5EF4-FFF2-40B4-BE49-F238E27FC236}">
                <a16:creationId xmlns:a16="http://schemas.microsoft.com/office/drawing/2014/main" id="{2698563E-BDB1-4B4B-BA23-2B76A4D66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16013"/>
            <a:ext cx="7316787" cy="4841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1252" name="Rectangle 6">
            <a:extLst>
              <a:ext uri="{FF2B5EF4-FFF2-40B4-BE49-F238E27FC236}">
                <a16:creationId xmlns:a16="http://schemas.microsoft.com/office/drawing/2014/main" id="{74D71C6B-5E29-4FE3-A83B-FDA972DAB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600200"/>
            <a:ext cx="7316787" cy="48418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1253" name="Rectangle 7">
            <a:extLst>
              <a:ext uri="{FF2B5EF4-FFF2-40B4-BE49-F238E27FC236}">
                <a16:creationId xmlns:a16="http://schemas.microsoft.com/office/drawing/2014/main" id="{7CBAD926-DD1E-4682-8A2E-0F3D1B684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084388"/>
            <a:ext cx="7316787" cy="24590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1254" name="Rectangle 8">
            <a:extLst>
              <a:ext uri="{FF2B5EF4-FFF2-40B4-BE49-F238E27FC236}">
                <a16:creationId xmlns:a16="http://schemas.microsoft.com/office/drawing/2014/main" id="{A31E00FC-C322-450C-8F51-04D35005E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543425"/>
            <a:ext cx="7316787" cy="73342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1255" name="Rectangle 9">
            <a:extLst>
              <a:ext uri="{FF2B5EF4-FFF2-40B4-BE49-F238E27FC236}">
                <a16:creationId xmlns:a16="http://schemas.microsoft.com/office/drawing/2014/main" id="{C0658098-D0FC-462E-AC68-19119A83A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276850"/>
            <a:ext cx="7316787" cy="485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1256" name="Rectangle 10">
            <a:extLst>
              <a:ext uri="{FF2B5EF4-FFF2-40B4-BE49-F238E27FC236}">
                <a16:creationId xmlns:a16="http://schemas.microsoft.com/office/drawing/2014/main" id="{94C06A52-2084-4F9F-83DD-6B919E921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762625"/>
            <a:ext cx="7316787" cy="5032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1257" name="Rectangle 2">
            <a:extLst>
              <a:ext uri="{FF2B5EF4-FFF2-40B4-BE49-F238E27FC236}">
                <a16:creationId xmlns:a16="http://schemas.microsoft.com/office/drawing/2014/main" id="{B0A4B28D-9903-4872-90E7-9BBDF0984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The Procedure Body</a:t>
            </a:r>
          </a:p>
        </p:txBody>
      </p:sp>
      <p:sp>
        <p:nvSpPr>
          <p:cNvPr id="181258" name="Rectangle 4">
            <a:extLst>
              <a:ext uri="{FF2B5EF4-FFF2-40B4-BE49-F238E27FC236}">
                <a16:creationId xmlns:a16="http://schemas.microsoft.com/office/drawing/2014/main" id="{ED426DB3-7EFB-4B52-8E8F-8ED5C2735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87438"/>
            <a:ext cx="8270875" cy="5111750"/>
          </a:xfrm>
          <a:noFill/>
        </p:spPr>
        <p:txBody>
          <a:bodyPr/>
          <a:lstStyle/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move $s2, $a0           # save $a0 into $s2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move $s3, $a1           # save $a1 into $s3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move $s0, $zero         # </a:t>
            </a:r>
            <a:r>
              <a:rPr lang="en-AU" altLang="en-US" sz="1400" dirty="0" err="1">
                <a:latin typeface="Lucida Console" panose="020B0609040504020204" pitchFamily="49" charset="0"/>
              </a:rPr>
              <a:t>i</a:t>
            </a:r>
            <a:r>
              <a:rPr lang="en-AU" altLang="en-US" sz="1400" dirty="0">
                <a:latin typeface="Lucida Console" panose="020B0609040504020204" pitchFamily="49" charset="0"/>
              </a:rPr>
              <a:t> = 0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for1tst: </a:t>
            </a:r>
            <a:r>
              <a:rPr lang="en-AU" altLang="en-US" sz="1400" dirty="0" err="1">
                <a:latin typeface="Lucida Console" panose="020B0609040504020204" pitchFamily="49" charset="0"/>
              </a:rPr>
              <a:t>slt</a:t>
            </a:r>
            <a:r>
              <a:rPr lang="en-AU" altLang="en-US" sz="1400" dirty="0">
                <a:latin typeface="Lucida Console" panose="020B0609040504020204" pitchFamily="49" charset="0"/>
              </a:rPr>
              <a:t>  $t0, $s0, $s3      # $t0 = 0 if $s0 ≥ $s3 (</a:t>
            </a:r>
            <a:r>
              <a:rPr lang="en-AU" altLang="en-US" sz="1400" dirty="0" err="1">
                <a:latin typeface="Lucida Console" panose="020B0609040504020204" pitchFamily="49" charset="0"/>
              </a:rPr>
              <a:t>i</a:t>
            </a:r>
            <a:r>
              <a:rPr lang="en-AU" altLang="en-US" sz="1400" dirty="0">
                <a:latin typeface="Lucida Console" panose="020B0609040504020204" pitchFamily="49" charset="0"/>
              </a:rPr>
              <a:t> ≥ n)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</a:t>
            </a:r>
            <a:r>
              <a:rPr lang="en-AU" altLang="en-US" sz="1400" dirty="0" err="1">
                <a:latin typeface="Lucida Console" panose="020B0609040504020204" pitchFamily="49" charset="0"/>
              </a:rPr>
              <a:t>beq</a:t>
            </a:r>
            <a:r>
              <a:rPr lang="en-AU" altLang="en-US" sz="1400" dirty="0">
                <a:latin typeface="Lucida Console" panose="020B0609040504020204" pitchFamily="49" charset="0"/>
              </a:rPr>
              <a:t>  $t0, $zero, exit1  # go to exit1 if $s0 ≥ $s3 (</a:t>
            </a:r>
            <a:r>
              <a:rPr lang="en-AU" altLang="en-US" sz="1400" dirty="0" err="1">
                <a:latin typeface="Lucida Console" panose="020B0609040504020204" pitchFamily="49" charset="0"/>
              </a:rPr>
              <a:t>i</a:t>
            </a:r>
            <a:r>
              <a:rPr lang="en-AU" altLang="en-US" sz="1400" dirty="0">
                <a:latin typeface="Lucida Console" panose="020B0609040504020204" pitchFamily="49" charset="0"/>
              </a:rPr>
              <a:t> ≥ n)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</a:t>
            </a:r>
            <a:r>
              <a:rPr lang="en-AU" altLang="en-US" sz="1400" dirty="0" err="1">
                <a:latin typeface="Lucida Console" panose="020B0609040504020204" pitchFamily="49" charset="0"/>
              </a:rPr>
              <a:t>addi</a:t>
            </a:r>
            <a:r>
              <a:rPr lang="en-AU" altLang="en-US" sz="1400" dirty="0">
                <a:latin typeface="Lucida Console" panose="020B0609040504020204" pitchFamily="49" charset="0"/>
              </a:rPr>
              <a:t> $s1, $s0, –1       # j = </a:t>
            </a:r>
            <a:r>
              <a:rPr lang="en-AU" altLang="en-US" sz="1400" dirty="0" err="1">
                <a:latin typeface="Lucida Console" panose="020B0609040504020204" pitchFamily="49" charset="0"/>
              </a:rPr>
              <a:t>i</a:t>
            </a:r>
            <a:r>
              <a:rPr lang="en-AU" altLang="en-US" sz="1400" dirty="0">
                <a:latin typeface="Lucida Console" panose="020B0609040504020204" pitchFamily="49" charset="0"/>
              </a:rPr>
              <a:t> – 1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for2tst: </a:t>
            </a:r>
            <a:r>
              <a:rPr lang="en-AU" altLang="en-US" sz="1400" dirty="0" err="1">
                <a:latin typeface="Lucida Console" panose="020B0609040504020204" pitchFamily="49" charset="0"/>
              </a:rPr>
              <a:t>slti</a:t>
            </a:r>
            <a:r>
              <a:rPr lang="en-AU" altLang="en-US" sz="1400" dirty="0">
                <a:latin typeface="Lucida Console" panose="020B0609040504020204" pitchFamily="49" charset="0"/>
              </a:rPr>
              <a:t> $t0, $s1, 0        # $t0 = 1 if $s1 &lt; 0 (j &lt; 0)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</a:t>
            </a:r>
            <a:r>
              <a:rPr lang="en-AU" altLang="en-US" sz="1400" dirty="0" err="1">
                <a:latin typeface="Lucida Console" panose="020B0609040504020204" pitchFamily="49" charset="0"/>
              </a:rPr>
              <a:t>bne</a:t>
            </a:r>
            <a:r>
              <a:rPr lang="en-AU" altLang="en-US" sz="1400" dirty="0">
                <a:latin typeface="Lucida Console" panose="020B0609040504020204" pitchFamily="49" charset="0"/>
              </a:rPr>
              <a:t>  $t0, $zero, exit2  # go to exit2 if $s1 &lt; 0 (j &lt; 0)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</a:t>
            </a:r>
            <a:r>
              <a:rPr lang="en-AU" altLang="en-US" sz="1400" dirty="0" err="1">
                <a:latin typeface="Lucida Console" panose="020B0609040504020204" pitchFamily="49" charset="0"/>
              </a:rPr>
              <a:t>sll</a:t>
            </a:r>
            <a:r>
              <a:rPr lang="en-AU" altLang="en-US" sz="1400" dirty="0">
                <a:latin typeface="Lucida Console" panose="020B0609040504020204" pitchFamily="49" charset="0"/>
              </a:rPr>
              <a:t>  $t1, $s1, 2        # $t1 = j * 4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add  $t2, $s2, $t1      # $t2 = v + (j * 4)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</a:t>
            </a:r>
            <a:r>
              <a:rPr lang="en-AU" altLang="en-US" sz="1400" dirty="0" err="1">
                <a:latin typeface="Lucida Console" panose="020B0609040504020204" pitchFamily="49" charset="0"/>
              </a:rPr>
              <a:t>lw</a:t>
            </a:r>
            <a:r>
              <a:rPr lang="en-AU" altLang="en-US" sz="1400" dirty="0">
                <a:latin typeface="Lucida Console" panose="020B0609040504020204" pitchFamily="49" charset="0"/>
              </a:rPr>
              <a:t>   $t3, 0($t2)        # $t3 = v[j]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</a:t>
            </a:r>
            <a:r>
              <a:rPr lang="en-AU" altLang="en-US" sz="1400" dirty="0" err="1">
                <a:latin typeface="Lucida Console" panose="020B0609040504020204" pitchFamily="49" charset="0"/>
              </a:rPr>
              <a:t>lw</a:t>
            </a:r>
            <a:r>
              <a:rPr lang="en-AU" altLang="en-US" sz="1400" dirty="0">
                <a:latin typeface="Lucida Console" panose="020B0609040504020204" pitchFamily="49" charset="0"/>
              </a:rPr>
              <a:t>   $t4, 4($t2)        # $t4 = v[j + 1]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</a:t>
            </a:r>
            <a:r>
              <a:rPr lang="en-AU" altLang="en-US" sz="1400" dirty="0" err="1">
                <a:latin typeface="Lucida Console" panose="020B0609040504020204" pitchFamily="49" charset="0"/>
              </a:rPr>
              <a:t>slt</a:t>
            </a:r>
            <a:r>
              <a:rPr lang="en-AU" altLang="en-US" sz="1400" dirty="0">
                <a:latin typeface="Lucida Console" panose="020B0609040504020204" pitchFamily="49" charset="0"/>
              </a:rPr>
              <a:t>  $t0, $t4, $t3      # $t0 = 0 if $t4 ≥ $t3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</a:t>
            </a:r>
            <a:r>
              <a:rPr lang="en-AU" altLang="en-US" sz="1400" dirty="0" err="1">
                <a:latin typeface="Lucida Console" panose="020B0609040504020204" pitchFamily="49" charset="0"/>
              </a:rPr>
              <a:t>beq</a:t>
            </a:r>
            <a:r>
              <a:rPr lang="en-AU" altLang="en-US" sz="1400" dirty="0">
                <a:latin typeface="Lucida Console" panose="020B0609040504020204" pitchFamily="49" charset="0"/>
              </a:rPr>
              <a:t>  $t0, $zero, exit2  # go to exit2 if $t4 ≥ $t3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move $a0, $s2           # 1st param of swap is v (old $a0)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move $a1, $s1           # 2nd param of swap is j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</a:t>
            </a:r>
            <a:r>
              <a:rPr lang="en-AU" altLang="en-US" sz="1400" dirty="0" err="1">
                <a:latin typeface="Lucida Console" panose="020B0609040504020204" pitchFamily="49" charset="0"/>
              </a:rPr>
              <a:t>jal</a:t>
            </a:r>
            <a:r>
              <a:rPr lang="en-AU" altLang="en-US" sz="1400" dirty="0">
                <a:latin typeface="Lucida Console" panose="020B0609040504020204" pitchFamily="49" charset="0"/>
              </a:rPr>
              <a:t>  swap               # call swap procedure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</a:t>
            </a:r>
            <a:r>
              <a:rPr lang="en-AU" altLang="en-US" sz="1400" dirty="0" err="1">
                <a:latin typeface="Lucida Console" panose="020B0609040504020204" pitchFamily="49" charset="0"/>
              </a:rPr>
              <a:t>addi</a:t>
            </a:r>
            <a:r>
              <a:rPr lang="en-AU" altLang="en-US" sz="1400" dirty="0">
                <a:latin typeface="Lucida Console" panose="020B0609040504020204" pitchFamily="49" charset="0"/>
              </a:rPr>
              <a:t> $s1, $s1, –1       # j –= 1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j    for2tst            # jump to test of inner loop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exit2:   </a:t>
            </a:r>
            <a:r>
              <a:rPr lang="en-AU" altLang="en-US" sz="1400" dirty="0" err="1">
                <a:latin typeface="Lucida Console" panose="020B0609040504020204" pitchFamily="49" charset="0"/>
              </a:rPr>
              <a:t>addi</a:t>
            </a:r>
            <a:r>
              <a:rPr lang="en-AU" altLang="en-US" sz="1400" dirty="0">
                <a:latin typeface="Lucida Console" panose="020B0609040504020204" pitchFamily="49" charset="0"/>
              </a:rPr>
              <a:t> $s0, $s0, 1        # </a:t>
            </a:r>
            <a:r>
              <a:rPr lang="en-AU" altLang="en-US" sz="1400" dirty="0" err="1">
                <a:latin typeface="Lucida Console" panose="020B0609040504020204" pitchFamily="49" charset="0"/>
              </a:rPr>
              <a:t>i</a:t>
            </a:r>
            <a:r>
              <a:rPr lang="en-AU" altLang="en-US" sz="1400" dirty="0">
                <a:latin typeface="Lucida Console" panose="020B0609040504020204" pitchFamily="49" charset="0"/>
              </a:rPr>
              <a:t> += 1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 dirty="0">
                <a:latin typeface="Lucida Console" panose="020B0609040504020204" pitchFamily="49" charset="0"/>
              </a:rPr>
              <a:t>         j    for1tst            # jump to test of outer loop</a:t>
            </a:r>
          </a:p>
        </p:txBody>
      </p:sp>
      <p:sp>
        <p:nvSpPr>
          <p:cNvPr id="181259" name="Rectangle 16">
            <a:extLst>
              <a:ext uri="{FF2B5EF4-FFF2-40B4-BE49-F238E27FC236}">
                <a16:creationId xmlns:a16="http://schemas.microsoft.com/office/drawing/2014/main" id="{8904A2D2-7B8D-4DBE-A7FC-9C8603C80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4591050"/>
            <a:ext cx="749300" cy="649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Pass</a:t>
            </a:r>
            <a:br>
              <a:rPr lang="en-AU" altLang="en-US" sz="1400"/>
            </a:br>
            <a:r>
              <a:rPr lang="en-AU" altLang="en-US" sz="1400"/>
              <a:t>params</a:t>
            </a:r>
            <a:br>
              <a:rPr lang="en-AU" altLang="en-US" sz="1400"/>
            </a:br>
            <a:r>
              <a:rPr lang="en-AU" altLang="en-US" sz="1400"/>
              <a:t>&amp; call</a:t>
            </a:r>
          </a:p>
        </p:txBody>
      </p:sp>
      <p:sp>
        <p:nvSpPr>
          <p:cNvPr id="181260" name="Rectangle 19">
            <a:extLst>
              <a:ext uri="{FF2B5EF4-FFF2-40B4-BE49-F238E27FC236}">
                <a16:creationId xmlns:a16="http://schemas.microsoft.com/office/drawing/2014/main" id="{4E0D8BA7-A3DA-47BE-B31C-5FE488377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1122363"/>
            <a:ext cx="758825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Move</a:t>
            </a:r>
            <a:br>
              <a:rPr lang="en-AU" altLang="en-US" sz="1400"/>
            </a:br>
            <a:r>
              <a:rPr lang="en-AU" altLang="en-US" sz="1400"/>
              <a:t>params</a:t>
            </a:r>
          </a:p>
        </p:txBody>
      </p:sp>
      <p:sp>
        <p:nvSpPr>
          <p:cNvPr id="181261" name="Rectangle 23">
            <a:extLst>
              <a:ext uri="{FF2B5EF4-FFF2-40B4-BE49-F238E27FC236}">
                <a16:creationId xmlns:a16="http://schemas.microsoft.com/office/drawing/2014/main" id="{D5F7125A-4B59-41C9-8F35-D45C5D35B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5405438"/>
            <a:ext cx="954087" cy="274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Inner loop</a:t>
            </a:r>
          </a:p>
        </p:txBody>
      </p:sp>
      <p:sp>
        <p:nvSpPr>
          <p:cNvPr id="181262" name="Rectangle 24">
            <a:extLst>
              <a:ext uri="{FF2B5EF4-FFF2-40B4-BE49-F238E27FC236}">
                <a16:creationId xmlns:a16="http://schemas.microsoft.com/office/drawing/2014/main" id="{97474D3A-CD64-4152-B5C0-05C2064D9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5891213"/>
            <a:ext cx="954087" cy="274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Outer loop</a:t>
            </a:r>
          </a:p>
        </p:txBody>
      </p:sp>
      <p:sp>
        <p:nvSpPr>
          <p:cNvPr id="181263" name="Rectangle 25">
            <a:extLst>
              <a:ext uri="{FF2B5EF4-FFF2-40B4-BE49-F238E27FC236}">
                <a16:creationId xmlns:a16="http://schemas.microsoft.com/office/drawing/2014/main" id="{DD6D7516-E90F-4469-B9B5-900E7D508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3148013"/>
            <a:ext cx="954087" cy="274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Inner loop</a:t>
            </a:r>
          </a:p>
        </p:txBody>
      </p:sp>
      <p:sp>
        <p:nvSpPr>
          <p:cNvPr id="181264" name="Rectangle 28">
            <a:extLst>
              <a:ext uri="{FF2B5EF4-FFF2-40B4-BE49-F238E27FC236}">
                <a16:creationId xmlns:a16="http://schemas.microsoft.com/office/drawing/2014/main" id="{41CCB98D-2E84-4D51-B48F-C4A341C9E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1728788"/>
            <a:ext cx="954087" cy="274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Outer loop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Footer Placeholder 3">
            <a:extLst>
              <a:ext uri="{FF2B5EF4-FFF2-40B4-BE49-F238E27FC236}">
                <a16:creationId xmlns:a16="http://schemas.microsoft.com/office/drawing/2014/main" id="{848A7212-1355-4F6F-A485-038CA51DC1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6A9601C6-613A-47C0-BB75-D36B8955E98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en-AU" altLang="en-US" sz="1400"/>
          </a:p>
        </p:txBody>
      </p:sp>
      <p:sp>
        <p:nvSpPr>
          <p:cNvPr id="183299" name="Rectangle 2">
            <a:extLst>
              <a:ext uri="{FF2B5EF4-FFF2-40B4-BE49-F238E27FC236}">
                <a16:creationId xmlns:a16="http://schemas.microsoft.com/office/drawing/2014/main" id="{63A805AE-75F4-4649-B54C-9CE607D5A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201738"/>
            <a:ext cx="7450137" cy="14668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0" name="Rectangle 3">
            <a:extLst>
              <a:ext uri="{FF2B5EF4-FFF2-40B4-BE49-F238E27FC236}">
                <a16:creationId xmlns:a16="http://schemas.microsoft.com/office/drawing/2014/main" id="{46B3E79D-B3D7-4390-B24A-16A3B355A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52775"/>
            <a:ext cx="7450137" cy="14938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1" name="Rectangle 4">
            <a:extLst>
              <a:ext uri="{FF2B5EF4-FFF2-40B4-BE49-F238E27FC236}">
                <a16:creationId xmlns:a16="http://schemas.microsoft.com/office/drawing/2014/main" id="{6532757F-B9D2-4539-867B-9D222FEE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646613"/>
            <a:ext cx="7450137" cy="258762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2" name="Rectangle 16">
            <a:extLst>
              <a:ext uri="{FF2B5EF4-FFF2-40B4-BE49-F238E27FC236}">
                <a16:creationId xmlns:a16="http://schemas.microsoft.com/office/drawing/2014/main" id="{3F5FF31F-1D16-488D-A351-3B083D5C2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668588"/>
            <a:ext cx="7450137" cy="4841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3" name="Rectangle 9">
            <a:extLst>
              <a:ext uri="{FF2B5EF4-FFF2-40B4-BE49-F238E27FC236}">
                <a16:creationId xmlns:a16="http://schemas.microsoft.com/office/drawing/2014/main" id="{A3CDCCF2-CFC0-4409-94A8-5D0AE80DCA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73163"/>
            <a:ext cx="8270875" cy="4960937"/>
          </a:xfrm>
          <a:noFill/>
        </p:spPr>
        <p:txBody>
          <a:bodyPr/>
          <a:lstStyle/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sort:    addi $sp,$sp, –20      # make room on stack for 5 registers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sw $ra, 16($sp)        # save $ra on stack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sw $s3,12($sp)         # save $s3 on stack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sw $s2, 8($sp)         # save $s2 on stack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sw $s1, 4($sp)         # save $s1 on stack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sw $s0, 0($sp)         # save $s0 on stack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…                      # procedure body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…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exit1:   lw $s0, 0($sp)         # restore $s0 from stack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lw $s1, 4($sp)         # restore $s1 from stack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lw $s2, 8($sp)         # restore $s2 from stack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lw $s3,12($sp)         # restore $s3 from stack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lw $ra,16($sp)         # restore $ra from stack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addi $sp,$sp, 20       # restore stack pointer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en-US" sz="1400">
                <a:latin typeface="Lucida Console" panose="020B0609040504020204" pitchFamily="49" charset="0"/>
              </a:rPr>
              <a:t>         jr $ra                 # return to calling routine</a:t>
            </a:r>
          </a:p>
        </p:txBody>
      </p:sp>
      <p:sp>
        <p:nvSpPr>
          <p:cNvPr id="183304" name="Rectangle 8">
            <a:extLst>
              <a:ext uri="{FF2B5EF4-FFF2-40B4-BE49-F238E27FC236}">
                <a16:creationId xmlns:a16="http://schemas.microsoft.com/office/drawing/2014/main" id="{F2981122-4514-4E9A-A232-055260ACD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The Full Procedure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Footer Placeholder 3">
            <a:extLst>
              <a:ext uri="{FF2B5EF4-FFF2-40B4-BE49-F238E27FC236}">
                <a16:creationId xmlns:a16="http://schemas.microsoft.com/office/drawing/2014/main" id="{DFD11304-8FAF-4FFE-829B-414E8DDD09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44C23303-F66B-4ECE-8BF1-25CDEF637C1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en-AU" altLang="en-US" sz="14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74F5BBA7-B3C9-41E7-BA1F-67F81DA3B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Concluding Remarks</a:t>
            </a:r>
            <a:endParaRPr lang="en-AU" altLang="en-US"/>
          </a:p>
        </p:txBody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1C0CC1DC-258A-4A55-9404-2D322A8DC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Principles for design of instruction set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en-US" dirty="0">
                <a:solidFill>
                  <a:schemeClr val="hlink"/>
                </a:solidFill>
              </a:rPr>
              <a:t>1.</a:t>
            </a:r>
            <a:r>
              <a:rPr lang="en-US" altLang="en-US" dirty="0"/>
              <a:t>	Simplicity ⇒ regularity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en-US" dirty="0">
                <a:solidFill>
                  <a:schemeClr val="hlink"/>
                </a:solidFill>
              </a:rPr>
              <a:t>2.</a:t>
            </a:r>
            <a:r>
              <a:rPr lang="en-US" altLang="en-US" dirty="0"/>
              <a:t>	Smaller ⇒ faster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3.</a:t>
            </a:r>
            <a:r>
              <a:rPr lang="en-US" altLang="en-US" dirty="0"/>
              <a:t>	Make the common case fast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4.</a:t>
            </a:r>
            <a:r>
              <a:rPr lang="en-US" altLang="en-US" dirty="0"/>
              <a:t>	Good design demands good compromises</a:t>
            </a:r>
          </a:p>
        </p:txBody>
      </p:sp>
      <p:sp>
        <p:nvSpPr>
          <p:cNvPr id="185349" name="Text Box 4">
            <a:extLst>
              <a:ext uri="{FF2B5EF4-FFF2-40B4-BE49-F238E27FC236}">
                <a16:creationId xmlns:a16="http://schemas.microsoft.com/office/drawing/2014/main" id="{AECDCE81-D6EE-41A8-9EDB-0BA658E7AF9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90619" y="1286669"/>
            <a:ext cx="2940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§2.19 Concluding Remarks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Footer Placeholder 3">
            <a:extLst>
              <a:ext uri="{FF2B5EF4-FFF2-40B4-BE49-F238E27FC236}">
                <a16:creationId xmlns:a16="http://schemas.microsoft.com/office/drawing/2014/main" id="{5DCBC29F-5E73-4BF2-9CCB-A2CD6E2A59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2 — Instructions: Language of the Computer — </a:t>
            </a:r>
            <a:fld id="{BAD470B1-AC5D-48DA-BDB7-EEE326EA3F2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AU" altLang="en-US" sz="1400"/>
          </a:p>
        </p:txBody>
      </p:sp>
      <p:sp>
        <p:nvSpPr>
          <p:cNvPr id="187395" name="Rectangle 2">
            <a:extLst>
              <a:ext uri="{FF2B5EF4-FFF2-40B4-BE49-F238E27FC236}">
                <a16:creationId xmlns:a16="http://schemas.microsoft.com/office/drawing/2014/main" id="{877E3541-08E3-49D9-B9E2-73225113E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Concluding Remarks</a:t>
            </a:r>
            <a:endParaRPr lang="en-AU" altLang="en-US"/>
          </a:p>
        </p:txBody>
      </p:sp>
      <p:sp>
        <p:nvSpPr>
          <p:cNvPr id="187396" name="Rectangle 3">
            <a:extLst>
              <a:ext uri="{FF2B5EF4-FFF2-40B4-BE49-F238E27FC236}">
                <a16:creationId xmlns:a16="http://schemas.microsoft.com/office/drawing/2014/main" id="{2F92CB57-89EA-44AB-AE90-22B0641E1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1510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Measure MIPS instruction executions in benchmark programs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Consider making the common case fast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Consider compromises</a:t>
            </a:r>
            <a:endParaRPr lang="en-AU" altLang="en-US"/>
          </a:p>
        </p:txBody>
      </p:sp>
      <p:graphicFrame>
        <p:nvGraphicFramePr>
          <p:cNvPr id="414764" name="Group 44">
            <a:extLst>
              <a:ext uri="{FF2B5EF4-FFF2-40B4-BE49-F238E27FC236}">
                <a16:creationId xmlns:a16="http://schemas.microsoft.com/office/drawing/2014/main" id="{B742EFBB-B95E-4C5C-AEC1-B92AF8568098}"/>
              </a:ext>
            </a:extLst>
          </p:cNvPr>
          <p:cNvGraphicFramePr>
            <a:graphicFrameLocks noGrp="1"/>
          </p:cNvGraphicFramePr>
          <p:nvPr/>
        </p:nvGraphicFramePr>
        <p:xfrm>
          <a:off x="528638" y="3030538"/>
          <a:ext cx="8404225" cy="3292476"/>
        </p:xfrm>
        <a:graphic>
          <a:graphicData uri="http://schemas.openxmlformats.org/drawingml/2006/table">
            <a:tbl>
              <a:tblPr/>
              <a:tblGrid>
                <a:gridCol w="1929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Instruction class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MIPS examples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SPEC2006 Int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SPEC2006 FP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Arithmetic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add, sub, addi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16%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48%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 transfer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lw, sw, lb, lbu, lh, lhu, sb, lui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35%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36%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5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Logical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and, or, nor, andi, ori, sll, srl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12%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4%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Cond. Branch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beq, bne, slt, slti, sltiu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34%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8%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Jump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j, jr, jal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2%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0%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2" marR="91452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cod4e">
  <a:themeElements>
    <a:clrScheme name="1_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1_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33125</TotalTime>
  <Words>9764</Words>
  <Application>Microsoft Macintosh PowerPoint</Application>
  <PresentationFormat>On-screen Show (4:3)</PresentationFormat>
  <Paragraphs>1432</Paragraphs>
  <Slides>98</Slides>
  <Notes>90</Notes>
  <HiddenSlides>12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8" baseType="lpstr">
      <vt:lpstr>Arial</vt:lpstr>
      <vt:lpstr>Arial Black</vt:lpstr>
      <vt:lpstr>Cambria Math</vt:lpstr>
      <vt:lpstr>Lucida Console</vt:lpstr>
      <vt:lpstr>Segoe UI Symbol</vt:lpstr>
      <vt:lpstr>Tahoma</vt:lpstr>
      <vt:lpstr>Times New Roman</vt:lpstr>
      <vt:lpstr>Wingdings</vt:lpstr>
      <vt:lpstr>1_cod4e</vt:lpstr>
      <vt:lpstr>Equation</vt:lpstr>
      <vt:lpstr>Purpose of the course</vt:lpstr>
      <vt:lpstr>Purpose of the course</vt:lpstr>
      <vt:lpstr>Purpose of the course</vt:lpstr>
      <vt:lpstr>Chapter 2</vt:lpstr>
      <vt:lpstr>Instruction Set</vt:lpstr>
      <vt:lpstr>Instruction Set</vt:lpstr>
      <vt:lpstr>The MIPS Instruction Set</vt:lpstr>
      <vt:lpstr>PowerPoint Presentation</vt:lpstr>
      <vt:lpstr>Arithmetic Operations</vt:lpstr>
      <vt:lpstr>Arithmetic Operations</vt:lpstr>
      <vt:lpstr>Arithmetic Example</vt:lpstr>
      <vt:lpstr>Register Operands</vt:lpstr>
      <vt:lpstr>Register Operand Example</vt:lpstr>
      <vt:lpstr>Memory Operands</vt:lpstr>
      <vt:lpstr>Memory Operands</vt:lpstr>
      <vt:lpstr>Memory Operands</vt:lpstr>
      <vt:lpstr>Registers vs. Memory</vt:lpstr>
      <vt:lpstr>Memory Operand Example 1</vt:lpstr>
      <vt:lpstr>Memory Operand Example 2</vt:lpstr>
      <vt:lpstr>Registers vs. Memory</vt:lpstr>
      <vt:lpstr>Immediate Operands</vt:lpstr>
      <vt:lpstr>The Constant Zero</vt:lpstr>
      <vt:lpstr>PowerPoint Presentation</vt:lpstr>
      <vt:lpstr>Unsigned Binary Integers</vt:lpstr>
      <vt:lpstr>Unsigned Binary Integers</vt:lpstr>
      <vt:lpstr>2s-Complement Signed Integers</vt:lpstr>
      <vt:lpstr>2s-Complement Signed Integers</vt:lpstr>
      <vt:lpstr>2s-Complement Signed Integers</vt:lpstr>
      <vt:lpstr>Signed Negation</vt:lpstr>
      <vt:lpstr>Sign Extension</vt:lpstr>
      <vt:lpstr>PowerPoint Presentation</vt:lpstr>
      <vt:lpstr>Representing Instructions</vt:lpstr>
      <vt:lpstr>MIPS R-format Instructions</vt:lpstr>
      <vt:lpstr>R-format Example</vt:lpstr>
      <vt:lpstr>Hexadecimal</vt:lpstr>
      <vt:lpstr>MIPS I-format Instructions</vt:lpstr>
      <vt:lpstr>Stored Program Computers</vt:lpstr>
      <vt:lpstr>Shift Operations</vt:lpstr>
      <vt:lpstr>Shift Operations</vt:lpstr>
      <vt:lpstr>AND Operations</vt:lpstr>
      <vt:lpstr>OR Operations</vt:lpstr>
      <vt:lpstr>NOT Operations</vt:lpstr>
      <vt:lpstr>PowerPoint Presentation</vt:lpstr>
      <vt:lpstr>Stored Program Computers</vt:lpstr>
      <vt:lpstr>Instruction Formats</vt:lpstr>
      <vt:lpstr>Conditional Operations</vt:lpstr>
      <vt:lpstr>Compiling If Statements</vt:lpstr>
      <vt:lpstr>Compiling Loop Statements</vt:lpstr>
      <vt:lpstr>Basic Blocks</vt:lpstr>
      <vt:lpstr>More Conditional Operations</vt:lpstr>
      <vt:lpstr>Branch Instruction Design</vt:lpstr>
      <vt:lpstr>Signed vs. Unsigned</vt:lpstr>
      <vt:lpstr>PowerPoint Presentation</vt:lpstr>
      <vt:lpstr>Procedure (Method) Calling</vt:lpstr>
      <vt:lpstr>Register Usage</vt:lpstr>
      <vt:lpstr>Procedure Call Instructions</vt:lpstr>
      <vt:lpstr>Some Special Registers</vt:lpstr>
      <vt:lpstr>Leaf Procedure Example</vt:lpstr>
      <vt:lpstr>Leaf Procedure Example</vt:lpstr>
      <vt:lpstr>Non-Leaf Procedures</vt:lpstr>
      <vt:lpstr>PowerPoint Presentation</vt:lpstr>
      <vt:lpstr>Non-Leaf Procedure Example</vt:lpstr>
      <vt:lpstr>Non-Leaf Procedure Example</vt:lpstr>
      <vt:lpstr>Local Data on the Stack</vt:lpstr>
      <vt:lpstr>Non-Leaf Procedure Example</vt:lpstr>
      <vt:lpstr>Local Data on the Stack</vt:lpstr>
      <vt:lpstr>Non-Number Data</vt:lpstr>
      <vt:lpstr>Byte/Halfword Operations</vt:lpstr>
      <vt:lpstr>String Copy Example</vt:lpstr>
      <vt:lpstr>String Copy Example</vt:lpstr>
      <vt:lpstr>PowerPoint Presentation</vt:lpstr>
      <vt:lpstr>32-bit Constants</vt:lpstr>
      <vt:lpstr>Branch Addressing</vt:lpstr>
      <vt:lpstr>Branch Addressing</vt:lpstr>
      <vt:lpstr>Branch Addressing</vt:lpstr>
      <vt:lpstr>Jump Addressing</vt:lpstr>
      <vt:lpstr>Target Addressing Example</vt:lpstr>
      <vt:lpstr>Branching Far Away</vt:lpstr>
      <vt:lpstr>Summary: Addressing Mode</vt:lpstr>
      <vt:lpstr>PowerPoint Presentation</vt:lpstr>
      <vt:lpstr>Synchronization</vt:lpstr>
      <vt:lpstr>Synchronization in MIPS </vt:lpstr>
      <vt:lpstr>Translation and Startup</vt:lpstr>
      <vt:lpstr>Assembler Pseudoinstructions</vt:lpstr>
      <vt:lpstr>Producing an Object Module</vt:lpstr>
      <vt:lpstr>Linking Object Modules</vt:lpstr>
      <vt:lpstr>Loading a Program</vt:lpstr>
      <vt:lpstr>Dynamic Linking</vt:lpstr>
      <vt:lpstr>Lazy Linkage</vt:lpstr>
      <vt:lpstr>Starting Java Applications</vt:lpstr>
      <vt:lpstr>C Sort Example</vt:lpstr>
      <vt:lpstr>The Procedure Swap</vt:lpstr>
      <vt:lpstr>The Sort Procedure in C</vt:lpstr>
      <vt:lpstr>The Sort Procedure in C</vt:lpstr>
      <vt:lpstr>The Procedure Body</vt:lpstr>
      <vt:lpstr>The Full Procedure</vt:lpstr>
      <vt:lpstr>Concluding Remarks</vt:lpstr>
      <vt:lpstr>Concluding Remarks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Peter Ashenden</dc:creator>
  <cp:lastModifiedBy>Neeraj Kumar Singh</cp:lastModifiedBy>
  <cp:revision>548</cp:revision>
  <dcterms:created xsi:type="dcterms:W3CDTF">2008-07-27T22:34:41Z</dcterms:created>
  <dcterms:modified xsi:type="dcterms:W3CDTF">2025-11-09T22:23:15Z</dcterms:modified>
</cp:coreProperties>
</file>